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2_D5A50269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11274425" cy="64008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8A33EC5-0C6B-9AD8-505D-D80B2B98F10C}" name="Li, Yuxin" initials="" userId="S::grit1021@upenn.edu::f0d1577e-682e-4c6e-8427-3bb4942a1f0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49"/>
    <p:restoredTop sz="94576"/>
  </p:normalViewPr>
  <p:slideViewPr>
    <p:cSldViewPr snapToGrid="0">
      <p:cViewPr>
        <p:scale>
          <a:sx n="167" d="100"/>
          <a:sy n="167" d="100"/>
        </p:scale>
        <p:origin x="1632" y="-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omments/modernComment_102_D5A5026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F0D5355-B801-C54C-A3C7-528C0F7D80CD}" authorId="{58A33EC5-0C6B-9AD8-505D-D80B2B98F10C}" created="2026-06-17T08:50:08.347+08:00">
    <pc:sldMkLst xmlns:pc="http://schemas.microsoft.com/office/powerpoint/2013/main/command">
      <pc:docMk/>
      <pc:sldMk cId="1968914021" sldId="257"/>
    </pc:sldMkLst>
    <p188:replyLst>
      <p188:reply id="{94C33A35-86B7-6B4C-AFFF-7391EE2AC621}" authorId="{58A33EC5-0C6B-9AD8-505D-D80B2B98F10C}" created="2026-06-17T20:54:42.774+08:00">
        <p188:txBody>
          <a:bodyPr/>
          <a:lstStyle/>
          <a:p>
            <a:r>
              <a:t>done
</a:t>
            </a:r>
          </a:p>
        </p188:txBody>
      </p188:reply>
    </p188:replyLst>
    <p188:txBody>
      <a:bodyPr/>
      <a:lstStyle/>
      <a:p>
        <a:r>
          <a:t>remove no match</a:t>
        </a:r>
      </a:p>
    </p188:txBody>
  </p188:cm>
  <p188:cm id="{B2A8DC9E-E11D-4A42-BE83-082EB5C10AED}" authorId="{58A33EC5-0C6B-9AD8-505D-D80B2B98F10C}" created="2026-06-17T08:51:41.935+08:00">
    <pc:sldMkLst xmlns:pc="http://schemas.microsoft.com/office/powerpoint/2013/main/command">
      <pc:docMk/>
      <pc:sldMk cId="1968914021" sldId="257"/>
    </pc:sldMkLst>
    <p188:replyLst>
      <p188:reply id="{FC0E49F2-C907-FF4A-A175-6469FEBD7FC3}" authorId="{58A33EC5-0C6B-9AD8-505D-D80B2B98F10C}" created="2026-06-17T21:22:50.575+08:00">
        <p188:txBody>
          <a:bodyPr/>
          <a:lstStyle/>
          <a:p>
            <a:r>
              <a:t>done</a:t>
            </a:r>
          </a:p>
        </p188:txBody>
      </p188:reply>
    </p188:replyLst>
    <p188:txBody>
      <a:bodyPr/>
      <a:lstStyle/>
      <a:p>
        <a:r>
          <a:t>panel C: confidence interval, y-axis up to 60%, remove color points</a:t>
        </a:r>
      </a:p>
    </p188:txBody>
  </p188:cm>
  <p188:cm id="{CC4DAAB2-BBB1-BC4E-8336-1238DD377108}" authorId="{58A33EC5-0C6B-9AD8-505D-D80B2B98F10C}" created="2026-06-17T08:53:05.752+08:00">
    <pc:sldMkLst xmlns:pc="http://schemas.microsoft.com/office/powerpoint/2013/main/command">
      <pc:docMk/>
      <pc:sldMk cId="1968914021" sldId="257"/>
    </pc:sldMkLst>
    <p188:replyLst>
      <p188:reply id="{1A4D4C1D-F960-7A4B-9365-27A0108B4CDF}" authorId="{58A33EC5-0C6B-9AD8-505D-D80B2B98F10C}" created="2026-06-18T08:04:22.367+08:00">
        <p188:txBody>
          <a:bodyPr/>
          <a:lstStyle/>
          <a:p>
            <a:r>
              <a:t>done</a:t>
            </a:r>
          </a:p>
        </p188:txBody>
      </p188:reply>
    </p188:replyLst>
    <p188:txBody>
      <a:bodyPr/>
      <a:lstStyle/>
      <a:p>
        <a:r>
          <a:t>Panel D: LLM-generated hypothesis, IBD full name, high-pass example remove, pass rate remove, change low-pass example with higher failure rate, change two blocks position, zoom in GO:BP terms (at least 5 examples) with ID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6E2DF-5861-D0C3-D2CB-28279F168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E198A3-B06E-A65F-5703-A11E044570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650ABA-2FED-7F6E-1334-AE7055CFB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04C14-ACDA-583B-5249-A84FE921DA6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86017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9B765-EEAC-B61A-FCC6-0C57F41125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9305" y="1047540"/>
            <a:ext cx="8455819" cy="2228426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9DDF5B-4ADB-5259-9DCD-4320BFD278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9305" y="3361902"/>
            <a:ext cx="8455819" cy="154537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39307-8987-85EA-E06F-245C26DF04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E9CD7A8-3DF7-6842-A865-024C8A18D603}" type="datetimeFigureOut">
              <a:t>8/22/26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DA0F9-52B7-5F20-E3C6-FD158A238E1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F5A3D-1CC7-807C-79F7-888F6B320F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312835C-5A65-FC4B-907C-E4E3FA121AD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56EEC-E0B0-FF40-0314-0119D2D3B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5694C-46A2-6964-58B6-39EC94B5F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184AD-185F-5A9F-A71B-F59373C1500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E9CD7A8-3DF7-6842-A865-024C8A18D603}" type="datetimeFigureOut">
              <a:t>8/22/26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6C87E-6ECE-45C3-28DE-7C02A60467B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48D52-6FC7-A795-C683-81295939F7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312835C-5A65-FC4B-907C-E4E3FA121AD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AE660-F418-C7ED-32CD-52750E0F7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244" y="1595756"/>
            <a:ext cx="9724192" cy="2662554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9961D-77DC-028B-F378-AACBA8EC3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9244" y="4283501"/>
            <a:ext cx="9724192" cy="140017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225A5-E184-77D5-DFB0-B4372C4EEB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E9CD7A8-3DF7-6842-A865-024C8A18D603}" type="datetimeFigureOut">
              <a:t>8/22/26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EC963-546D-CFD0-FD76-5BC106287D9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BC3-BDE8-FA83-B0E8-0002D2F2BA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312835C-5A65-FC4B-907C-E4E3FA121AD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F90D7-44F3-48B2-3604-D34552FF7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93316-6731-B40D-5E80-231319B71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118" y="1703916"/>
            <a:ext cx="4791631" cy="4061249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7CE852-B5F7-DF31-7ECB-A899553A84F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707677" y="1703916"/>
            <a:ext cx="4791631" cy="4061249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DCC72-6114-101E-A179-7818BCE6D24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E9CD7A8-3DF7-6842-A865-024C8A18D603}" type="datetimeFigureOut">
              <a:t>8/22/26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D486F2-05B1-21E7-F30A-CF070F06575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D593A2-061C-3671-082C-0DD18285C9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312835C-5A65-FC4B-907C-E4E3FA121AD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B2D37-2E83-4E7B-0A24-526E3A036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585" y="340785"/>
            <a:ext cx="9724192" cy="1237192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C62C2-436D-2892-92FF-944D120C1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6586" y="1569086"/>
            <a:ext cx="4769610" cy="76898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EDB331-F698-70B9-F8EB-85516EDB379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776586" y="2338070"/>
            <a:ext cx="4769610" cy="3438949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19865E-1EDE-6716-42FA-70C60937EC6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707680" y="1569086"/>
            <a:ext cx="4793099" cy="76898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D64D7D-F3BC-0535-086A-8DD50ADCA2B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707680" y="2338070"/>
            <a:ext cx="4793099" cy="3438949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626080-B32C-42EB-7147-E7B2E534110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E9CD7A8-3DF7-6842-A865-024C8A18D603}" type="datetimeFigureOut">
              <a:t>8/22/26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6326F5-E52A-5C5D-2317-ECCB82CC5E2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6C1EB8-3694-23EA-5E94-CA22CAB8ED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312835C-5A65-FC4B-907C-E4E3FA121AD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8B6B6-ECCE-78BB-0475-FDE829759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4A034A-D4BA-BD61-496C-89F950853CC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E9CD7A8-3DF7-6842-A865-024C8A18D603}" type="datetimeFigureOut">
              <a:t>8/22/26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FB555C-6657-73AF-585B-006120DDCF9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2B8710-E1B5-B9EA-6049-1FC86C7D62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312835C-5A65-FC4B-907C-E4E3FA121AD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6F342E-5B0A-32E8-DC7A-1A8DFBF32E8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E9CD7A8-3DF7-6842-A865-024C8A18D603}" type="datetimeFigureOut">
              <a:t>8/22/26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F7F543-3D50-8FB2-CD80-E6381C11ABE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6C6C4-9E0F-AAAE-F110-8C60521D56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312835C-5A65-FC4B-907C-E4E3FA121AD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1C109-4231-A62C-DCE1-2CA794CDA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586" y="426720"/>
            <a:ext cx="3636295" cy="149352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C0065-8C1A-D80E-99CB-4F5635662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099" y="921599"/>
            <a:ext cx="5707678" cy="4548716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B4854B-18E1-6B98-A10F-818A8D25041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76586" y="1920240"/>
            <a:ext cx="3636295" cy="35574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B6C168-3EA7-01F9-11D8-9BB844700E3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E9CD7A8-3DF7-6842-A865-024C8A18D603}" type="datetimeFigureOut">
              <a:t>8/22/26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E301D-7D0C-3B55-551B-8912B38F906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1AD36-E8B8-AB8E-CDD3-0765C3C0E0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312835C-5A65-FC4B-907C-E4E3FA121AD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F9801-2815-1E4D-CBBC-24BD6A17C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586" y="426720"/>
            <a:ext cx="3636295" cy="149352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2BE728-60EC-2DF4-7FF7-DE1B09816B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93099" y="921599"/>
            <a:ext cx="5707678" cy="454871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643E8-60CA-7024-D57B-3E5163F129E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76586" y="1920240"/>
            <a:ext cx="3636295" cy="35574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8DD7E-2238-1591-9A14-749EC20082B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E9CD7A8-3DF7-6842-A865-024C8A18D603}" type="datetimeFigureOut">
              <a:t>8/22/26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F5929E-8D60-301B-E766-FBF94E86FD8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C60A5F-912A-8496-B569-EC18748045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312835C-5A65-FC4B-907C-E4E3FA121AD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1954A-D2D8-BACC-04FB-2CD2CD86E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0EFF58-F69E-531A-35DD-208D03BECA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E8075-22E4-6AE1-0BF2-4735B473915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E9CD7A8-3DF7-6842-A865-024C8A18D603}" type="datetimeFigureOut">
              <a:t>8/22/26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CF1AD-6F8E-7B72-28A6-B7D0C767CB2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E89EF-C395-8358-E14F-15A2AD6309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312835C-5A65-FC4B-907C-E4E3FA121AD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4294B4-EBDB-0E96-4E98-F1C41E19F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8260" y="340784"/>
            <a:ext cx="2431048" cy="5424382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60FA87-7513-2E24-74A3-F6FF0B8DC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5117" y="340784"/>
            <a:ext cx="7152213" cy="5424382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7FB19-AFF9-DC2B-B0EC-40BB767235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E9CD7A8-3DF7-6842-A865-024C8A18D603}" type="datetimeFigureOut">
              <a:t>8/22/26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BAE94-15ED-E819-D81F-C6EA0B13FD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78BB1-2C27-0658-DBCD-2E1017D22A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312835C-5A65-FC4B-907C-E4E3FA121AD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BFC090-5962-A0AF-2F2C-E7FB92904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117" y="340785"/>
            <a:ext cx="9724192" cy="1237192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5DB60-F238-9315-FBF1-76E0F89C8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5117" y="1703916"/>
            <a:ext cx="9724192" cy="4061249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400E3-4D6F-39EC-91DC-6FA85A4A781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775117" y="5932595"/>
            <a:ext cx="2536746" cy="34078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CD7A8-3DF7-6842-A865-024C8A18D603}" type="datetimeFigureOut">
              <a:t>8/22/26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3FFEC-E972-6715-73C9-1D3E52BE120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734654" y="5932595"/>
            <a:ext cx="3805118" cy="34078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A5B85-93C5-9B62-CED4-D0C1C009AEA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7962562" y="5932595"/>
            <a:ext cx="2536746" cy="34078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12835C-5A65-FC4B-907C-E4E3FA121AD5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2_D5A50269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3377C-CD2D-5412-9346-A5D0CE5F5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77BC6C14-79A7-479B-3775-11D6C9A58509}"/>
              </a:ext>
            </a:extLst>
          </p:cNvPr>
          <p:cNvSpPr/>
          <p:nvPr/>
        </p:nvSpPr>
        <p:spPr>
          <a:xfrm>
            <a:off x="448157" y="1293681"/>
            <a:ext cx="1120821" cy="320135"/>
          </a:xfrm>
          <a:custGeom>
            <a:avLst/>
            <a:gdLst>
              <a:gd name="connsiteX0" fmla="*/ 5279 w 1120821"/>
              <a:gd name="connsiteY0" fmla="*/ 320135 h 320135"/>
              <a:gd name="connsiteX1" fmla="*/ 1115543 w 1120821"/>
              <a:gd name="connsiteY1" fmla="*/ 320135 h 320135"/>
              <a:gd name="connsiteX2" fmla="*/ 1120822 w 1120821"/>
              <a:gd name="connsiteY2" fmla="*/ 314858 h 320135"/>
              <a:gd name="connsiteX3" fmla="*/ 1120822 w 1120821"/>
              <a:gd name="connsiteY3" fmla="*/ 5277 h 320135"/>
              <a:gd name="connsiteX4" fmla="*/ 1115543 w 1120821"/>
              <a:gd name="connsiteY4" fmla="*/ 0 h 320135"/>
              <a:gd name="connsiteX5" fmla="*/ 5279 w 1120821"/>
              <a:gd name="connsiteY5" fmla="*/ 0 h 320135"/>
              <a:gd name="connsiteX6" fmla="*/ 0 w 1120821"/>
              <a:gd name="connsiteY6" fmla="*/ 5277 h 320135"/>
              <a:gd name="connsiteX7" fmla="*/ 0 w 1120821"/>
              <a:gd name="connsiteY7" fmla="*/ 314858 h 320135"/>
              <a:gd name="connsiteX8" fmla="*/ 5279 w 1120821"/>
              <a:gd name="connsiteY8" fmla="*/ 320135 h 320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0821" h="320135">
                <a:moveTo>
                  <a:pt x="5279" y="320135"/>
                </a:moveTo>
                <a:lnTo>
                  <a:pt x="1115543" y="320135"/>
                </a:lnTo>
                <a:cubicBezTo>
                  <a:pt x="1119062" y="320135"/>
                  <a:pt x="1120822" y="318376"/>
                  <a:pt x="1120822" y="314858"/>
                </a:cubicBezTo>
                <a:lnTo>
                  <a:pt x="1120822" y="5277"/>
                </a:lnTo>
                <a:cubicBezTo>
                  <a:pt x="1120822" y="1759"/>
                  <a:pt x="1119062" y="0"/>
                  <a:pt x="1115543" y="0"/>
                </a:cubicBezTo>
                <a:lnTo>
                  <a:pt x="5279" y="0"/>
                </a:lnTo>
                <a:cubicBezTo>
                  <a:pt x="1760" y="0"/>
                  <a:pt x="0" y="1759"/>
                  <a:pt x="0" y="5277"/>
                </a:cubicBezTo>
                <a:lnTo>
                  <a:pt x="0" y="314858"/>
                </a:lnTo>
                <a:cubicBezTo>
                  <a:pt x="0" y="318376"/>
                  <a:pt x="1760" y="320135"/>
                  <a:pt x="5279" y="320135"/>
                </a:cubicBezTo>
                <a:close/>
              </a:path>
            </a:pathLst>
          </a:custGeom>
          <a:solidFill>
            <a:srgbClr val="F0F0F0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7707EE3C-7089-3CEA-88F4-F651BDC29CFB}"/>
              </a:ext>
            </a:extLst>
          </p:cNvPr>
          <p:cNvSpPr/>
          <p:nvPr/>
        </p:nvSpPr>
        <p:spPr>
          <a:xfrm>
            <a:off x="4025890" y="1289500"/>
            <a:ext cx="1446335" cy="320135"/>
          </a:xfrm>
          <a:custGeom>
            <a:avLst/>
            <a:gdLst>
              <a:gd name="connsiteX0" fmla="*/ 5279 w 1446335"/>
              <a:gd name="connsiteY0" fmla="*/ 320135 h 320135"/>
              <a:gd name="connsiteX1" fmla="*/ 1441057 w 1446335"/>
              <a:gd name="connsiteY1" fmla="*/ 320135 h 320135"/>
              <a:gd name="connsiteX2" fmla="*/ 1446335 w 1446335"/>
              <a:gd name="connsiteY2" fmla="*/ 314858 h 320135"/>
              <a:gd name="connsiteX3" fmla="*/ 1446335 w 1446335"/>
              <a:gd name="connsiteY3" fmla="*/ 5277 h 320135"/>
              <a:gd name="connsiteX4" fmla="*/ 1441057 w 1446335"/>
              <a:gd name="connsiteY4" fmla="*/ 0 h 320135"/>
              <a:gd name="connsiteX5" fmla="*/ 5279 w 1446335"/>
              <a:gd name="connsiteY5" fmla="*/ 0 h 320135"/>
              <a:gd name="connsiteX6" fmla="*/ 0 w 1446335"/>
              <a:gd name="connsiteY6" fmla="*/ 5277 h 320135"/>
              <a:gd name="connsiteX7" fmla="*/ 0 w 1446335"/>
              <a:gd name="connsiteY7" fmla="*/ 314858 h 320135"/>
              <a:gd name="connsiteX8" fmla="*/ 5279 w 1446335"/>
              <a:gd name="connsiteY8" fmla="*/ 320135 h 320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6335" h="320135">
                <a:moveTo>
                  <a:pt x="5279" y="320135"/>
                </a:moveTo>
                <a:lnTo>
                  <a:pt x="1441057" y="320135"/>
                </a:lnTo>
                <a:cubicBezTo>
                  <a:pt x="1444576" y="320135"/>
                  <a:pt x="1446335" y="318376"/>
                  <a:pt x="1446335" y="314858"/>
                </a:cubicBezTo>
                <a:lnTo>
                  <a:pt x="1446335" y="5277"/>
                </a:lnTo>
                <a:cubicBezTo>
                  <a:pt x="1446335" y="1759"/>
                  <a:pt x="1444576" y="0"/>
                  <a:pt x="1441057" y="0"/>
                </a:cubicBezTo>
                <a:lnTo>
                  <a:pt x="5279" y="0"/>
                </a:lnTo>
                <a:cubicBezTo>
                  <a:pt x="1760" y="0"/>
                  <a:pt x="0" y="1759"/>
                  <a:pt x="0" y="5277"/>
                </a:cubicBezTo>
                <a:lnTo>
                  <a:pt x="0" y="314858"/>
                </a:lnTo>
                <a:cubicBezTo>
                  <a:pt x="0" y="318376"/>
                  <a:pt x="1760" y="320135"/>
                  <a:pt x="5279" y="320135"/>
                </a:cubicBezTo>
                <a:close/>
              </a:path>
            </a:pathLst>
          </a:custGeom>
          <a:solidFill>
            <a:srgbClr val="F0F0F0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9CF84FC4-5998-43DF-5CC5-F258ADC7909F}"/>
              </a:ext>
            </a:extLst>
          </p:cNvPr>
          <p:cNvSpPr/>
          <p:nvPr/>
        </p:nvSpPr>
        <p:spPr>
          <a:xfrm>
            <a:off x="6025059" y="1289500"/>
            <a:ext cx="1428740" cy="320135"/>
          </a:xfrm>
          <a:custGeom>
            <a:avLst/>
            <a:gdLst>
              <a:gd name="connsiteX0" fmla="*/ 5278 w 1428740"/>
              <a:gd name="connsiteY0" fmla="*/ 320135 h 320135"/>
              <a:gd name="connsiteX1" fmla="*/ 1423461 w 1428740"/>
              <a:gd name="connsiteY1" fmla="*/ 320135 h 320135"/>
              <a:gd name="connsiteX2" fmla="*/ 1428740 w 1428740"/>
              <a:gd name="connsiteY2" fmla="*/ 314858 h 320135"/>
              <a:gd name="connsiteX3" fmla="*/ 1428740 w 1428740"/>
              <a:gd name="connsiteY3" fmla="*/ 5277 h 320135"/>
              <a:gd name="connsiteX4" fmla="*/ 1423461 w 1428740"/>
              <a:gd name="connsiteY4" fmla="*/ 0 h 320135"/>
              <a:gd name="connsiteX5" fmla="*/ 5278 w 1428740"/>
              <a:gd name="connsiteY5" fmla="*/ 0 h 320135"/>
              <a:gd name="connsiteX6" fmla="*/ 0 w 1428740"/>
              <a:gd name="connsiteY6" fmla="*/ 5277 h 320135"/>
              <a:gd name="connsiteX7" fmla="*/ 0 w 1428740"/>
              <a:gd name="connsiteY7" fmla="*/ 314858 h 320135"/>
              <a:gd name="connsiteX8" fmla="*/ 5278 w 1428740"/>
              <a:gd name="connsiteY8" fmla="*/ 320135 h 320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28740" h="320135">
                <a:moveTo>
                  <a:pt x="5278" y="320135"/>
                </a:moveTo>
                <a:lnTo>
                  <a:pt x="1423461" y="320135"/>
                </a:lnTo>
                <a:cubicBezTo>
                  <a:pt x="1426981" y="320135"/>
                  <a:pt x="1428740" y="318376"/>
                  <a:pt x="1428740" y="314858"/>
                </a:cubicBezTo>
                <a:lnTo>
                  <a:pt x="1428740" y="5277"/>
                </a:lnTo>
                <a:cubicBezTo>
                  <a:pt x="1428740" y="1759"/>
                  <a:pt x="1426981" y="0"/>
                  <a:pt x="1423461" y="0"/>
                </a:cubicBezTo>
                <a:lnTo>
                  <a:pt x="5278" y="0"/>
                </a:lnTo>
                <a:cubicBezTo>
                  <a:pt x="1759" y="0"/>
                  <a:pt x="0" y="1759"/>
                  <a:pt x="0" y="5277"/>
                </a:cubicBezTo>
                <a:lnTo>
                  <a:pt x="0" y="314858"/>
                </a:lnTo>
                <a:cubicBezTo>
                  <a:pt x="0" y="318376"/>
                  <a:pt x="1760" y="320135"/>
                  <a:pt x="5278" y="320135"/>
                </a:cubicBezTo>
                <a:close/>
              </a:path>
            </a:pathLst>
          </a:custGeom>
          <a:solidFill>
            <a:srgbClr val="F0F0F0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A4763E4C-EFFE-D945-A32A-FB0EA9CAD79B}"/>
              </a:ext>
            </a:extLst>
          </p:cNvPr>
          <p:cNvSpPr/>
          <p:nvPr/>
        </p:nvSpPr>
        <p:spPr>
          <a:xfrm>
            <a:off x="8108431" y="1281826"/>
            <a:ext cx="1446335" cy="320135"/>
          </a:xfrm>
          <a:custGeom>
            <a:avLst/>
            <a:gdLst>
              <a:gd name="connsiteX0" fmla="*/ 5279 w 1446335"/>
              <a:gd name="connsiteY0" fmla="*/ 320135 h 320135"/>
              <a:gd name="connsiteX1" fmla="*/ 1441057 w 1446335"/>
              <a:gd name="connsiteY1" fmla="*/ 320135 h 320135"/>
              <a:gd name="connsiteX2" fmla="*/ 1446336 w 1446335"/>
              <a:gd name="connsiteY2" fmla="*/ 314858 h 320135"/>
              <a:gd name="connsiteX3" fmla="*/ 1446336 w 1446335"/>
              <a:gd name="connsiteY3" fmla="*/ 5277 h 320135"/>
              <a:gd name="connsiteX4" fmla="*/ 1441057 w 1446335"/>
              <a:gd name="connsiteY4" fmla="*/ 0 h 320135"/>
              <a:gd name="connsiteX5" fmla="*/ 5279 w 1446335"/>
              <a:gd name="connsiteY5" fmla="*/ 0 h 320135"/>
              <a:gd name="connsiteX6" fmla="*/ 0 w 1446335"/>
              <a:gd name="connsiteY6" fmla="*/ 5277 h 320135"/>
              <a:gd name="connsiteX7" fmla="*/ 0 w 1446335"/>
              <a:gd name="connsiteY7" fmla="*/ 314858 h 320135"/>
              <a:gd name="connsiteX8" fmla="*/ 5279 w 1446335"/>
              <a:gd name="connsiteY8" fmla="*/ 320135 h 320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6335" h="320135">
                <a:moveTo>
                  <a:pt x="5279" y="320135"/>
                </a:moveTo>
                <a:lnTo>
                  <a:pt x="1441057" y="320135"/>
                </a:lnTo>
                <a:cubicBezTo>
                  <a:pt x="1444576" y="320135"/>
                  <a:pt x="1446336" y="318376"/>
                  <a:pt x="1446336" y="314858"/>
                </a:cubicBezTo>
                <a:lnTo>
                  <a:pt x="1446336" y="5277"/>
                </a:lnTo>
                <a:cubicBezTo>
                  <a:pt x="1446336" y="1759"/>
                  <a:pt x="1444576" y="0"/>
                  <a:pt x="1441057" y="0"/>
                </a:cubicBezTo>
                <a:lnTo>
                  <a:pt x="5279" y="0"/>
                </a:lnTo>
                <a:cubicBezTo>
                  <a:pt x="1760" y="0"/>
                  <a:pt x="0" y="1759"/>
                  <a:pt x="0" y="5277"/>
                </a:cubicBezTo>
                <a:lnTo>
                  <a:pt x="0" y="314858"/>
                </a:lnTo>
                <a:cubicBezTo>
                  <a:pt x="0" y="318376"/>
                  <a:pt x="1760" y="320135"/>
                  <a:pt x="5279" y="320135"/>
                </a:cubicBezTo>
                <a:close/>
              </a:path>
            </a:pathLst>
          </a:custGeom>
          <a:solidFill>
            <a:srgbClr val="F0F0F0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8FBE41CC-B87D-D7E0-B89B-57EA8B8D6272}"/>
              </a:ext>
            </a:extLst>
          </p:cNvPr>
          <p:cNvSpPr/>
          <p:nvPr/>
        </p:nvSpPr>
        <p:spPr>
          <a:xfrm>
            <a:off x="10046312" y="1281825"/>
            <a:ext cx="900880" cy="320135"/>
          </a:xfrm>
          <a:custGeom>
            <a:avLst/>
            <a:gdLst>
              <a:gd name="connsiteX0" fmla="*/ 5278 w 900880"/>
              <a:gd name="connsiteY0" fmla="*/ 320135 h 320135"/>
              <a:gd name="connsiteX1" fmla="*/ 895602 w 900880"/>
              <a:gd name="connsiteY1" fmla="*/ 320135 h 320135"/>
              <a:gd name="connsiteX2" fmla="*/ 900881 w 900880"/>
              <a:gd name="connsiteY2" fmla="*/ 314858 h 320135"/>
              <a:gd name="connsiteX3" fmla="*/ 900881 w 900880"/>
              <a:gd name="connsiteY3" fmla="*/ 5277 h 320135"/>
              <a:gd name="connsiteX4" fmla="*/ 895602 w 900880"/>
              <a:gd name="connsiteY4" fmla="*/ 0 h 320135"/>
              <a:gd name="connsiteX5" fmla="*/ 5278 w 900880"/>
              <a:gd name="connsiteY5" fmla="*/ 0 h 320135"/>
              <a:gd name="connsiteX6" fmla="*/ 0 w 900880"/>
              <a:gd name="connsiteY6" fmla="*/ 5277 h 320135"/>
              <a:gd name="connsiteX7" fmla="*/ 0 w 900880"/>
              <a:gd name="connsiteY7" fmla="*/ 314858 h 320135"/>
              <a:gd name="connsiteX8" fmla="*/ 5278 w 900880"/>
              <a:gd name="connsiteY8" fmla="*/ 320135 h 320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00880" h="320135">
                <a:moveTo>
                  <a:pt x="5278" y="320135"/>
                </a:moveTo>
                <a:lnTo>
                  <a:pt x="895602" y="320135"/>
                </a:lnTo>
                <a:cubicBezTo>
                  <a:pt x="899121" y="320135"/>
                  <a:pt x="900881" y="318376"/>
                  <a:pt x="900881" y="314858"/>
                </a:cubicBezTo>
                <a:lnTo>
                  <a:pt x="900881" y="5277"/>
                </a:lnTo>
                <a:cubicBezTo>
                  <a:pt x="900881" y="1759"/>
                  <a:pt x="899121" y="0"/>
                  <a:pt x="895602" y="0"/>
                </a:cubicBezTo>
                <a:lnTo>
                  <a:pt x="5278" y="0"/>
                </a:lnTo>
                <a:cubicBezTo>
                  <a:pt x="1759" y="0"/>
                  <a:pt x="0" y="1759"/>
                  <a:pt x="0" y="5277"/>
                </a:cubicBezTo>
                <a:lnTo>
                  <a:pt x="0" y="314858"/>
                </a:lnTo>
                <a:cubicBezTo>
                  <a:pt x="0" y="318376"/>
                  <a:pt x="1760" y="320135"/>
                  <a:pt x="5278" y="320135"/>
                </a:cubicBezTo>
                <a:close/>
              </a:path>
            </a:pathLst>
          </a:custGeom>
          <a:solidFill>
            <a:srgbClr val="F0F0F0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957F8508-93B4-AC82-899B-D2FDC96CB0E0}"/>
              </a:ext>
            </a:extLst>
          </p:cNvPr>
          <p:cNvSpPr/>
          <p:nvPr/>
        </p:nvSpPr>
        <p:spPr>
          <a:xfrm>
            <a:off x="259863" y="1784442"/>
            <a:ext cx="1428739" cy="443264"/>
          </a:xfrm>
          <a:custGeom>
            <a:avLst/>
            <a:gdLst>
              <a:gd name="connsiteX0" fmla="*/ 15836 w 1428739"/>
              <a:gd name="connsiteY0" fmla="*/ 443265 h 443264"/>
              <a:gd name="connsiteX1" fmla="*/ 1412904 w 1428739"/>
              <a:gd name="connsiteY1" fmla="*/ 443265 h 443264"/>
              <a:gd name="connsiteX2" fmla="*/ 1428740 w 1428739"/>
              <a:gd name="connsiteY2" fmla="*/ 427434 h 443264"/>
              <a:gd name="connsiteX3" fmla="*/ 1428740 w 1428739"/>
              <a:gd name="connsiteY3" fmla="*/ 15831 h 443264"/>
              <a:gd name="connsiteX4" fmla="*/ 1412904 w 1428739"/>
              <a:gd name="connsiteY4" fmla="*/ 0 h 443264"/>
              <a:gd name="connsiteX5" fmla="*/ 15836 w 1428739"/>
              <a:gd name="connsiteY5" fmla="*/ 0 h 443264"/>
              <a:gd name="connsiteX6" fmla="*/ 0 w 1428739"/>
              <a:gd name="connsiteY6" fmla="*/ 15831 h 443264"/>
              <a:gd name="connsiteX7" fmla="*/ 0 w 1428739"/>
              <a:gd name="connsiteY7" fmla="*/ 427434 h 443264"/>
              <a:gd name="connsiteX8" fmla="*/ 15836 w 1428739"/>
              <a:gd name="connsiteY8" fmla="*/ 443265 h 443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28739" h="443264">
                <a:moveTo>
                  <a:pt x="15836" y="443265"/>
                </a:moveTo>
                <a:lnTo>
                  <a:pt x="1412904" y="443265"/>
                </a:lnTo>
                <a:cubicBezTo>
                  <a:pt x="1423462" y="443265"/>
                  <a:pt x="1428740" y="437988"/>
                  <a:pt x="1428740" y="427434"/>
                </a:cubicBezTo>
                <a:lnTo>
                  <a:pt x="1428740" y="15831"/>
                </a:lnTo>
                <a:cubicBezTo>
                  <a:pt x="1428740" y="5277"/>
                  <a:pt x="1423461" y="0"/>
                  <a:pt x="1412904" y="0"/>
                </a:cubicBezTo>
                <a:lnTo>
                  <a:pt x="15836" y="0"/>
                </a:lnTo>
                <a:cubicBezTo>
                  <a:pt x="5279" y="0"/>
                  <a:pt x="0" y="5277"/>
                  <a:pt x="0" y="15831"/>
                </a:cubicBezTo>
                <a:lnTo>
                  <a:pt x="0" y="427434"/>
                </a:lnTo>
                <a:cubicBezTo>
                  <a:pt x="0" y="437988"/>
                  <a:pt x="5279" y="443265"/>
                  <a:pt x="15836" y="443265"/>
                </a:cubicBezTo>
                <a:close/>
              </a:path>
            </a:pathLst>
          </a:custGeom>
          <a:solidFill>
            <a:srgbClr val="F8FAFB"/>
          </a:solidFill>
          <a:ln w="9145" cap="flat">
            <a:solidFill>
              <a:srgbClr val="DADCE0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8267112D-6AC0-16B1-23FF-3BE23223C8DF}"/>
              </a:ext>
            </a:extLst>
          </p:cNvPr>
          <p:cNvSpPr/>
          <p:nvPr/>
        </p:nvSpPr>
        <p:spPr>
          <a:xfrm>
            <a:off x="4108693" y="1784442"/>
            <a:ext cx="1235191" cy="443264"/>
          </a:xfrm>
          <a:custGeom>
            <a:avLst/>
            <a:gdLst>
              <a:gd name="connsiteX0" fmla="*/ 15836 w 1235191"/>
              <a:gd name="connsiteY0" fmla="*/ 443265 h 443264"/>
              <a:gd name="connsiteX1" fmla="*/ 1219356 w 1235191"/>
              <a:gd name="connsiteY1" fmla="*/ 443265 h 443264"/>
              <a:gd name="connsiteX2" fmla="*/ 1235192 w 1235191"/>
              <a:gd name="connsiteY2" fmla="*/ 427434 h 443264"/>
              <a:gd name="connsiteX3" fmla="*/ 1235192 w 1235191"/>
              <a:gd name="connsiteY3" fmla="*/ 15831 h 443264"/>
              <a:gd name="connsiteX4" fmla="*/ 1219356 w 1235191"/>
              <a:gd name="connsiteY4" fmla="*/ 0 h 443264"/>
              <a:gd name="connsiteX5" fmla="*/ 15836 w 1235191"/>
              <a:gd name="connsiteY5" fmla="*/ 0 h 443264"/>
              <a:gd name="connsiteX6" fmla="*/ 0 w 1235191"/>
              <a:gd name="connsiteY6" fmla="*/ 15831 h 443264"/>
              <a:gd name="connsiteX7" fmla="*/ 0 w 1235191"/>
              <a:gd name="connsiteY7" fmla="*/ 427434 h 443264"/>
              <a:gd name="connsiteX8" fmla="*/ 15836 w 1235191"/>
              <a:gd name="connsiteY8" fmla="*/ 443265 h 443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35191" h="443264">
                <a:moveTo>
                  <a:pt x="15836" y="443265"/>
                </a:moveTo>
                <a:lnTo>
                  <a:pt x="1219356" y="443265"/>
                </a:lnTo>
                <a:cubicBezTo>
                  <a:pt x="1229913" y="443265"/>
                  <a:pt x="1235192" y="437988"/>
                  <a:pt x="1235192" y="427434"/>
                </a:cubicBezTo>
                <a:lnTo>
                  <a:pt x="1235192" y="15831"/>
                </a:lnTo>
                <a:cubicBezTo>
                  <a:pt x="1235192" y="5277"/>
                  <a:pt x="1229913" y="0"/>
                  <a:pt x="1219356" y="0"/>
                </a:cubicBezTo>
                <a:lnTo>
                  <a:pt x="15836" y="0"/>
                </a:lnTo>
                <a:cubicBezTo>
                  <a:pt x="5279" y="0"/>
                  <a:pt x="0" y="5277"/>
                  <a:pt x="0" y="15831"/>
                </a:cubicBezTo>
                <a:lnTo>
                  <a:pt x="0" y="427434"/>
                </a:lnTo>
                <a:cubicBezTo>
                  <a:pt x="0" y="437988"/>
                  <a:pt x="5279" y="443265"/>
                  <a:pt x="15836" y="443265"/>
                </a:cubicBezTo>
                <a:close/>
              </a:path>
            </a:pathLst>
          </a:custGeom>
          <a:solidFill>
            <a:srgbClr val="EEF6F2"/>
          </a:solidFill>
          <a:ln w="9145" cap="flat">
            <a:solidFill>
              <a:srgbClr val="DADCE0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EA91CC5A-AB8C-FC68-1D6A-CE86519E9851}"/>
              </a:ext>
            </a:extLst>
          </p:cNvPr>
          <p:cNvSpPr/>
          <p:nvPr/>
        </p:nvSpPr>
        <p:spPr>
          <a:xfrm>
            <a:off x="8077636" y="1784442"/>
            <a:ext cx="1411144" cy="443264"/>
          </a:xfrm>
          <a:custGeom>
            <a:avLst/>
            <a:gdLst>
              <a:gd name="connsiteX0" fmla="*/ 15836 w 1411144"/>
              <a:gd name="connsiteY0" fmla="*/ 443265 h 443264"/>
              <a:gd name="connsiteX1" fmla="*/ 1395309 w 1411144"/>
              <a:gd name="connsiteY1" fmla="*/ 443265 h 443264"/>
              <a:gd name="connsiteX2" fmla="*/ 1411144 w 1411144"/>
              <a:gd name="connsiteY2" fmla="*/ 427434 h 443264"/>
              <a:gd name="connsiteX3" fmla="*/ 1411144 w 1411144"/>
              <a:gd name="connsiteY3" fmla="*/ 15831 h 443264"/>
              <a:gd name="connsiteX4" fmla="*/ 1395309 w 1411144"/>
              <a:gd name="connsiteY4" fmla="*/ 0 h 443264"/>
              <a:gd name="connsiteX5" fmla="*/ 15836 w 1411144"/>
              <a:gd name="connsiteY5" fmla="*/ 0 h 443264"/>
              <a:gd name="connsiteX6" fmla="*/ 0 w 1411144"/>
              <a:gd name="connsiteY6" fmla="*/ 15831 h 443264"/>
              <a:gd name="connsiteX7" fmla="*/ 0 w 1411144"/>
              <a:gd name="connsiteY7" fmla="*/ 427434 h 443264"/>
              <a:gd name="connsiteX8" fmla="*/ 15836 w 1411144"/>
              <a:gd name="connsiteY8" fmla="*/ 443265 h 443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11144" h="443264">
                <a:moveTo>
                  <a:pt x="15836" y="443265"/>
                </a:moveTo>
                <a:lnTo>
                  <a:pt x="1395309" y="443265"/>
                </a:lnTo>
                <a:cubicBezTo>
                  <a:pt x="1405866" y="443265"/>
                  <a:pt x="1411144" y="437988"/>
                  <a:pt x="1411144" y="427434"/>
                </a:cubicBezTo>
                <a:lnTo>
                  <a:pt x="1411144" y="15831"/>
                </a:lnTo>
                <a:cubicBezTo>
                  <a:pt x="1411144" y="5277"/>
                  <a:pt x="1405866" y="0"/>
                  <a:pt x="1395309" y="0"/>
                </a:cubicBezTo>
                <a:lnTo>
                  <a:pt x="15836" y="0"/>
                </a:lnTo>
                <a:cubicBezTo>
                  <a:pt x="5278" y="0"/>
                  <a:pt x="0" y="5277"/>
                  <a:pt x="0" y="15831"/>
                </a:cubicBezTo>
                <a:lnTo>
                  <a:pt x="0" y="427434"/>
                </a:lnTo>
                <a:cubicBezTo>
                  <a:pt x="0" y="437988"/>
                  <a:pt x="5278" y="443265"/>
                  <a:pt x="15836" y="443265"/>
                </a:cubicBezTo>
                <a:close/>
              </a:path>
            </a:pathLst>
          </a:custGeom>
          <a:solidFill>
            <a:srgbClr val="FBF5E9"/>
          </a:solidFill>
          <a:ln w="9145" cap="flat">
            <a:solidFill>
              <a:srgbClr val="DADCE0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9FA9F79-C6F0-5BD8-BC56-D581FA66D06F}"/>
              </a:ext>
            </a:extLst>
          </p:cNvPr>
          <p:cNvSpPr/>
          <p:nvPr/>
        </p:nvSpPr>
        <p:spPr>
          <a:xfrm>
            <a:off x="10080726" y="1735190"/>
            <a:ext cx="836109" cy="654342"/>
          </a:xfrm>
          <a:custGeom>
            <a:avLst/>
            <a:gdLst>
              <a:gd name="connsiteX0" fmla="*/ 8797 w 742521"/>
              <a:gd name="connsiteY0" fmla="*/ 654343 h 654342"/>
              <a:gd name="connsiteX1" fmla="*/ 733724 w 742521"/>
              <a:gd name="connsiteY1" fmla="*/ 654343 h 654342"/>
              <a:gd name="connsiteX2" fmla="*/ 742522 w 742521"/>
              <a:gd name="connsiteY2" fmla="*/ 645548 h 654342"/>
              <a:gd name="connsiteX3" fmla="*/ 742522 w 742521"/>
              <a:gd name="connsiteY3" fmla="*/ 8795 h 654342"/>
              <a:gd name="connsiteX4" fmla="*/ 733724 w 742521"/>
              <a:gd name="connsiteY4" fmla="*/ 0 h 654342"/>
              <a:gd name="connsiteX5" fmla="*/ 8797 w 742521"/>
              <a:gd name="connsiteY5" fmla="*/ 0 h 654342"/>
              <a:gd name="connsiteX6" fmla="*/ 0 w 742521"/>
              <a:gd name="connsiteY6" fmla="*/ 8795 h 654342"/>
              <a:gd name="connsiteX7" fmla="*/ 0 w 742521"/>
              <a:gd name="connsiteY7" fmla="*/ 645548 h 654342"/>
              <a:gd name="connsiteX8" fmla="*/ 8797 w 742521"/>
              <a:gd name="connsiteY8" fmla="*/ 654343 h 654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2521" h="654342">
                <a:moveTo>
                  <a:pt x="8797" y="654343"/>
                </a:moveTo>
                <a:lnTo>
                  <a:pt x="733724" y="654343"/>
                </a:lnTo>
                <a:cubicBezTo>
                  <a:pt x="739590" y="654343"/>
                  <a:pt x="742522" y="651411"/>
                  <a:pt x="742522" y="645548"/>
                </a:cubicBezTo>
                <a:lnTo>
                  <a:pt x="742522" y="8795"/>
                </a:lnTo>
                <a:cubicBezTo>
                  <a:pt x="742522" y="2932"/>
                  <a:pt x="739590" y="0"/>
                  <a:pt x="733724" y="0"/>
                </a:cubicBezTo>
                <a:lnTo>
                  <a:pt x="8797" y="0"/>
                </a:lnTo>
                <a:cubicBezTo>
                  <a:pt x="2932" y="0"/>
                  <a:pt x="0" y="2932"/>
                  <a:pt x="0" y="8795"/>
                </a:cubicBezTo>
                <a:lnTo>
                  <a:pt x="0" y="645548"/>
                </a:lnTo>
                <a:cubicBezTo>
                  <a:pt x="0" y="651411"/>
                  <a:pt x="2932" y="654343"/>
                  <a:pt x="8797" y="654343"/>
                </a:cubicBezTo>
                <a:close/>
              </a:path>
            </a:pathLst>
          </a:custGeom>
          <a:solidFill>
            <a:srgbClr val="FAFAFA"/>
          </a:solidFill>
          <a:ln w="9145" cap="flat">
            <a:solidFill>
              <a:srgbClr val="5A5A5A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F13AF77-969A-A03B-ABAF-1B69473E6C60}"/>
              </a:ext>
            </a:extLst>
          </p:cNvPr>
          <p:cNvSpPr/>
          <p:nvPr/>
        </p:nvSpPr>
        <p:spPr>
          <a:xfrm>
            <a:off x="4094112" y="2932059"/>
            <a:ext cx="1229034" cy="390494"/>
          </a:xfrm>
          <a:custGeom>
            <a:avLst/>
            <a:gdLst>
              <a:gd name="connsiteX0" fmla="*/ 15836 w 1587098"/>
              <a:gd name="connsiteY0" fmla="*/ 390495 h 390494"/>
              <a:gd name="connsiteX1" fmla="*/ 1571262 w 1587098"/>
              <a:gd name="connsiteY1" fmla="*/ 390495 h 390494"/>
              <a:gd name="connsiteX2" fmla="*/ 1587098 w 1587098"/>
              <a:gd name="connsiteY2" fmla="*/ 374664 h 390494"/>
              <a:gd name="connsiteX3" fmla="*/ 1587098 w 1587098"/>
              <a:gd name="connsiteY3" fmla="*/ 15831 h 390494"/>
              <a:gd name="connsiteX4" fmla="*/ 1571262 w 1587098"/>
              <a:gd name="connsiteY4" fmla="*/ 0 h 390494"/>
              <a:gd name="connsiteX5" fmla="*/ 15836 w 1587098"/>
              <a:gd name="connsiteY5" fmla="*/ 0 h 390494"/>
              <a:gd name="connsiteX6" fmla="*/ 0 w 1587098"/>
              <a:gd name="connsiteY6" fmla="*/ 15831 h 390494"/>
              <a:gd name="connsiteX7" fmla="*/ 0 w 1587098"/>
              <a:gd name="connsiteY7" fmla="*/ 374664 h 390494"/>
              <a:gd name="connsiteX8" fmla="*/ 15836 w 1587098"/>
              <a:gd name="connsiteY8" fmla="*/ 390495 h 390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87098" h="390494">
                <a:moveTo>
                  <a:pt x="15836" y="390495"/>
                </a:moveTo>
                <a:lnTo>
                  <a:pt x="1571262" y="390495"/>
                </a:lnTo>
                <a:cubicBezTo>
                  <a:pt x="1581819" y="390495"/>
                  <a:pt x="1587098" y="385218"/>
                  <a:pt x="1587098" y="374664"/>
                </a:cubicBezTo>
                <a:lnTo>
                  <a:pt x="1587098" y="15831"/>
                </a:lnTo>
                <a:cubicBezTo>
                  <a:pt x="1587098" y="5277"/>
                  <a:pt x="1581819" y="0"/>
                  <a:pt x="1571262" y="0"/>
                </a:cubicBezTo>
                <a:lnTo>
                  <a:pt x="15836" y="0"/>
                </a:lnTo>
                <a:cubicBezTo>
                  <a:pt x="5279" y="0"/>
                  <a:pt x="0" y="5277"/>
                  <a:pt x="0" y="15831"/>
                </a:cubicBezTo>
                <a:lnTo>
                  <a:pt x="0" y="374664"/>
                </a:lnTo>
                <a:cubicBezTo>
                  <a:pt x="0" y="385218"/>
                  <a:pt x="5279" y="390495"/>
                  <a:pt x="15836" y="390495"/>
                </a:cubicBezTo>
                <a:close/>
              </a:path>
            </a:pathLst>
          </a:custGeom>
          <a:solidFill>
            <a:srgbClr val="F9EFEC"/>
          </a:solidFill>
          <a:ln w="8672" cap="flat">
            <a:solidFill>
              <a:srgbClr val="DADCE0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8802EF20-6E67-12AC-63BB-642AD8B3DB10}"/>
              </a:ext>
            </a:extLst>
          </p:cNvPr>
          <p:cNvSpPr/>
          <p:nvPr/>
        </p:nvSpPr>
        <p:spPr>
          <a:xfrm>
            <a:off x="4167635" y="1897020"/>
            <a:ext cx="290322" cy="94985"/>
          </a:xfrm>
          <a:custGeom>
            <a:avLst/>
            <a:gdLst>
              <a:gd name="connsiteX0" fmla="*/ 61584 w 290322"/>
              <a:gd name="connsiteY0" fmla="*/ 94985 h 94985"/>
              <a:gd name="connsiteX1" fmla="*/ 228740 w 290322"/>
              <a:gd name="connsiteY1" fmla="*/ 94985 h 94985"/>
              <a:gd name="connsiteX2" fmla="*/ 290323 w 290322"/>
              <a:gd name="connsiteY2" fmla="*/ 33421 h 94985"/>
              <a:gd name="connsiteX3" fmla="*/ 290323 w 290322"/>
              <a:gd name="connsiteY3" fmla="*/ 61564 h 94985"/>
              <a:gd name="connsiteX4" fmla="*/ 228740 w 290322"/>
              <a:gd name="connsiteY4" fmla="*/ 0 h 94985"/>
              <a:gd name="connsiteX5" fmla="*/ 61584 w 290322"/>
              <a:gd name="connsiteY5" fmla="*/ 0 h 94985"/>
              <a:gd name="connsiteX6" fmla="*/ 0 w 290322"/>
              <a:gd name="connsiteY6" fmla="*/ 61564 h 94985"/>
              <a:gd name="connsiteX7" fmla="*/ 0 w 290322"/>
              <a:gd name="connsiteY7" fmla="*/ 33421 h 94985"/>
              <a:gd name="connsiteX8" fmla="*/ 61584 w 290322"/>
              <a:gd name="connsiteY8" fmla="*/ 94985 h 9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0322" h="94985">
                <a:moveTo>
                  <a:pt x="61584" y="94985"/>
                </a:moveTo>
                <a:lnTo>
                  <a:pt x="228740" y="94985"/>
                </a:lnTo>
                <a:cubicBezTo>
                  <a:pt x="269795" y="94985"/>
                  <a:pt x="290323" y="74464"/>
                  <a:pt x="290323" y="33421"/>
                </a:cubicBezTo>
                <a:lnTo>
                  <a:pt x="290323" y="61564"/>
                </a:lnTo>
                <a:cubicBezTo>
                  <a:pt x="290323" y="20522"/>
                  <a:pt x="269795" y="0"/>
                  <a:pt x="228740" y="0"/>
                </a:cubicBezTo>
                <a:lnTo>
                  <a:pt x="61584" y="0"/>
                </a:lnTo>
                <a:cubicBezTo>
                  <a:pt x="20528" y="0"/>
                  <a:pt x="0" y="20522"/>
                  <a:pt x="0" y="61564"/>
                </a:cubicBezTo>
                <a:lnTo>
                  <a:pt x="0" y="33421"/>
                </a:lnTo>
                <a:cubicBezTo>
                  <a:pt x="0" y="74464"/>
                  <a:pt x="20528" y="94985"/>
                  <a:pt x="61584" y="94985"/>
                </a:cubicBezTo>
                <a:close/>
              </a:path>
            </a:pathLst>
          </a:custGeom>
          <a:solidFill>
            <a:srgbClr val="EEF6F2"/>
          </a:solidFill>
          <a:ln w="15766" cap="flat">
            <a:solidFill>
              <a:srgbClr val="3A8A69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19F58C07-6B4A-B533-F203-06FA3E278DE6}"/>
              </a:ext>
            </a:extLst>
          </p:cNvPr>
          <p:cNvSpPr/>
          <p:nvPr/>
        </p:nvSpPr>
        <p:spPr>
          <a:xfrm>
            <a:off x="4167635" y="1958584"/>
            <a:ext cx="290322" cy="94985"/>
          </a:xfrm>
          <a:custGeom>
            <a:avLst/>
            <a:gdLst>
              <a:gd name="connsiteX0" fmla="*/ 61584 w 290322"/>
              <a:gd name="connsiteY0" fmla="*/ 94985 h 94985"/>
              <a:gd name="connsiteX1" fmla="*/ 228740 w 290322"/>
              <a:gd name="connsiteY1" fmla="*/ 94985 h 94985"/>
              <a:gd name="connsiteX2" fmla="*/ 290323 w 290322"/>
              <a:gd name="connsiteY2" fmla="*/ 33421 h 94985"/>
              <a:gd name="connsiteX3" fmla="*/ 290323 w 290322"/>
              <a:gd name="connsiteY3" fmla="*/ 61565 h 94985"/>
              <a:gd name="connsiteX4" fmla="*/ 228740 w 290322"/>
              <a:gd name="connsiteY4" fmla="*/ 0 h 94985"/>
              <a:gd name="connsiteX5" fmla="*/ 61584 w 290322"/>
              <a:gd name="connsiteY5" fmla="*/ 0 h 94985"/>
              <a:gd name="connsiteX6" fmla="*/ 0 w 290322"/>
              <a:gd name="connsiteY6" fmla="*/ 61565 h 94985"/>
              <a:gd name="connsiteX7" fmla="*/ 0 w 290322"/>
              <a:gd name="connsiteY7" fmla="*/ 33421 h 94985"/>
              <a:gd name="connsiteX8" fmla="*/ 61584 w 290322"/>
              <a:gd name="connsiteY8" fmla="*/ 94985 h 9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0322" h="94985">
                <a:moveTo>
                  <a:pt x="61584" y="94985"/>
                </a:moveTo>
                <a:lnTo>
                  <a:pt x="228740" y="94985"/>
                </a:lnTo>
                <a:cubicBezTo>
                  <a:pt x="269795" y="94985"/>
                  <a:pt x="290323" y="74464"/>
                  <a:pt x="290323" y="33421"/>
                </a:cubicBezTo>
                <a:lnTo>
                  <a:pt x="290323" y="61565"/>
                </a:lnTo>
                <a:cubicBezTo>
                  <a:pt x="290323" y="20522"/>
                  <a:pt x="269795" y="0"/>
                  <a:pt x="228740" y="0"/>
                </a:cubicBezTo>
                <a:lnTo>
                  <a:pt x="61584" y="0"/>
                </a:lnTo>
                <a:cubicBezTo>
                  <a:pt x="20528" y="0"/>
                  <a:pt x="0" y="20522"/>
                  <a:pt x="0" y="61565"/>
                </a:cubicBezTo>
                <a:lnTo>
                  <a:pt x="0" y="33421"/>
                </a:lnTo>
                <a:cubicBezTo>
                  <a:pt x="0" y="74464"/>
                  <a:pt x="20528" y="94985"/>
                  <a:pt x="61584" y="94985"/>
                </a:cubicBezTo>
                <a:close/>
              </a:path>
            </a:pathLst>
          </a:custGeom>
          <a:solidFill>
            <a:srgbClr val="EEF6F2"/>
          </a:solidFill>
          <a:ln w="15766" cap="flat">
            <a:solidFill>
              <a:srgbClr val="3A8A69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A2725ECA-D107-C98A-5F50-E71A61FD3819}"/>
              </a:ext>
            </a:extLst>
          </p:cNvPr>
          <p:cNvSpPr/>
          <p:nvPr/>
        </p:nvSpPr>
        <p:spPr>
          <a:xfrm>
            <a:off x="4167635" y="2020149"/>
            <a:ext cx="290322" cy="94985"/>
          </a:xfrm>
          <a:custGeom>
            <a:avLst/>
            <a:gdLst>
              <a:gd name="connsiteX0" fmla="*/ 61584 w 290322"/>
              <a:gd name="connsiteY0" fmla="*/ 94985 h 94985"/>
              <a:gd name="connsiteX1" fmla="*/ 228740 w 290322"/>
              <a:gd name="connsiteY1" fmla="*/ 94985 h 94985"/>
              <a:gd name="connsiteX2" fmla="*/ 290323 w 290322"/>
              <a:gd name="connsiteY2" fmla="*/ 33421 h 94985"/>
              <a:gd name="connsiteX3" fmla="*/ 290323 w 290322"/>
              <a:gd name="connsiteY3" fmla="*/ 61564 h 94985"/>
              <a:gd name="connsiteX4" fmla="*/ 228740 w 290322"/>
              <a:gd name="connsiteY4" fmla="*/ 0 h 94985"/>
              <a:gd name="connsiteX5" fmla="*/ 61584 w 290322"/>
              <a:gd name="connsiteY5" fmla="*/ 0 h 94985"/>
              <a:gd name="connsiteX6" fmla="*/ 0 w 290322"/>
              <a:gd name="connsiteY6" fmla="*/ 61564 h 94985"/>
              <a:gd name="connsiteX7" fmla="*/ 0 w 290322"/>
              <a:gd name="connsiteY7" fmla="*/ 33421 h 94985"/>
              <a:gd name="connsiteX8" fmla="*/ 61584 w 290322"/>
              <a:gd name="connsiteY8" fmla="*/ 94985 h 9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0322" h="94985">
                <a:moveTo>
                  <a:pt x="61584" y="94985"/>
                </a:moveTo>
                <a:lnTo>
                  <a:pt x="228740" y="94985"/>
                </a:lnTo>
                <a:cubicBezTo>
                  <a:pt x="269795" y="94985"/>
                  <a:pt x="290323" y="74464"/>
                  <a:pt x="290323" y="33421"/>
                </a:cubicBezTo>
                <a:lnTo>
                  <a:pt x="290323" y="61564"/>
                </a:lnTo>
                <a:cubicBezTo>
                  <a:pt x="290323" y="20521"/>
                  <a:pt x="269795" y="0"/>
                  <a:pt x="228740" y="0"/>
                </a:cubicBezTo>
                <a:lnTo>
                  <a:pt x="61584" y="0"/>
                </a:lnTo>
                <a:cubicBezTo>
                  <a:pt x="20528" y="0"/>
                  <a:pt x="0" y="20521"/>
                  <a:pt x="0" y="61564"/>
                </a:cubicBezTo>
                <a:lnTo>
                  <a:pt x="0" y="33421"/>
                </a:lnTo>
                <a:cubicBezTo>
                  <a:pt x="0" y="74464"/>
                  <a:pt x="20528" y="94985"/>
                  <a:pt x="61584" y="94985"/>
                </a:cubicBezTo>
                <a:close/>
              </a:path>
            </a:pathLst>
          </a:custGeom>
          <a:solidFill>
            <a:srgbClr val="EEF6F2"/>
          </a:solidFill>
          <a:ln w="15766" cap="flat">
            <a:solidFill>
              <a:srgbClr val="3A8A69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grpSp>
        <p:nvGrpSpPr>
          <p:cNvPr id="63" name="Graphic 4">
            <a:extLst>
              <a:ext uri="{FF2B5EF4-FFF2-40B4-BE49-F238E27FC236}">
                <a16:creationId xmlns:a16="http://schemas.microsoft.com/office/drawing/2014/main" id="{011591D2-2F1C-31EA-C763-342566EC3FEA}"/>
              </a:ext>
            </a:extLst>
          </p:cNvPr>
          <p:cNvGrpSpPr/>
          <p:nvPr/>
        </p:nvGrpSpPr>
        <p:grpSpPr>
          <a:xfrm>
            <a:off x="5408545" y="2161501"/>
            <a:ext cx="408115" cy="703021"/>
            <a:chOff x="5680683" y="2836091"/>
            <a:chExt cx="294170" cy="396478"/>
          </a:xfrm>
        </p:grpSpPr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20B47282-8CF0-4A63-B34C-B9F393006189}"/>
                </a:ext>
              </a:extLst>
            </p:cNvPr>
            <p:cNvSpPr/>
            <p:nvPr/>
          </p:nvSpPr>
          <p:spPr>
            <a:xfrm>
              <a:off x="5680683" y="2836091"/>
              <a:ext cx="294170" cy="396478"/>
            </a:xfrm>
            <a:custGeom>
              <a:avLst/>
              <a:gdLst>
                <a:gd name="connsiteX0" fmla="*/ 455913 w 455912"/>
                <a:gd name="connsiteY0" fmla="*/ 0 h 390014"/>
                <a:gd name="connsiteX1" fmla="*/ 0 w 455912"/>
                <a:gd name="connsiteY1" fmla="*/ 390014 h 390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5912" h="390014">
                  <a:moveTo>
                    <a:pt x="455913" y="0"/>
                  </a:moveTo>
                  <a:cubicBezTo>
                    <a:pt x="314580" y="148283"/>
                    <a:pt x="162609" y="278288"/>
                    <a:pt x="0" y="390014"/>
                  </a:cubicBezTo>
                </a:path>
              </a:pathLst>
            </a:custGeom>
            <a:noFill/>
            <a:ln w="9775" cap="rnd">
              <a:solidFill>
                <a:srgbClr val="C55F53"/>
              </a:solidFill>
              <a:custDash>
                <a:ds d="186000" sp="139500"/>
              </a:custDash>
              <a:round/>
            </a:ln>
          </p:spPr>
          <p:txBody>
            <a:bodyPr rtlCol="0" anchor="ctr"/>
            <a:lstStyle/>
            <a:p>
              <a:endParaRPr lang="en-CN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BAA04ECF-341A-AD06-1133-0D381EDFAD10}"/>
                </a:ext>
              </a:extLst>
            </p:cNvPr>
            <p:cNvSpPr/>
            <p:nvPr/>
          </p:nvSpPr>
          <p:spPr>
            <a:xfrm>
              <a:off x="5680683" y="3195377"/>
              <a:ext cx="41918" cy="37191"/>
            </a:xfrm>
            <a:custGeom>
              <a:avLst/>
              <a:gdLst>
                <a:gd name="connsiteX0" fmla="*/ 41918 w 41918"/>
                <a:gd name="connsiteY0" fmla="*/ 31442 h 37191"/>
                <a:gd name="connsiteX1" fmla="*/ 0 w 41918"/>
                <a:gd name="connsiteY1" fmla="*/ 37191 h 37191"/>
                <a:gd name="connsiteX2" fmla="*/ 20579 w 41918"/>
                <a:gd name="connsiteY2" fmla="*/ 0 h 37191"/>
                <a:gd name="connsiteX3" fmla="*/ 41918 w 41918"/>
                <a:gd name="connsiteY3" fmla="*/ 31442 h 37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918" h="37191">
                  <a:moveTo>
                    <a:pt x="41918" y="31442"/>
                  </a:moveTo>
                  <a:lnTo>
                    <a:pt x="0" y="37191"/>
                  </a:lnTo>
                  <a:lnTo>
                    <a:pt x="20579" y="0"/>
                  </a:lnTo>
                  <a:lnTo>
                    <a:pt x="41918" y="31442"/>
                  </a:lnTo>
                  <a:close/>
                </a:path>
              </a:pathLst>
            </a:custGeom>
            <a:solidFill>
              <a:srgbClr val="C55F53"/>
            </a:solidFill>
            <a:ln w="9775" cap="rnd">
              <a:solidFill>
                <a:srgbClr val="C55F53"/>
              </a:solidFill>
              <a:custDash>
                <a:ds d="186000" sp="139500"/>
              </a:custDash>
              <a:round/>
            </a:ln>
          </p:spPr>
          <p:txBody>
            <a:bodyPr rtlCol="0" anchor="ctr"/>
            <a:lstStyle/>
            <a:p>
              <a:endParaRPr lang="en-CN"/>
            </a:p>
          </p:txBody>
        </p:sp>
      </p:grpSp>
      <p:sp>
        <p:nvSpPr>
          <p:cNvPr id="87" name="Freeform 86">
            <a:extLst>
              <a:ext uri="{FF2B5EF4-FFF2-40B4-BE49-F238E27FC236}">
                <a16:creationId xmlns:a16="http://schemas.microsoft.com/office/drawing/2014/main" id="{AAFA11B0-8A15-AB6A-0F37-28DF32B65B14}"/>
              </a:ext>
            </a:extLst>
          </p:cNvPr>
          <p:cNvSpPr/>
          <p:nvPr/>
        </p:nvSpPr>
        <p:spPr>
          <a:xfrm>
            <a:off x="317048" y="1903176"/>
            <a:ext cx="153079" cy="205801"/>
          </a:xfrm>
          <a:custGeom>
            <a:avLst/>
            <a:gdLst>
              <a:gd name="connsiteX0" fmla="*/ 19355 w 153079"/>
              <a:gd name="connsiteY0" fmla="*/ 205801 h 205801"/>
              <a:gd name="connsiteX1" fmla="*/ 133724 w 153079"/>
              <a:gd name="connsiteY1" fmla="*/ 205801 h 205801"/>
              <a:gd name="connsiteX2" fmla="*/ 153079 w 153079"/>
              <a:gd name="connsiteY2" fmla="*/ 186453 h 205801"/>
              <a:gd name="connsiteX3" fmla="*/ 153079 w 153079"/>
              <a:gd name="connsiteY3" fmla="*/ 19349 h 205801"/>
              <a:gd name="connsiteX4" fmla="*/ 133724 w 153079"/>
              <a:gd name="connsiteY4" fmla="*/ 0 h 205801"/>
              <a:gd name="connsiteX5" fmla="*/ 19355 w 153079"/>
              <a:gd name="connsiteY5" fmla="*/ 0 h 205801"/>
              <a:gd name="connsiteX6" fmla="*/ 0 w 153079"/>
              <a:gd name="connsiteY6" fmla="*/ 19349 h 205801"/>
              <a:gd name="connsiteX7" fmla="*/ 0 w 153079"/>
              <a:gd name="connsiteY7" fmla="*/ 186453 h 205801"/>
              <a:gd name="connsiteX8" fmla="*/ 19355 w 153079"/>
              <a:gd name="connsiteY8" fmla="*/ 205801 h 20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3079" h="205801">
                <a:moveTo>
                  <a:pt x="19355" y="205801"/>
                </a:moveTo>
                <a:lnTo>
                  <a:pt x="133724" y="205801"/>
                </a:lnTo>
                <a:cubicBezTo>
                  <a:pt x="146628" y="205801"/>
                  <a:pt x="153079" y="199352"/>
                  <a:pt x="153079" y="186453"/>
                </a:cubicBezTo>
                <a:lnTo>
                  <a:pt x="153079" y="19349"/>
                </a:lnTo>
                <a:cubicBezTo>
                  <a:pt x="153079" y="6450"/>
                  <a:pt x="146628" y="0"/>
                  <a:pt x="133724" y="0"/>
                </a:cubicBezTo>
                <a:lnTo>
                  <a:pt x="19355" y="0"/>
                </a:lnTo>
                <a:cubicBezTo>
                  <a:pt x="6452" y="0"/>
                  <a:pt x="0" y="6450"/>
                  <a:pt x="0" y="19349"/>
                </a:cubicBezTo>
                <a:lnTo>
                  <a:pt x="0" y="186453"/>
                </a:lnTo>
                <a:cubicBezTo>
                  <a:pt x="0" y="199352"/>
                  <a:pt x="6452" y="205801"/>
                  <a:pt x="19355" y="205801"/>
                </a:cubicBezTo>
                <a:close/>
              </a:path>
            </a:pathLst>
          </a:custGeom>
          <a:solidFill>
            <a:srgbClr val="FFFFFF"/>
          </a:solidFill>
          <a:ln w="14978" cap="flat">
            <a:solidFill>
              <a:srgbClr val="4E86A8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88" name="Freeform 87">
            <a:extLst>
              <a:ext uri="{FF2B5EF4-FFF2-40B4-BE49-F238E27FC236}">
                <a16:creationId xmlns:a16="http://schemas.microsoft.com/office/drawing/2014/main" id="{FE8F25FC-7301-600B-9C29-45E2B1B85AF0}"/>
              </a:ext>
            </a:extLst>
          </p:cNvPr>
          <p:cNvSpPr/>
          <p:nvPr/>
        </p:nvSpPr>
        <p:spPr>
          <a:xfrm>
            <a:off x="494761" y="1944512"/>
            <a:ext cx="123167" cy="123129"/>
          </a:xfrm>
          <a:custGeom>
            <a:avLst/>
            <a:gdLst>
              <a:gd name="connsiteX0" fmla="*/ 61584 w 123167"/>
              <a:gd name="connsiteY0" fmla="*/ 123129 h 123129"/>
              <a:gd name="connsiteX1" fmla="*/ 105130 w 123167"/>
              <a:gd name="connsiteY1" fmla="*/ 105097 h 123129"/>
              <a:gd name="connsiteX2" fmla="*/ 123167 w 123167"/>
              <a:gd name="connsiteY2" fmla="*/ 61565 h 123129"/>
              <a:gd name="connsiteX3" fmla="*/ 105130 w 123167"/>
              <a:gd name="connsiteY3" fmla="*/ 18032 h 123129"/>
              <a:gd name="connsiteX4" fmla="*/ 61584 w 123167"/>
              <a:gd name="connsiteY4" fmla="*/ 0 h 123129"/>
              <a:gd name="connsiteX5" fmla="*/ 18037 w 123167"/>
              <a:gd name="connsiteY5" fmla="*/ 18032 h 123129"/>
              <a:gd name="connsiteX6" fmla="*/ 0 w 123167"/>
              <a:gd name="connsiteY6" fmla="*/ 61565 h 123129"/>
              <a:gd name="connsiteX7" fmla="*/ 18037 w 123167"/>
              <a:gd name="connsiteY7" fmla="*/ 105097 h 123129"/>
              <a:gd name="connsiteX8" fmla="*/ 61584 w 123167"/>
              <a:gd name="connsiteY8" fmla="*/ 123129 h 123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3167" h="123129">
                <a:moveTo>
                  <a:pt x="61584" y="123129"/>
                </a:moveTo>
                <a:cubicBezTo>
                  <a:pt x="77916" y="123129"/>
                  <a:pt x="93581" y="116642"/>
                  <a:pt x="105130" y="105097"/>
                </a:cubicBezTo>
                <a:cubicBezTo>
                  <a:pt x="116678" y="93552"/>
                  <a:pt x="123167" y="77892"/>
                  <a:pt x="123167" y="61565"/>
                </a:cubicBezTo>
                <a:cubicBezTo>
                  <a:pt x="123167" y="45237"/>
                  <a:pt x="116678" y="29577"/>
                  <a:pt x="105130" y="18032"/>
                </a:cubicBezTo>
                <a:cubicBezTo>
                  <a:pt x="93581" y="6487"/>
                  <a:pt x="77916" y="0"/>
                  <a:pt x="61584" y="0"/>
                </a:cubicBezTo>
                <a:cubicBezTo>
                  <a:pt x="45251" y="0"/>
                  <a:pt x="29586" y="6487"/>
                  <a:pt x="18037" y="18032"/>
                </a:cubicBezTo>
                <a:cubicBezTo>
                  <a:pt x="6489" y="29577"/>
                  <a:pt x="0" y="45237"/>
                  <a:pt x="0" y="61565"/>
                </a:cubicBezTo>
                <a:cubicBezTo>
                  <a:pt x="0" y="77892"/>
                  <a:pt x="6489" y="93552"/>
                  <a:pt x="18037" y="105097"/>
                </a:cubicBezTo>
                <a:cubicBezTo>
                  <a:pt x="29586" y="116642"/>
                  <a:pt x="45251" y="123129"/>
                  <a:pt x="61584" y="123129"/>
                </a:cubicBezTo>
                <a:close/>
              </a:path>
            </a:pathLst>
          </a:custGeom>
          <a:solidFill>
            <a:srgbClr val="F9EFEC"/>
          </a:solidFill>
          <a:ln w="14190" cap="flat">
            <a:solidFill>
              <a:srgbClr val="C55F53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89" name="Freeform 88">
            <a:extLst>
              <a:ext uri="{FF2B5EF4-FFF2-40B4-BE49-F238E27FC236}">
                <a16:creationId xmlns:a16="http://schemas.microsoft.com/office/drawing/2014/main" id="{9B477528-C285-7893-18D5-AF6F84B9A137}"/>
              </a:ext>
            </a:extLst>
          </p:cNvPr>
          <p:cNvSpPr/>
          <p:nvPr/>
        </p:nvSpPr>
        <p:spPr>
          <a:xfrm>
            <a:off x="2659575" y="1904056"/>
            <a:ext cx="429325" cy="274401"/>
          </a:xfrm>
          <a:custGeom>
            <a:avLst/>
            <a:gdLst>
              <a:gd name="connsiteX0" fmla="*/ 38710 w 429325"/>
              <a:gd name="connsiteY0" fmla="*/ 274402 h 274401"/>
              <a:gd name="connsiteX1" fmla="*/ 390616 w 429325"/>
              <a:gd name="connsiteY1" fmla="*/ 274402 h 274401"/>
              <a:gd name="connsiteX2" fmla="*/ 429326 w 429325"/>
              <a:gd name="connsiteY2" fmla="*/ 235704 h 274401"/>
              <a:gd name="connsiteX3" fmla="*/ 429326 w 429325"/>
              <a:gd name="connsiteY3" fmla="*/ 38698 h 274401"/>
              <a:gd name="connsiteX4" fmla="*/ 390616 w 429325"/>
              <a:gd name="connsiteY4" fmla="*/ 0 h 274401"/>
              <a:gd name="connsiteX5" fmla="*/ 38710 w 429325"/>
              <a:gd name="connsiteY5" fmla="*/ 0 h 274401"/>
              <a:gd name="connsiteX6" fmla="*/ 0 w 429325"/>
              <a:gd name="connsiteY6" fmla="*/ 38698 h 274401"/>
              <a:gd name="connsiteX7" fmla="*/ 0 w 429325"/>
              <a:gd name="connsiteY7" fmla="*/ 235704 h 274401"/>
              <a:gd name="connsiteX8" fmla="*/ 38710 w 429325"/>
              <a:gd name="connsiteY8" fmla="*/ 274402 h 274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9325" h="274401">
                <a:moveTo>
                  <a:pt x="38710" y="274402"/>
                </a:moveTo>
                <a:lnTo>
                  <a:pt x="390616" y="274402"/>
                </a:lnTo>
                <a:cubicBezTo>
                  <a:pt x="416423" y="274402"/>
                  <a:pt x="429326" y="261503"/>
                  <a:pt x="429326" y="235704"/>
                </a:cubicBezTo>
                <a:lnTo>
                  <a:pt x="429326" y="38698"/>
                </a:lnTo>
                <a:cubicBezTo>
                  <a:pt x="429326" y="12899"/>
                  <a:pt x="416423" y="0"/>
                  <a:pt x="390616" y="0"/>
                </a:cubicBezTo>
                <a:lnTo>
                  <a:pt x="38710" y="0"/>
                </a:lnTo>
                <a:cubicBezTo>
                  <a:pt x="12903" y="0"/>
                  <a:pt x="0" y="12899"/>
                  <a:pt x="0" y="38698"/>
                </a:cubicBezTo>
                <a:lnTo>
                  <a:pt x="0" y="235704"/>
                </a:lnTo>
                <a:cubicBezTo>
                  <a:pt x="0" y="261503"/>
                  <a:pt x="12903" y="274402"/>
                  <a:pt x="38710" y="274402"/>
                </a:cubicBezTo>
                <a:close/>
              </a:path>
            </a:pathLst>
          </a:custGeom>
          <a:solidFill>
            <a:srgbClr val="ECF3F7"/>
          </a:solidFill>
          <a:ln w="18131" cap="flat">
            <a:solidFill>
              <a:srgbClr val="4E86A8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90" name="Freeform 89">
            <a:extLst>
              <a:ext uri="{FF2B5EF4-FFF2-40B4-BE49-F238E27FC236}">
                <a16:creationId xmlns:a16="http://schemas.microsoft.com/office/drawing/2014/main" id="{C8FA496C-5792-3E34-FD74-D54B16E641F6}"/>
              </a:ext>
            </a:extLst>
          </p:cNvPr>
          <p:cNvSpPr/>
          <p:nvPr/>
        </p:nvSpPr>
        <p:spPr>
          <a:xfrm>
            <a:off x="2656056" y="1802034"/>
            <a:ext cx="91495" cy="112575"/>
          </a:xfrm>
          <a:custGeom>
            <a:avLst/>
            <a:gdLst>
              <a:gd name="connsiteX0" fmla="*/ 91496 w 91495"/>
              <a:gd name="connsiteY0" fmla="*/ 112575 h 112575"/>
              <a:gd name="connsiteX1" fmla="*/ 0 w 91495"/>
              <a:gd name="connsiteY1" fmla="*/ 0 h 112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95" h="112575">
                <a:moveTo>
                  <a:pt x="91496" y="112575"/>
                </a:moveTo>
                <a:lnTo>
                  <a:pt x="0" y="0"/>
                </a:lnTo>
              </a:path>
            </a:pathLst>
          </a:custGeom>
          <a:noFill/>
          <a:ln w="15766" cap="sq">
            <a:solidFill>
              <a:srgbClr val="4E86A8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91" name="Freeform 90">
            <a:extLst>
              <a:ext uri="{FF2B5EF4-FFF2-40B4-BE49-F238E27FC236}">
                <a16:creationId xmlns:a16="http://schemas.microsoft.com/office/drawing/2014/main" id="{73422B2F-40F7-7F1E-1AEB-2FB889868B20}"/>
              </a:ext>
            </a:extLst>
          </p:cNvPr>
          <p:cNvSpPr/>
          <p:nvPr/>
        </p:nvSpPr>
        <p:spPr>
          <a:xfrm>
            <a:off x="2874235" y="1787960"/>
            <a:ext cx="15766" cy="126646"/>
          </a:xfrm>
          <a:custGeom>
            <a:avLst/>
            <a:gdLst>
              <a:gd name="connsiteX0" fmla="*/ 0 w 15766"/>
              <a:gd name="connsiteY0" fmla="*/ 126647 h 126646"/>
              <a:gd name="connsiteX1" fmla="*/ 0 w 15766"/>
              <a:gd name="connsiteY1" fmla="*/ 0 h 126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766" h="126646">
                <a:moveTo>
                  <a:pt x="0" y="126647"/>
                </a:moveTo>
                <a:lnTo>
                  <a:pt x="0" y="0"/>
                </a:lnTo>
              </a:path>
            </a:pathLst>
          </a:custGeom>
          <a:noFill/>
          <a:ln w="15766" cap="sq">
            <a:solidFill>
              <a:srgbClr val="4E86A8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92" name="Freeform 91">
            <a:extLst>
              <a:ext uri="{FF2B5EF4-FFF2-40B4-BE49-F238E27FC236}">
                <a16:creationId xmlns:a16="http://schemas.microsoft.com/office/drawing/2014/main" id="{15891C1A-7D4F-4891-2965-C0FEE912A6B0}"/>
              </a:ext>
            </a:extLst>
          </p:cNvPr>
          <p:cNvSpPr/>
          <p:nvPr/>
        </p:nvSpPr>
        <p:spPr>
          <a:xfrm>
            <a:off x="3000924" y="1802034"/>
            <a:ext cx="91495" cy="112575"/>
          </a:xfrm>
          <a:custGeom>
            <a:avLst/>
            <a:gdLst>
              <a:gd name="connsiteX0" fmla="*/ 0 w 91495"/>
              <a:gd name="connsiteY0" fmla="*/ 112575 h 112575"/>
              <a:gd name="connsiteX1" fmla="*/ 91496 w 91495"/>
              <a:gd name="connsiteY1" fmla="*/ 0 h 112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95" h="112575">
                <a:moveTo>
                  <a:pt x="0" y="112575"/>
                </a:moveTo>
                <a:lnTo>
                  <a:pt x="91496" y="0"/>
                </a:lnTo>
              </a:path>
            </a:pathLst>
          </a:custGeom>
          <a:noFill/>
          <a:ln w="15766" cap="sq">
            <a:solidFill>
              <a:srgbClr val="4E86A8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94" name="Freeform 93">
            <a:extLst>
              <a:ext uri="{FF2B5EF4-FFF2-40B4-BE49-F238E27FC236}">
                <a16:creationId xmlns:a16="http://schemas.microsoft.com/office/drawing/2014/main" id="{2BE7481B-3D75-0487-F904-C59E456E92B3}"/>
              </a:ext>
            </a:extLst>
          </p:cNvPr>
          <p:cNvSpPr/>
          <p:nvPr/>
        </p:nvSpPr>
        <p:spPr>
          <a:xfrm>
            <a:off x="6544918" y="1913551"/>
            <a:ext cx="398709" cy="255404"/>
          </a:xfrm>
          <a:custGeom>
            <a:avLst/>
            <a:gdLst>
              <a:gd name="connsiteX0" fmla="*/ 35806 w 398709"/>
              <a:gd name="connsiteY0" fmla="*/ 255405 h 255404"/>
              <a:gd name="connsiteX1" fmla="*/ 362903 w 398709"/>
              <a:gd name="connsiteY1" fmla="*/ 255405 h 255404"/>
              <a:gd name="connsiteX2" fmla="*/ 398710 w 398709"/>
              <a:gd name="connsiteY2" fmla="*/ 219609 h 255404"/>
              <a:gd name="connsiteX3" fmla="*/ 398710 w 398709"/>
              <a:gd name="connsiteY3" fmla="*/ 35795 h 255404"/>
              <a:gd name="connsiteX4" fmla="*/ 362903 w 398709"/>
              <a:gd name="connsiteY4" fmla="*/ 0 h 255404"/>
              <a:gd name="connsiteX5" fmla="*/ 35806 w 398709"/>
              <a:gd name="connsiteY5" fmla="*/ 0 h 255404"/>
              <a:gd name="connsiteX6" fmla="*/ 0 w 398709"/>
              <a:gd name="connsiteY6" fmla="*/ 35795 h 255404"/>
              <a:gd name="connsiteX7" fmla="*/ 0 w 398709"/>
              <a:gd name="connsiteY7" fmla="*/ 219609 h 255404"/>
              <a:gd name="connsiteX8" fmla="*/ 35806 w 398709"/>
              <a:gd name="connsiteY8" fmla="*/ 255405 h 255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709" h="255404">
                <a:moveTo>
                  <a:pt x="35806" y="255405"/>
                </a:moveTo>
                <a:lnTo>
                  <a:pt x="362903" y="255405"/>
                </a:lnTo>
                <a:cubicBezTo>
                  <a:pt x="386774" y="255405"/>
                  <a:pt x="398710" y="243473"/>
                  <a:pt x="398710" y="219609"/>
                </a:cubicBezTo>
                <a:lnTo>
                  <a:pt x="398710" y="35795"/>
                </a:lnTo>
                <a:cubicBezTo>
                  <a:pt x="398710" y="11932"/>
                  <a:pt x="386774" y="0"/>
                  <a:pt x="362903" y="0"/>
                </a:cubicBezTo>
                <a:lnTo>
                  <a:pt x="35806" y="0"/>
                </a:lnTo>
                <a:cubicBezTo>
                  <a:pt x="11935" y="0"/>
                  <a:pt x="0" y="11932"/>
                  <a:pt x="0" y="35795"/>
                </a:cubicBezTo>
                <a:lnTo>
                  <a:pt x="0" y="219609"/>
                </a:lnTo>
                <a:cubicBezTo>
                  <a:pt x="0" y="243473"/>
                  <a:pt x="11935" y="255405"/>
                  <a:pt x="35806" y="255405"/>
                </a:cubicBezTo>
                <a:close/>
              </a:path>
            </a:pathLst>
          </a:custGeom>
          <a:solidFill>
            <a:srgbClr val="F0F2F7"/>
          </a:solidFill>
          <a:ln w="18131" cap="flat">
            <a:solidFill>
              <a:srgbClr val="606A90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95" name="Freeform 94">
            <a:extLst>
              <a:ext uri="{FF2B5EF4-FFF2-40B4-BE49-F238E27FC236}">
                <a16:creationId xmlns:a16="http://schemas.microsoft.com/office/drawing/2014/main" id="{C7A1B9D0-8C29-9EC9-8D55-698EB143CB00}"/>
              </a:ext>
            </a:extLst>
          </p:cNvPr>
          <p:cNvSpPr/>
          <p:nvPr/>
        </p:nvSpPr>
        <p:spPr>
          <a:xfrm>
            <a:off x="6542454" y="1819976"/>
            <a:ext cx="84633" cy="104131"/>
          </a:xfrm>
          <a:custGeom>
            <a:avLst/>
            <a:gdLst>
              <a:gd name="connsiteX0" fmla="*/ 84633 w 84633"/>
              <a:gd name="connsiteY0" fmla="*/ 104132 h 104131"/>
              <a:gd name="connsiteX1" fmla="*/ 0 w 84633"/>
              <a:gd name="connsiteY1" fmla="*/ 0 h 104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633" h="104131">
                <a:moveTo>
                  <a:pt x="84633" y="104132"/>
                </a:moveTo>
                <a:lnTo>
                  <a:pt x="0" y="0"/>
                </a:lnTo>
              </a:path>
            </a:pathLst>
          </a:custGeom>
          <a:noFill/>
          <a:ln w="15766" cap="sq">
            <a:solidFill>
              <a:srgbClr val="606A90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96" name="Freeform 95">
            <a:extLst>
              <a:ext uri="{FF2B5EF4-FFF2-40B4-BE49-F238E27FC236}">
                <a16:creationId xmlns:a16="http://schemas.microsoft.com/office/drawing/2014/main" id="{E899149E-FE2E-0E12-63F4-19E137497D65}"/>
              </a:ext>
            </a:extLst>
          </p:cNvPr>
          <p:cNvSpPr/>
          <p:nvPr/>
        </p:nvSpPr>
        <p:spPr>
          <a:xfrm>
            <a:off x="6744269" y="1806957"/>
            <a:ext cx="15766" cy="117148"/>
          </a:xfrm>
          <a:custGeom>
            <a:avLst/>
            <a:gdLst>
              <a:gd name="connsiteX0" fmla="*/ 0 w 15766"/>
              <a:gd name="connsiteY0" fmla="*/ 117148 h 117148"/>
              <a:gd name="connsiteX1" fmla="*/ 0 w 15766"/>
              <a:gd name="connsiteY1" fmla="*/ 0 h 11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766" h="117148">
                <a:moveTo>
                  <a:pt x="0" y="117148"/>
                </a:moveTo>
                <a:lnTo>
                  <a:pt x="0" y="0"/>
                </a:lnTo>
              </a:path>
            </a:pathLst>
          </a:custGeom>
          <a:noFill/>
          <a:ln w="15766" cap="sq">
            <a:solidFill>
              <a:srgbClr val="606A90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97" name="Freeform 96">
            <a:extLst>
              <a:ext uri="{FF2B5EF4-FFF2-40B4-BE49-F238E27FC236}">
                <a16:creationId xmlns:a16="http://schemas.microsoft.com/office/drawing/2014/main" id="{B1CA2915-F78A-336A-E353-CA0F9A0D1EC1}"/>
              </a:ext>
            </a:extLst>
          </p:cNvPr>
          <p:cNvSpPr/>
          <p:nvPr/>
        </p:nvSpPr>
        <p:spPr>
          <a:xfrm>
            <a:off x="6861458" y="1819976"/>
            <a:ext cx="84633" cy="104131"/>
          </a:xfrm>
          <a:custGeom>
            <a:avLst/>
            <a:gdLst>
              <a:gd name="connsiteX0" fmla="*/ 0 w 84633"/>
              <a:gd name="connsiteY0" fmla="*/ 104132 h 104131"/>
              <a:gd name="connsiteX1" fmla="*/ 84633 w 84633"/>
              <a:gd name="connsiteY1" fmla="*/ 0 h 104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633" h="104131">
                <a:moveTo>
                  <a:pt x="0" y="104132"/>
                </a:moveTo>
                <a:lnTo>
                  <a:pt x="84633" y="0"/>
                </a:lnTo>
              </a:path>
            </a:pathLst>
          </a:custGeom>
          <a:noFill/>
          <a:ln w="15766" cap="sq">
            <a:solidFill>
              <a:srgbClr val="606A90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98" name="Freeform 97">
            <a:extLst>
              <a:ext uri="{FF2B5EF4-FFF2-40B4-BE49-F238E27FC236}">
                <a16:creationId xmlns:a16="http://schemas.microsoft.com/office/drawing/2014/main" id="{AC0D4399-3926-9B50-280D-061E5E694692}"/>
              </a:ext>
            </a:extLst>
          </p:cNvPr>
          <p:cNvSpPr/>
          <p:nvPr/>
        </p:nvSpPr>
        <p:spPr>
          <a:xfrm>
            <a:off x="8108428" y="1889981"/>
            <a:ext cx="148680" cy="232186"/>
          </a:xfrm>
          <a:custGeom>
            <a:avLst/>
            <a:gdLst>
              <a:gd name="connsiteX0" fmla="*/ 19355 w 148680"/>
              <a:gd name="connsiteY0" fmla="*/ 232186 h 232186"/>
              <a:gd name="connsiteX1" fmla="*/ 129325 w 148680"/>
              <a:gd name="connsiteY1" fmla="*/ 232186 h 232186"/>
              <a:gd name="connsiteX2" fmla="*/ 148680 w 148680"/>
              <a:gd name="connsiteY2" fmla="*/ 212837 h 232186"/>
              <a:gd name="connsiteX3" fmla="*/ 148680 w 148680"/>
              <a:gd name="connsiteY3" fmla="*/ 19349 h 232186"/>
              <a:gd name="connsiteX4" fmla="*/ 129325 w 148680"/>
              <a:gd name="connsiteY4" fmla="*/ 0 h 232186"/>
              <a:gd name="connsiteX5" fmla="*/ 19355 w 148680"/>
              <a:gd name="connsiteY5" fmla="*/ 0 h 232186"/>
              <a:gd name="connsiteX6" fmla="*/ 0 w 148680"/>
              <a:gd name="connsiteY6" fmla="*/ 19349 h 232186"/>
              <a:gd name="connsiteX7" fmla="*/ 0 w 148680"/>
              <a:gd name="connsiteY7" fmla="*/ 212837 h 232186"/>
              <a:gd name="connsiteX8" fmla="*/ 19355 w 148680"/>
              <a:gd name="connsiteY8" fmla="*/ 232186 h 232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8680" h="232186">
                <a:moveTo>
                  <a:pt x="19355" y="232186"/>
                </a:moveTo>
                <a:lnTo>
                  <a:pt x="129325" y="232186"/>
                </a:lnTo>
                <a:cubicBezTo>
                  <a:pt x="142229" y="232186"/>
                  <a:pt x="148680" y="225737"/>
                  <a:pt x="148680" y="212837"/>
                </a:cubicBezTo>
                <a:lnTo>
                  <a:pt x="148680" y="19349"/>
                </a:lnTo>
                <a:cubicBezTo>
                  <a:pt x="148680" y="6450"/>
                  <a:pt x="142229" y="0"/>
                  <a:pt x="129325" y="0"/>
                </a:cubicBezTo>
                <a:lnTo>
                  <a:pt x="19355" y="0"/>
                </a:lnTo>
                <a:cubicBezTo>
                  <a:pt x="6451" y="0"/>
                  <a:pt x="0" y="6450"/>
                  <a:pt x="0" y="19349"/>
                </a:cubicBezTo>
                <a:lnTo>
                  <a:pt x="0" y="212837"/>
                </a:lnTo>
                <a:cubicBezTo>
                  <a:pt x="0" y="225737"/>
                  <a:pt x="6451" y="232186"/>
                  <a:pt x="19355" y="232186"/>
                </a:cubicBezTo>
                <a:close/>
              </a:path>
            </a:pathLst>
          </a:custGeom>
          <a:solidFill>
            <a:srgbClr val="FFFFFF"/>
          </a:solidFill>
          <a:ln w="14190" cap="flat">
            <a:solidFill>
              <a:srgbClr val="606A90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99" name="Freeform 98">
            <a:extLst>
              <a:ext uri="{FF2B5EF4-FFF2-40B4-BE49-F238E27FC236}">
                <a16:creationId xmlns:a16="http://schemas.microsoft.com/office/drawing/2014/main" id="{3930DA83-66A9-2B7F-3F00-E7265A2C048E}"/>
              </a:ext>
            </a:extLst>
          </p:cNvPr>
          <p:cNvSpPr/>
          <p:nvPr/>
        </p:nvSpPr>
        <p:spPr>
          <a:xfrm>
            <a:off x="8303736" y="1960343"/>
            <a:ext cx="101172" cy="15863"/>
          </a:xfrm>
          <a:custGeom>
            <a:avLst/>
            <a:gdLst>
              <a:gd name="connsiteX0" fmla="*/ 0 w 101172"/>
              <a:gd name="connsiteY0" fmla="*/ 0 h 15863"/>
              <a:gd name="connsiteX1" fmla="*/ 101173 w 101172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1172" h="15863">
                <a:moveTo>
                  <a:pt x="0" y="0"/>
                </a:moveTo>
                <a:lnTo>
                  <a:pt x="101173" y="0"/>
                </a:lnTo>
              </a:path>
            </a:pathLst>
          </a:custGeom>
          <a:noFill/>
          <a:ln w="11352" cap="sq">
            <a:solidFill>
              <a:srgbClr val="C58A2C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100" name="Freeform 99">
            <a:extLst>
              <a:ext uri="{FF2B5EF4-FFF2-40B4-BE49-F238E27FC236}">
                <a16:creationId xmlns:a16="http://schemas.microsoft.com/office/drawing/2014/main" id="{BEC254A4-EAA9-D1BC-6158-4F43892BF636}"/>
              </a:ext>
            </a:extLst>
          </p:cNvPr>
          <p:cNvSpPr/>
          <p:nvPr/>
        </p:nvSpPr>
        <p:spPr>
          <a:xfrm>
            <a:off x="8303736" y="1960343"/>
            <a:ext cx="51026" cy="111695"/>
          </a:xfrm>
          <a:custGeom>
            <a:avLst/>
            <a:gdLst>
              <a:gd name="connsiteX0" fmla="*/ 0 w 51026"/>
              <a:gd name="connsiteY0" fmla="*/ 0 h 111695"/>
              <a:gd name="connsiteX1" fmla="*/ 51026 w 51026"/>
              <a:gd name="connsiteY1" fmla="*/ 111696 h 111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026" h="111695">
                <a:moveTo>
                  <a:pt x="0" y="0"/>
                </a:moveTo>
                <a:lnTo>
                  <a:pt x="51026" y="111696"/>
                </a:lnTo>
              </a:path>
            </a:pathLst>
          </a:custGeom>
          <a:noFill/>
          <a:ln w="11352" cap="sq">
            <a:solidFill>
              <a:srgbClr val="C58A2C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101" name="Freeform 100">
            <a:extLst>
              <a:ext uri="{FF2B5EF4-FFF2-40B4-BE49-F238E27FC236}">
                <a16:creationId xmlns:a16="http://schemas.microsoft.com/office/drawing/2014/main" id="{DC44BAA2-DC29-9CC6-21FC-EC9FB46D1BD4}"/>
              </a:ext>
            </a:extLst>
          </p:cNvPr>
          <p:cNvSpPr/>
          <p:nvPr/>
        </p:nvSpPr>
        <p:spPr>
          <a:xfrm>
            <a:off x="8354762" y="1960343"/>
            <a:ext cx="50146" cy="111695"/>
          </a:xfrm>
          <a:custGeom>
            <a:avLst/>
            <a:gdLst>
              <a:gd name="connsiteX0" fmla="*/ 50147 w 50146"/>
              <a:gd name="connsiteY0" fmla="*/ 0 h 111695"/>
              <a:gd name="connsiteX1" fmla="*/ 0 w 50146"/>
              <a:gd name="connsiteY1" fmla="*/ 111696 h 111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146" h="111695">
                <a:moveTo>
                  <a:pt x="50147" y="0"/>
                </a:moveTo>
                <a:lnTo>
                  <a:pt x="0" y="111696"/>
                </a:lnTo>
              </a:path>
            </a:pathLst>
          </a:custGeom>
          <a:noFill/>
          <a:ln w="11352" cap="sq">
            <a:solidFill>
              <a:srgbClr val="C58A2C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130" name="Freeform 129">
            <a:extLst>
              <a:ext uri="{FF2B5EF4-FFF2-40B4-BE49-F238E27FC236}">
                <a16:creationId xmlns:a16="http://schemas.microsoft.com/office/drawing/2014/main" id="{1126F3F1-E212-671F-FF2D-E725D7637B7F}"/>
              </a:ext>
            </a:extLst>
          </p:cNvPr>
          <p:cNvSpPr/>
          <p:nvPr/>
        </p:nvSpPr>
        <p:spPr>
          <a:xfrm>
            <a:off x="358394" y="1965620"/>
            <a:ext cx="57184" cy="15863"/>
          </a:xfrm>
          <a:custGeom>
            <a:avLst/>
            <a:gdLst>
              <a:gd name="connsiteX0" fmla="*/ 0 w 57184"/>
              <a:gd name="connsiteY0" fmla="*/ 0 h 15863"/>
              <a:gd name="connsiteX1" fmla="*/ 57185 w 57184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184" h="15863">
                <a:moveTo>
                  <a:pt x="0" y="0"/>
                </a:moveTo>
                <a:lnTo>
                  <a:pt x="57185" y="0"/>
                </a:lnTo>
              </a:path>
            </a:pathLst>
          </a:custGeom>
          <a:noFill/>
          <a:ln w="11982" cap="rnd">
            <a:solidFill>
              <a:srgbClr val="4E86A8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131" name="Freeform 130">
            <a:extLst>
              <a:ext uri="{FF2B5EF4-FFF2-40B4-BE49-F238E27FC236}">
                <a16:creationId xmlns:a16="http://schemas.microsoft.com/office/drawing/2014/main" id="{BAE248C1-48C7-9D12-BEDD-EB7799E6F0EA}"/>
              </a:ext>
            </a:extLst>
          </p:cNvPr>
          <p:cNvSpPr/>
          <p:nvPr/>
        </p:nvSpPr>
        <p:spPr>
          <a:xfrm>
            <a:off x="358394" y="2006077"/>
            <a:ext cx="57184" cy="15863"/>
          </a:xfrm>
          <a:custGeom>
            <a:avLst/>
            <a:gdLst>
              <a:gd name="connsiteX0" fmla="*/ 0 w 57184"/>
              <a:gd name="connsiteY0" fmla="*/ 0 h 15863"/>
              <a:gd name="connsiteX1" fmla="*/ 57185 w 57184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184" h="15863">
                <a:moveTo>
                  <a:pt x="0" y="0"/>
                </a:moveTo>
                <a:lnTo>
                  <a:pt x="57185" y="0"/>
                </a:lnTo>
              </a:path>
            </a:pathLst>
          </a:custGeom>
          <a:noFill/>
          <a:ln w="11982" cap="rnd">
            <a:solidFill>
              <a:srgbClr val="4E86A8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132" name="Freeform 131">
            <a:extLst>
              <a:ext uri="{FF2B5EF4-FFF2-40B4-BE49-F238E27FC236}">
                <a16:creationId xmlns:a16="http://schemas.microsoft.com/office/drawing/2014/main" id="{A6C724C0-01D4-E8E4-831F-BF22CADFEFD2}"/>
              </a:ext>
            </a:extLst>
          </p:cNvPr>
          <p:cNvSpPr/>
          <p:nvPr/>
        </p:nvSpPr>
        <p:spPr>
          <a:xfrm>
            <a:off x="358394" y="2046534"/>
            <a:ext cx="57184" cy="15863"/>
          </a:xfrm>
          <a:custGeom>
            <a:avLst/>
            <a:gdLst>
              <a:gd name="connsiteX0" fmla="*/ 0 w 57184"/>
              <a:gd name="connsiteY0" fmla="*/ 0 h 15863"/>
              <a:gd name="connsiteX1" fmla="*/ 57185 w 57184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184" h="15863">
                <a:moveTo>
                  <a:pt x="0" y="0"/>
                </a:moveTo>
                <a:lnTo>
                  <a:pt x="57185" y="0"/>
                </a:lnTo>
              </a:path>
            </a:pathLst>
          </a:custGeom>
          <a:noFill/>
          <a:ln w="11982" cap="rnd">
            <a:solidFill>
              <a:srgbClr val="4E86A8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133" name="Freeform 132">
            <a:extLst>
              <a:ext uri="{FF2B5EF4-FFF2-40B4-BE49-F238E27FC236}">
                <a16:creationId xmlns:a16="http://schemas.microsoft.com/office/drawing/2014/main" id="{E632E99F-47D9-7C71-07B6-78D134C5155E}"/>
              </a:ext>
            </a:extLst>
          </p:cNvPr>
          <p:cNvSpPr/>
          <p:nvPr/>
        </p:nvSpPr>
        <p:spPr>
          <a:xfrm>
            <a:off x="525552" y="2006077"/>
            <a:ext cx="61583" cy="15863"/>
          </a:xfrm>
          <a:custGeom>
            <a:avLst/>
            <a:gdLst>
              <a:gd name="connsiteX0" fmla="*/ 0 w 61583"/>
              <a:gd name="connsiteY0" fmla="*/ 0 h 15863"/>
              <a:gd name="connsiteX1" fmla="*/ 61584 w 61583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1583" h="15863">
                <a:moveTo>
                  <a:pt x="0" y="0"/>
                </a:moveTo>
                <a:lnTo>
                  <a:pt x="61584" y="0"/>
                </a:lnTo>
              </a:path>
            </a:pathLst>
          </a:custGeom>
          <a:noFill/>
          <a:ln w="18131" cap="rnd">
            <a:solidFill>
              <a:srgbClr val="C55F53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134" name="Freeform 133">
            <a:extLst>
              <a:ext uri="{FF2B5EF4-FFF2-40B4-BE49-F238E27FC236}">
                <a16:creationId xmlns:a16="http://schemas.microsoft.com/office/drawing/2014/main" id="{4733CC2C-6371-6CAD-9AA4-4BA1253250A0}"/>
              </a:ext>
            </a:extLst>
          </p:cNvPr>
          <p:cNvSpPr/>
          <p:nvPr/>
        </p:nvSpPr>
        <p:spPr>
          <a:xfrm>
            <a:off x="556341" y="1975292"/>
            <a:ext cx="15766" cy="61564"/>
          </a:xfrm>
          <a:custGeom>
            <a:avLst/>
            <a:gdLst>
              <a:gd name="connsiteX0" fmla="*/ 0 w 15766"/>
              <a:gd name="connsiteY0" fmla="*/ 61565 h 61564"/>
              <a:gd name="connsiteX1" fmla="*/ 0 w 15766"/>
              <a:gd name="connsiteY1" fmla="*/ 0 h 61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766" h="61564">
                <a:moveTo>
                  <a:pt x="0" y="61565"/>
                </a:moveTo>
                <a:lnTo>
                  <a:pt x="0" y="0"/>
                </a:lnTo>
              </a:path>
            </a:pathLst>
          </a:custGeom>
          <a:noFill/>
          <a:ln w="18131" cap="rnd">
            <a:solidFill>
              <a:srgbClr val="C55F53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137" name="Freeform 136">
            <a:extLst>
              <a:ext uri="{FF2B5EF4-FFF2-40B4-BE49-F238E27FC236}">
                <a16:creationId xmlns:a16="http://schemas.microsoft.com/office/drawing/2014/main" id="{D2DF9925-164E-051A-1850-EF76A598780D}"/>
              </a:ext>
            </a:extLst>
          </p:cNvPr>
          <p:cNvSpPr/>
          <p:nvPr/>
        </p:nvSpPr>
        <p:spPr>
          <a:xfrm>
            <a:off x="2733472" y="1999041"/>
            <a:ext cx="56304" cy="56287"/>
          </a:xfrm>
          <a:custGeom>
            <a:avLst/>
            <a:gdLst>
              <a:gd name="connsiteX0" fmla="*/ 28152 w 56304"/>
              <a:gd name="connsiteY0" fmla="*/ 56288 h 56287"/>
              <a:gd name="connsiteX1" fmla="*/ 48059 w 56304"/>
              <a:gd name="connsiteY1" fmla="*/ 48044 h 56287"/>
              <a:gd name="connsiteX2" fmla="*/ 56305 w 56304"/>
              <a:gd name="connsiteY2" fmla="*/ 28144 h 56287"/>
              <a:gd name="connsiteX3" fmla="*/ 48059 w 56304"/>
              <a:gd name="connsiteY3" fmla="*/ 8243 h 56287"/>
              <a:gd name="connsiteX4" fmla="*/ 28152 w 56304"/>
              <a:gd name="connsiteY4" fmla="*/ 0 h 56287"/>
              <a:gd name="connsiteX5" fmla="*/ 8246 w 56304"/>
              <a:gd name="connsiteY5" fmla="*/ 8243 h 56287"/>
              <a:gd name="connsiteX6" fmla="*/ 0 w 56304"/>
              <a:gd name="connsiteY6" fmla="*/ 28144 h 56287"/>
              <a:gd name="connsiteX7" fmla="*/ 8246 w 56304"/>
              <a:gd name="connsiteY7" fmla="*/ 48044 h 56287"/>
              <a:gd name="connsiteX8" fmla="*/ 28152 w 56304"/>
              <a:gd name="connsiteY8" fmla="*/ 56288 h 56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304" h="56287">
                <a:moveTo>
                  <a:pt x="28152" y="56288"/>
                </a:moveTo>
                <a:cubicBezTo>
                  <a:pt x="35619" y="56288"/>
                  <a:pt x="42780" y="53322"/>
                  <a:pt x="48059" y="48044"/>
                </a:cubicBezTo>
                <a:cubicBezTo>
                  <a:pt x="53339" y="42767"/>
                  <a:pt x="56305" y="35608"/>
                  <a:pt x="56305" y="28144"/>
                </a:cubicBezTo>
                <a:cubicBezTo>
                  <a:pt x="56305" y="20680"/>
                  <a:pt x="53339" y="13521"/>
                  <a:pt x="48059" y="8243"/>
                </a:cubicBezTo>
                <a:cubicBezTo>
                  <a:pt x="42780" y="2965"/>
                  <a:pt x="35619" y="0"/>
                  <a:pt x="28152" y="0"/>
                </a:cubicBezTo>
                <a:cubicBezTo>
                  <a:pt x="20686" y="0"/>
                  <a:pt x="13525" y="2965"/>
                  <a:pt x="8246" y="8243"/>
                </a:cubicBezTo>
                <a:cubicBezTo>
                  <a:pt x="2966" y="13521"/>
                  <a:pt x="0" y="20680"/>
                  <a:pt x="0" y="28144"/>
                </a:cubicBezTo>
                <a:cubicBezTo>
                  <a:pt x="0" y="35608"/>
                  <a:pt x="2966" y="42767"/>
                  <a:pt x="8246" y="48044"/>
                </a:cubicBezTo>
                <a:cubicBezTo>
                  <a:pt x="13525" y="53322"/>
                  <a:pt x="20686" y="56288"/>
                  <a:pt x="28152" y="56288"/>
                </a:cubicBezTo>
                <a:close/>
              </a:path>
            </a:pathLst>
          </a:custGeom>
          <a:solidFill>
            <a:srgbClr val="4E86A8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138" name="Freeform 137">
            <a:extLst>
              <a:ext uri="{FF2B5EF4-FFF2-40B4-BE49-F238E27FC236}">
                <a16:creationId xmlns:a16="http://schemas.microsoft.com/office/drawing/2014/main" id="{3F0FD749-2BC6-2819-4DB9-391521FDD062}"/>
              </a:ext>
            </a:extLst>
          </p:cNvPr>
          <p:cNvSpPr/>
          <p:nvPr/>
        </p:nvSpPr>
        <p:spPr>
          <a:xfrm>
            <a:off x="2958692" y="1999041"/>
            <a:ext cx="56304" cy="56287"/>
          </a:xfrm>
          <a:custGeom>
            <a:avLst/>
            <a:gdLst>
              <a:gd name="connsiteX0" fmla="*/ 28152 w 56304"/>
              <a:gd name="connsiteY0" fmla="*/ 56288 h 56287"/>
              <a:gd name="connsiteX1" fmla="*/ 48059 w 56304"/>
              <a:gd name="connsiteY1" fmla="*/ 48044 h 56287"/>
              <a:gd name="connsiteX2" fmla="*/ 56305 w 56304"/>
              <a:gd name="connsiteY2" fmla="*/ 28144 h 56287"/>
              <a:gd name="connsiteX3" fmla="*/ 48059 w 56304"/>
              <a:gd name="connsiteY3" fmla="*/ 8243 h 56287"/>
              <a:gd name="connsiteX4" fmla="*/ 28152 w 56304"/>
              <a:gd name="connsiteY4" fmla="*/ 0 h 56287"/>
              <a:gd name="connsiteX5" fmla="*/ 8246 w 56304"/>
              <a:gd name="connsiteY5" fmla="*/ 8243 h 56287"/>
              <a:gd name="connsiteX6" fmla="*/ 0 w 56304"/>
              <a:gd name="connsiteY6" fmla="*/ 28144 h 56287"/>
              <a:gd name="connsiteX7" fmla="*/ 8246 w 56304"/>
              <a:gd name="connsiteY7" fmla="*/ 48044 h 56287"/>
              <a:gd name="connsiteX8" fmla="*/ 28152 w 56304"/>
              <a:gd name="connsiteY8" fmla="*/ 56288 h 56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304" h="56287">
                <a:moveTo>
                  <a:pt x="28152" y="56288"/>
                </a:moveTo>
                <a:cubicBezTo>
                  <a:pt x="35619" y="56288"/>
                  <a:pt x="42780" y="53322"/>
                  <a:pt x="48059" y="48044"/>
                </a:cubicBezTo>
                <a:cubicBezTo>
                  <a:pt x="53339" y="42767"/>
                  <a:pt x="56305" y="35608"/>
                  <a:pt x="56305" y="28144"/>
                </a:cubicBezTo>
                <a:cubicBezTo>
                  <a:pt x="56305" y="20680"/>
                  <a:pt x="53339" y="13521"/>
                  <a:pt x="48059" y="8243"/>
                </a:cubicBezTo>
                <a:cubicBezTo>
                  <a:pt x="42780" y="2965"/>
                  <a:pt x="35619" y="0"/>
                  <a:pt x="28152" y="0"/>
                </a:cubicBezTo>
                <a:cubicBezTo>
                  <a:pt x="20686" y="0"/>
                  <a:pt x="13525" y="2965"/>
                  <a:pt x="8246" y="8243"/>
                </a:cubicBezTo>
                <a:cubicBezTo>
                  <a:pt x="2966" y="13521"/>
                  <a:pt x="0" y="20680"/>
                  <a:pt x="0" y="28144"/>
                </a:cubicBezTo>
                <a:cubicBezTo>
                  <a:pt x="0" y="35608"/>
                  <a:pt x="2966" y="42767"/>
                  <a:pt x="8246" y="48044"/>
                </a:cubicBezTo>
                <a:cubicBezTo>
                  <a:pt x="13525" y="53322"/>
                  <a:pt x="20686" y="56288"/>
                  <a:pt x="28152" y="56288"/>
                </a:cubicBezTo>
                <a:close/>
              </a:path>
            </a:pathLst>
          </a:custGeom>
          <a:solidFill>
            <a:srgbClr val="4E86A8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139" name="Freeform 138">
            <a:extLst>
              <a:ext uri="{FF2B5EF4-FFF2-40B4-BE49-F238E27FC236}">
                <a16:creationId xmlns:a16="http://schemas.microsoft.com/office/drawing/2014/main" id="{CB453ED6-62D2-8991-12FD-A47FA3F0BB54}"/>
              </a:ext>
            </a:extLst>
          </p:cNvPr>
          <p:cNvSpPr/>
          <p:nvPr/>
        </p:nvSpPr>
        <p:spPr>
          <a:xfrm>
            <a:off x="2789780" y="2101062"/>
            <a:ext cx="168915" cy="15863"/>
          </a:xfrm>
          <a:custGeom>
            <a:avLst/>
            <a:gdLst>
              <a:gd name="connsiteX0" fmla="*/ 0 w 168915"/>
              <a:gd name="connsiteY0" fmla="*/ 0 h 15863"/>
              <a:gd name="connsiteX1" fmla="*/ 168915 w 168915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8915" h="15863">
                <a:moveTo>
                  <a:pt x="0" y="0"/>
                </a:moveTo>
                <a:lnTo>
                  <a:pt x="168915" y="0"/>
                </a:lnTo>
              </a:path>
            </a:pathLst>
          </a:custGeom>
          <a:noFill/>
          <a:ln w="17343" cap="rnd">
            <a:solidFill>
              <a:srgbClr val="4E86A8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140" name="Freeform 139">
            <a:extLst>
              <a:ext uri="{FF2B5EF4-FFF2-40B4-BE49-F238E27FC236}">
                <a16:creationId xmlns:a16="http://schemas.microsoft.com/office/drawing/2014/main" id="{58F067C1-0BEB-7BB6-2E13-F09C9BCDA60E}"/>
              </a:ext>
            </a:extLst>
          </p:cNvPr>
          <p:cNvSpPr/>
          <p:nvPr/>
        </p:nvSpPr>
        <p:spPr>
          <a:xfrm>
            <a:off x="2631419" y="1777409"/>
            <a:ext cx="49266" cy="49251"/>
          </a:xfrm>
          <a:custGeom>
            <a:avLst/>
            <a:gdLst>
              <a:gd name="connsiteX0" fmla="*/ 24633 w 49266"/>
              <a:gd name="connsiteY0" fmla="*/ 49252 h 49251"/>
              <a:gd name="connsiteX1" fmla="*/ 42052 w 49266"/>
              <a:gd name="connsiteY1" fmla="*/ 42039 h 49251"/>
              <a:gd name="connsiteX2" fmla="*/ 49267 w 49266"/>
              <a:gd name="connsiteY2" fmla="*/ 24626 h 49251"/>
              <a:gd name="connsiteX3" fmla="*/ 42052 w 49266"/>
              <a:gd name="connsiteY3" fmla="*/ 7213 h 49251"/>
              <a:gd name="connsiteX4" fmla="*/ 24633 w 49266"/>
              <a:gd name="connsiteY4" fmla="*/ 0 h 49251"/>
              <a:gd name="connsiteX5" fmla="*/ 7215 w 49266"/>
              <a:gd name="connsiteY5" fmla="*/ 7213 h 49251"/>
              <a:gd name="connsiteX6" fmla="*/ 0 w 49266"/>
              <a:gd name="connsiteY6" fmla="*/ 24626 h 49251"/>
              <a:gd name="connsiteX7" fmla="*/ 7215 w 49266"/>
              <a:gd name="connsiteY7" fmla="*/ 42039 h 49251"/>
              <a:gd name="connsiteX8" fmla="*/ 24633 w 49266"/>
              <a:gd name="connsiteY8" fmla="*/ 49252 h 49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266" h="49251">
                <a:moveTo>
                  <a:pt x="24633" y="49252"/>
                </a:moveTo>
                <a:cubicBezTo>
                  <a:pt x="31166" y="49252"/>
                  <a:pt x="37432" y="46657"/>
                  <a:pt x="42052" y="42039"/>
                </a:cubicBezTo>
                <a:cubicBezTo>
                  <a:pt x="46671" y="37421"/>
                  <a:pt x="49267" y="31157"/>
                  <a:pt x="49267" y="24626"/>
                </a:cubicBezTo>
                <a:cubicBezTo>
                  <a:pt x="49267" y="18095"/>
                  <a:pt x="46671" y="11831"/>
                  <a:pt x="42052" y="7213"/>
                </a:cubicBezTo>
                <a:cubicBezTo>
                  <a:pt x="37432" y="2595"/>
                  <a:pt x="31166" y="0"/>
                  <a:pt x="24633" y="0"/>
                </a:cubicBezTo>
                <a:cubicBezTo>
                  <a:pt x="18100" y="0"/>
                  <a:pt x="11834" y="2595"/>
                  <a:pt x="7215" y="7213"/>
                </a:cubicBezTo>
                <a:cubicBezTo>
                  <a:pt x="2596" y="11831"/>
                  <a:pt x="0" y="18095"/>
                  <a:pt x="0" y="24626"/>
                </a:cubicBezTo>
                <a:cubicBezTo>
                  <a:pt x="0" y="31157"/>
                  <a:pt x="2596" y="37421"/>
                  <a:pt x="7215" y="42039"/>
                </a:cubicBezTo>
                <a:cubicBezTo>
                  <a:pt x="11834" y="46657"/>
                  <a:pt x="18100" y="49252"/>
                  <a:pt x="24633" y="49252"/>
                </a:cubicBezTo>
                <a:close/>
              </a:path>
            </a:pathLst>
          </a:custGeom>
          <a:solidFill>
            <a:srgbClr val="FFFFFF"/>
          </a:solidFill>
          <a:ln w="15766" cap="flat">
            <a:solidFill>
              <a:srgbClr val="4E86A8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141" name="Freeform 140">
            <a:extLst>
              <a:ext uri="{FF2B5EF4-FFF2-40B4-BE49-F238E27FC236}">
                <a16:creationId xmlns:a16="http://schemas.microsoft.com/office/drawing/2014/main" id="{A33EBBC1-A493-31C7-8939-07CE59A2A64E}"/>
              </a:ext>
            </a:extLst>
          </p:cNvPr>
          <p:cNvSpPr/>
          <p:nvPr/>
        </p:nvSpPr>
        <p:spPr>
          <a:xfrm>
            <a:off x="2849601" y="1763337"/>
            <a:ext cx="49266" cy="49251"/>
          </a:xfrm>
          <a:custGeom>
            <a:avLst/>
            <a:gdLst>
              <a:gd name="connsiteX0" fmla="*/ 24634 w 49266"/>
              <a:gd name="connsiteY0" fmla="*/ 49252 h 49251"/>
              <a:gd name="connsiteX1" fmla="*/ 42052 w 49266"/>
              <a:gd name="connsiteY1" fmla="*/ 42039 h 49251"/>
              <a:gd name="connsiteX2" fmla="*/ 49267 w 49266"/>
              <a:gd name="connsiteY2" fmla="*/ 24626 h 49251"/>
              <a:gd name="connsiteX3" fmla="*/ 42052 w 49266"/>
              <a:gd name="connsiteY3" fmla="*/ 7213 h 49251"/>
              <a:gd name="connsiteX4" fmla="*/ 24634 w 49266"/>
              <a:gd name="connsiteY4" fmla="*/ 0 h 49251"/>
              <a:gd name="connsiteX5" fmla="*/ 7215 w 49266"/>
              <a:gd name="connsiteY5" fmla="*/ 7213 h 49251"/>
              <a:gd name="connsiteX6" fmla="*/ 0 w 49266"/>
              <a:gd name="connsiteY6" fmla="*/ 24626 h 49251"/>
              <a:gd name="connsiteX7" fmla="*/ 7215 w 49266"/>
              <a:gd name="connsiteY7" fmla="*/ 42039 h 49251"/>
              <a:gd name="connsiteX8" fmla="*/ 24634 w 49266"/>
              <a:gd name="connsiteY8" fmla="*/ 49252 h 49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266" h="49251">
                <a:moveTo>
                  <a:pt x="24634" y="49252"/>
                </a:moveTo>
                <a:cubicBezTo>
                  <a:pt x="31166" y="49252"/>
                  <a:pt x="37432" y="46657"/>
                  <a:pt x="42052" y="42039"/>
                </a:cubicBezTo>
                <a:cubicBezTo>
                  <a:pt x="46671" y="37421"/>
                  <a:pt x="49267" y="31157"/>
                  <a:pt x="49267" y="24626"/>
                </a:cubicBezTo>
                <a:cubicBezTo>
                  <a:pt x="49267" y="18095"/>
                  <a:pt x="46671" y="11831"/>
                  <a:pt x="42052" y="7213"/>
                </a:cubicBezTo>
                <a:cubicBezTo>
                  <a:pt x="37432" y="2595"/>
                  <a:pt x="31166" y="0"/>
                  <a:pt x="24634" y="0"/>
                </a:cubicBezTo>
                <a:cubicBezTo>
                  <a:pt x="18101" y="0"/>
                  <a:pt x="11834" y="2595"/>
                  <a:pt x="7215" y="7213"/>
                </a:cubicBezTo>
                <a:cubicBezTo>
                  <a:pt x="2596" y="11831"/>
                  <a:pt x="0" y="18095"/>
                  <a:pt x="0" y="24626"/>
                </a:cubicBezTo>
                <a:cubicBezTo>
                  <a:pt x="0" y="31157"/>
                  <a:pt x="2596" y="37421"/>
                  <a:pt x="7215" y="42039"/>
                </a:cubicBezTo>
                <a:cubicBezTo>
                  <a:pt x="11834" y="46657"/>
                  <a:pt x="18101" y="49252"/>
                  <a:pt x="24634" y="49252"/>
                </a:cubicBezTo>
                <a:close/>
              </a:path>
            </a:pathLst>
          </a:custGeom>
          <a:solidFill>
            <a:srgbClr val="FFFFFF"/>
          </a:solidFill>
          <a:ln w="15766" cap="flat">
            <a:solidFill>
              <a:srgbClr val="4E86A8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142" name="Freeform 141">
            <a:extLst>
              <a:ext uri="{FF2B5EF4-FFF2-40B4-BE49-F238E27FC236}">
                <a16:creationId xmlns:a16="http://schemas.microsoft.com/office/drawing/2014/main" id="{A42E170A-6179-7034-BAB3-21EAB4470647}"/>
              </a:ext>
            </a:extLst>
          </p:cNvPr>
          <p:cNvSpPr/>
          <p:nvPr/>
        </p:nvSpPr>
        <p:spPr>
          <a:xfrm>
            <a:off x="3067783" y="1777409"/>
            <a:ext cx="49266" cy="49251"/>
          </a:xfrm>
          <a:custGeom>
            <a:avLst/>
            <a:gdLst>
              <a:gd name="connsiteX0" fmla="*/ 24633 w 49266"/>
              <a:gd name="connsiteY0" fmla="*/ 49252 h 49251"/>
              <a:gd name="connsiteX1" fmla="*/ 42052 w 49266"/>
              <a:gd name="connsiteY1" fmla="*/ 42039 h 49251"/>
              <a:gd name="connsiteX2" fmla="*/ 49267 w 49266"/>
              <a:gd name="connsiteY2" fmla="*/ 24626 h 49251"/>
              <a:gd name="connsiteX3" fmla="*/ 42052 w 49266"/>
              <a:gd name="connsiteY3" fmla="*/ 7213 h 49251"/>
              <a:gd name="connsiteX4" fmla="*/ 24633 w 49266"/>
              <a:gd name="connsiteY4" fmla="*/ 0 h 49251"/>
              <a:gd name="connsiteX5" fmla="*/ 7215 w 49266"/>
              <a:gd name="connsiteY5" fmla="*/ 7213 h 49251"/>
              <a:gd name="connsiteX6" fmla="*/ 0 w 49266"/>
              <a:gd name="connsiteY6" fmla="*/ 24626 h 49251"/>
              <a:gd name="connsiteX7" fmla="*/ 7215 w 49266"/>
              <a:gd name="connsiteY7" fmla="*/ 42039 h 49251"/>
              <a:gd name="connsiteX8" fmla="*/ 24633 w 49266"/>
              <a:gd name="connsiteY8" fmla="*/ 49252 h 49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266" h="49251">
                <a:moveTo>
                  <a:pt x="24633" y="49252"/>
                </a:moveTo>
                <a:cubicBezTo>
                  <a:pt x="31166" y="49252"/>
                  <a:pt x="37432" y="46657"/>
                  <a:pt x="42052" y="42039"/>
                </a:cubicBezTo>
                <a:cubicBezTo>
                  <a:pt x="46671" y="37421"/>
                  <a:pt x="49267" y="31157"/>
                  <a:pt x="49267" y="24626"/>
                </a:cubicBezTo>
                <a:cubicBezTo>
                  <a:pt x="49267" y="18095"/>
                  <a:pt x="46671" y="11831"/>
                  <a:pt x="42052" y="7213"/>
                </a:cubicBezTo>
                <a:cubicBezTo>
                  <a:pt x="37432" y="2595"/>
                  <a:pt x="31166" y="0"/>
                  <a:pt x="24633" y="0"/>
                </a:cubicBezTo>
                <a:cubicBezTo>
                  <a:pt x="18100" y="0"/>
                  <a:pt x="11834" y="2595"/>
                  <a:pt x="7215" y="7213"/>
                </a:cubicBezTo>
                <a:cubicBezTo>
                  <a:pt x="2595" y="11831"/>
                  <a:pt x="0" y="18095"/>
                  <a:pt x="0" y="24626"/>
                </a:cubicBezTo>
                <a:cubicBezTo>
                  <a:pt x="0" y="31157"/>
                  <a:pt x="2595" y="37421"/>
                  <a:pt x="7215" y="42039"/>
                </a:cubicBezTo>
                <a:cubicBezTo>
                  <a:pt x="11834" y="46657"/>
                  <a:pt x="18100" y="49252"/>
                  <a:pt x="24633" y="49252"/>
                </a:cubicBezTo>
                <a:close/>
              </a:path>
            </a:pathLst>
          </a:custGeom>
          <a:solidFill>
            <a:srgbClr val="FFFFFF"/>
          </a:solidFill>
          <a:ln w="15766" cap="flat">
            <a:solidFill>
              <a:srgbClr val="4E86A8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147" name="Freeform 146">
            <a:extLst>
              <a:ext uri="{FF2B5EF4-FFF2-40B4-BE49-F238E27FC236}">
                <a16:creationId xmlns:a16="http://schemas.microsoft.com/office/drawing/2014/main" id="{1B7941B9-8C9B-620E-ED84-2FB1ABFEA244}"/>
              </a:ext>
            </a:extLst>
          </p:cNvPr>
          <p:cNvSpPr/>
          <p:nvPr/>
        </p:nvSpPr>
        <p:spPr>
          <a:xfrm>
            <a:off x="6614064" y="2002204"/>
            <a:ext cx="52082" cy="52066"/>
          </a:xfrm>
          <a:custGeom>
            <a:avLst/>
            <a:gdLst>
              <a:gd name="connsiteX0" fmla="*/ 26041 w 52082"/>
              <a:gd name="connsiteY0" fmla="*/ 52066 h 52066"/>
              <a:gd name="connsiteX1" fmla="*/ 44455 w 52082"/>
              <a:gd name="connsiteY1" fmla="*/ 44441 h 52066"/>
              <a:gd name="connsiteX2" fmla="*/ 52082 w 52082"/>
              <a:gd name="connsiteY2" fmla="*/ 26033 h 52066"/>
              <a:gd name="connsiteX3" fmla="*/ 44455 w 52082"/>
              <a:gd name="connsiteY3" fmla="*/ 7625 h 52066"/>
              <a:gd name="connsiteX4" fmla="*/ 26041 w 52082"/>
              <a:gd name="connsiteY4" fmla="*/ 0 h 52066"/>
              <a:gd name="connsiteX5" fmla="*/ 7627 w 52082"/>
              <a:gd name="connsiteY5" fmla="*/ 7625 h 52066"/>
              <a:gd name="connsiteX6" fmla="*/ 0 w 52082"/>
              <a:gd name="connsiteY6" fmla="*/ 26033 h 52066"/>
              <a:gd name="connsiteX7" fmla="*/ 7627 w 52082"/>
              <a:gd name="connsiteY7" fmla="*/ 44441 h 52066"/>
              <a:gd name="connsiteX8" fmla="*/ 26041 w 52082"/>
              <a:gd name="connsiteY8" fmla="*/ 52066 h 52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082" h="52066">
                <a:moveTo>
                  <a:pt x="26041" y="52066"/>
                </a:moveTo>
                <a:cubicBezTo>
                  <a:pt x="32947" y="52066"/>
                  <a:pt x="39571" y="49323"/>
                  <a:pt x="44455" y="44441"/>
                </a:cubicBezTo>
                <a:cubicBezTo>
                  <a:pt x="49338" y="39559"/>
                  <a:pt x="52082" y="32937"/>
                  <a:pt x="52082" y="26033"/>
                </a:cubicBezTo>
                <a:cubicBezTo>
                  <a:pt x="52082" y="19129"/>
                  <a:pt x="49338" y="12507"/>
                  <a:pt x="44455" y="7625"/>
                </a:cubicBezTo>
                <a:cubicBezTo>
                  <a:pt x="39571" y="2743"/>
                  <a:pt x="32947" y="0"/>
                  <a:pt x="26041" y="0"/>
                </a:cubicBezTo>
                <a:cubicBezTo>
                  <a:pt x="19135" y="0"/>
                  <a:pt x="12511" y="2743"/>
                  <a:pt x="7627" y="7625"/>
                </a:cubicBezTo>
                <a:cubicBezTo>
                  <a:pt x="2744" y="12507"/>
                  <a:pt x="0" y="19129"/>
                  <a:pt x="0" y="26033"/>
                </a:cubicBezTo>
                <a:cubicBezTo>
                  <a:pt x="0" y="32937"/>
                  <a:pt x="2744" y="39559"/>
                  <a:pt x="7627" y="44441"/>
                </a:cubicBezTo>
                <a:cubicBezTo>
                  <a:pt x="12511" y="49323"/>
                  <a:pt x="19135" y="52066"/>
                  <a:pt x="26041" y="52066"/>
                </a:cubicBezTo>
                <a:close/>
              </a:path>
            </a:pathLst>
          </a:custGeom>
          <a:solidFill>
            <a:srgbClr val="606A90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148" name="Freeform 147">
            <a:extLst>
              <a:ext uri="{FF2B5EF4-FFF2-40B4-BE49-F238E27FC236}">
                <a16:creationId xmlns:a16="http://schemas.microsoft.com/office/drawing/2014/main" id="{111D419A-EDD0-3CFF-5982-27A22B883AC1}"/>
              </a:ext>
            </a:extLst>
          </p:cNvPr>
          <p:cNvSpPr/>
          <p:nvPr/>
        </p:nvSpPr>
        <p:spPr>
          <a:xfrm>
            <a:off x="6822393" y="2002204"/>
            <a:ext cx="52082" cy="52066"/>
          </a:xfrm>
          <a:custGeom>
            <a:avLst/>
            <a:gdLst>
              <a:gd name="connsiteX0" fmla="*/ 26041 w 52082"/>
              <a:gd name="connsiteY0" fmla="*/ 52066 h 52066"/>
              <a:gd name="connsiteX1" fmla="*/ 44455 w 52082"/>
              <a:gd name="connsiteY1" fmla="*/ 44441 h 52066"/>
              <a:gd name="connsiteX2" fmla="*/ 52082 w 52082"/>
              <a:gd name="connsiteY2" fmla="*/ 26033 h 52066"/>
              <a:gd name="connsiteX3" fmla="*/ 44455 w 52082"/>
              <a:gd name="connsiteY3" fmla="*/ 7625 h 52066"/>
              <a:gd name="connsiteX4" fmla="*/ 26041 w 52082"/>
              <a:gd name="connsiteY4" fmla="*/ 0 h 52066"/>
              <a:gd name="connsiteX5" fmla="*/ 7627 w 52082"/>
              <a:gd name="connsiteY5" fmla="*/ 7625 h 52066"/>
              <a:gd name="connsiteX6" fmla="*/ 0 w 52082"/>
              <a:gd name="connsiteY6" fmla="*/ 26033 h 52066"/>
              <a:gd name="connsiteX7" fmla="*/ 7627 w 52082"/>
              <a:gd name="connsiteY7" fmla="*/ 44441 h 52066"/>
              <a:gd name="connsiteX8" fmla="*/ 26041 w 52082"/>
              <a:gd name="connsiteY8" fmla="*/ 52066 h 52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082" h="52066">
                <a:moveTo>
                  <a:pt x="26041" y="52066"/>
                </a:moveTo>
                <a:cubicBezTo>
                  <a:pt x="32947" y="52066"/>
                  <a:pt x="39571" y="49323"/>
                  <a:pt x="44455" y="44441"/>
                </a:cubicBezTo>
                <a:cubicBezTo>
                  <a:pt x="49338" y="39559"/>
                  <a:pt x="52082" y="32937"/>
                  <a:pt x="52082" y="26033"/>
                </a:cubicBezTo>
                <a:cubicBezTo>
                  <a:pt x="52082" y="19129"/>
                  <a:pt x="49338" y="12507"/>
                  <a:pt x="44455" y="7625"/>
                </a:cubicBezTo>
                <a:cubicBezTo>
                  <a:pt x="39571" y="2743"/>
                  <a:pt x="32947" y="0"/>
                  <a:pt x="26041" y="0"/>
                </a:cubicBezTo>
                <a:cubicBezTo>
                  <a:pt x="19135" y="0"/>
                  <a:pt x="12511" y="2743"/>
                  <a:pt x="7627" y="7625"/>
                </a:cubicBezTo>
                <a:cubicBezTo>
                  <a:pt x="2744" y="12507"/>
                  <a:pt x="0" y="19129"/>
                  <a:pt x="0" y="26033"/>
                </a:cubicBezTo>
                <a:cubicBezTo>
                  <a:pt x="0" y="32937"/>
                  <a:pt x="2744" y="39559"/>
                  <a:pt x="7627" y="44441"/>
                </a:cubicBezTo>
                <a:cubicBezTo>
                  <a:pt x="12511" y="49323"/>
                  <a:pt x="19135" y="52066"/>
                  <a:pt x="26041" y="52066"/>
                </a:cubicBezTo>
                <a:close/>
              </a:path>
            </a:pathLst>
          </a:custGeom>
          <a:solidFill>
            <a:srgbClr val="606A90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149" name="Freeform 148">
            <a:extLst>
              <a:ext uri="{FF2B5EF4-FFF2-40B4-BE49-F238E27FC236}">
                <a16:creationId xmlns:a16="http://schemas.microsoft.com/office/drawing/2014/main" id="{F7B1C325-6B16-99AF-C46C-EC5894A76673}"/>
              </a:ext>
            </a:extLst>
          </p:cNvPr>
          <p:cNvSpPr/>
          <p:nvPr/>
        </p:nvSpPr>
        <p:spPr>
          <a:xfrm>
            <a:off x="6666147" y="2096577"/>
            <a:ext cx="156246" cy="15863"/>
          </a:xfrm>
          <a:custGeom>
            <a:avLst/>
            <a:gdLst>
              <a:gd name="connsiteX0" fmla="*/ 0 w 156246"/>
              <a:gd name="connsiteY0" fmla="*/ 0 h 15863"/>
              <a:gd name="connsiteX1" fmla="*/ 156246 w 156246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6246" h="15863">
                <a:moveTo>
                  <a:pt x="0" y="0"/>
                </a:moveTo>
                <a:lnTo>
                  <a:pt x="156246" y="0"/>
                </a:lnTo>
              </a:path>
            </a:pathLst>
          </a:custGeom>
          <a:noFill/>
          <a:ln w="17343" cap="rnd">
            <a:solidFill>
              <a:srgbClr val="606A90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150" name="Freeform 149">
            <a:extLst>
              <a:ext uri="{FF2B5EF4-FFF2-40B4-BE49-F238E27FC236}">
                <a16:creationId xmlns:a16="http://schemas.microsoft.com/office/drawing/2014/main" id="{3A8E83A7-4878-9511-B143-D8137544E8D8}"/>
              </a:ext>
            </a:extLst>
          </p:cNvPr>
          <p:cNvSpPr/>
          <p:nvPr/>
        </p:nvSpPr>
        <p:spPr>
          <a:xfrm>
            <a:off x="6519668" y="1797197"/>
            <a:ext cx="45571" cy="45557"/>
          </a:xfrm>
          <a:custGeom>
            <a:avLst/>
            <a:gdLst>
              <a:gd name="connsiteX0" fmla="*/ 22786 w 45571"/>
              <a:gd name="connsiteY0" fmla="*/ 45558 h 45557"/>
              <a:gd name="connsiteX1" fmla="*/ 38898 w 45571"/>
              <a:gd name="connsiteY1" fmla="*/ 38886 h 45557"/>
              <a:gd name="connsiteX2" fmla="*/ 45572 w 45571"/>
              <a:gd name="connsiteY2" fmla="*/ 22779 h 45557"/>
              <a:gd name="connsiteX3" fmla="*/ 38898 w 45571"/>
              <a:gd name="connsiteY3" fmla="*/ 6672 h 45557"/>
              <a:gd name="connsiteX4" fmla="*/ 22786 w 45571"/>
              <a:gd name="connsiteY4" fmla="*/ 0 h 45557"/>
              <a:gd name="connsiteX5" fmla="*/ 6674 w 45571"/>
              <a:gd name="connsiteY5" fmla="*/ 6672 h 45557"/>
              <a:gd name="connsiteX6" fmla="*/ 0 w 45571"/>
              <a:gd name="connsiteY6" fmla="*/ 22779 h 45557"/>
              <a:gd name="connsiteX7" fmla="*/ 6674 w 45571"/>
              <a:gd name="connsiteY7" fmla="*/ 38886 h 45557"/>
              <a:gd name="connsiteX8" fmla="*/ 22786 w 45571"/>
              <a:gd name="connsiteY8" fmla="*/ 45558 h 45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571" h="45557">
                <a:moveTo>
                  <a:pt x="22786" y="45558"/>
                </a:moveTo>
                <a:cubicBezTo>
                  <a:pt x="28829" y="45558"/>
                  <a:pt x="34625" y="43158"/>
                  <a:pt x="38898" y="38886"/>
                </a:cubicBezTo>
                <a:cubicBezTo>
                  <a:pt x="43171" y="34614"/>
                  <a:pt x="45572" y="28820"/>
                  <a:pt x="45572" y="22779"/>
                </a:cubicBezTo>
                <a:cubicBezTo>
                  <a:pt x="45572" y="16738"/>
                  <a:pt x="43171" y="10943"/>
                  <a:pt x="38898" y="6672"/>
                </a:cubicBezTo>
                <a:cubicBezTo>
                  <a:pt x="34625" y="2400"/>
                  <a:pt x="28829" y="0"/>
                  <a:pt x="22786" y="0"/>
                </a:cubicBezTo>
                <a:cubicBezTo>
                  <a:pt x="16743" y="0"/>
                  <a:pt x="10947" y="2400"/>
                  <a:pt x="6674" y="6672"/>
                </a:cubicBezTo>
                <a:cubicBezTo>
                  <a:pt x="2401" y="10943"/>
                  <a:pt x="0" y="16738"/>
                  <a:pt x="0" y="22779"/>
                </a:cubicBezTo>
                <a:cubicBezTo>
                  <a:pt x="0" y="28820"/>
                  <a:pt x="2401" y="34614"/>
                  <a:pt x="6674" y="38886"/>
                </a:cubicBezTo>
                <a:cubicBezTo>
                  <a:pt x="10947" y="43158"/>
                  <a:pt x="16743" y="45558"/>
                  <a:pt x="22786" y="45558"/>
                </a:cubicBezTo>
                <a:close/>
              </a:path>
            </a:pathLst>
          </a:custGeom>
          <a:solidFill>
            <a:srgbClr val="FFFFFF"/>
          </a:solidFill>
          <a:ln w="15766" cap="flat">
            <a:solidFill>
              <a:srgbClr val="606A90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151" name="Freeform 150">
            <a:extLst>
              <a:ext uri="{FF2B5EF4-FFF2-40B4-BE49-F238E27FC236}">
                <a16:creationId xmlns:a16="http://schemas.microsoft.com/office/drawing/2014/main" id="{42A94C45-FC36-C97D-5455-615DD2F0B403}"/>
              </a:ext>
            </a:extLst>
          </p:cNvPr>
          <p:cNvSpPr/>
          <p:nvPr/>
        </p:nvSpPr>
        <p:spPr>
          <a:xfrm>
            <a:off x="6721487" y="1784181"/>
            <a:ext cx="45571" cy="45557"/>
          </a:xfrm>
          <a:custGeom>
            <a:avLst/>
            <a:gdLst>
              <a:gd name="connsiteX0" fmla="*/ 22785 w 45571"/>
              <a:gd name="connsiteY0" fmla="*/ 45558 h 45557"/>
              <a:gd name="connsiteX1" fmla="*/ 38898 w 45571"/>
              <a:gd name="connsiteY1" fmla="*/ 38886 h 45557"/>
              <a:gd name="connsiteX2" fmla="*/ 45571 w 45571"/>
              <a:gd name="connsiteY2" fmla="*/ 22779 h 45557"/>
              <a:gd name="connsiteX3" fmla="*/ 38898 w 45571"/>
              <a:gd name="connsiteY3" fmla="*/ 6672 h 45557"/>
              <a:gd name="connsiteX4" fmla="*/ 22785 w 45571"/>
              <a:gd name="connsiteY4" fmla="*/ 0 h 45557"/>
              <a:gd name="connsiteX5" fmla="*/ 6674 w 45571"/>
              <a:gd name="connsiteY5" fmla="*/ 6672 h 45557"/>
              <a:gd name="connsiteX6" fmla="*/ 0 w 45571"/>
              <a:gd name="connsiteY6" fmla="*/ 22779 h 45557"/>
              <a:gd name="connsiteX7" fmla="*/ 6674 w 45571"/>
              <a:gd name="connsiteY7" fmla="*/ 38886 h 45557"/>
              <a:gd name="connsiteX8" fmla="*/ 22785 w 45571"/>
              <a:gd name="connsiteY8" fmla="*/ 45558 h 45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571" h="45557">
                <a:moveTo>
                  <a:pt x="22785" y="45558"/>
                </a:moveTo>
                <a:cubicBezTo>
                  <a:pt x="28829" y="45558"/>
                  <a:pt x="34625" y="43158"/>
                  <a:pt x="38898" y="38886"/>
                </a:cubicBezTo>
                <a:cubicBezTo>
                  <a:pt x="43171" y="34614"/>
                  <a:pt x="45571" y="28820"/>
                  <a:pt x="45571" y="22779"/>
                </a:cubicBezTo>
                <a:cubicBezTo>
                  <a:pt x="45571" y="16738"/>
                  <a:pt x="43171" y="10943"/>
                  <a:pt x="38898" y="6672"/>
                </a:cubicBezTo>
                <a:cubicBezTo>
                  <a:pt x="34625" y="2400"/>
                  <a:pt x="28829" y="0"/>
                  <a:pt x="22785" y="0"/>
                </a:cubicBezTo>
                <a:cubicBezTo>
                  <a:pt x="16743" y="0"/>
                  <a:pt x="10947" y="2400"/>
                  <a:pt x="6674" y="6672"/>
                </a:cubicBezTo>
                <a:cubicBezTo>
                  <a:pt x="2400" y="10943"/>
                  <a:pt x="0" y="16738"/>
                  <a:pt x="0" y="22779"/>
                </a:cubicBezTo>
                <a:cubicBezTo>
                  <a:pt x="0" y="28820"/>
                  <a:pt x="2400" y="34614"/>
                  <a:pt x="6674" y="38886"/>
                </a:cubicBezTo>
                <a:cubicBezTo>
                  <a:pt x="10947" y="43158"/>
                  <a:pt x="16743" y="45558"/>
                  <a:pt x="22785" y="45558"/>
                </a:cubicBezTo>
                <a:close/>
              </a:path>
            </a:pathLst>
          </a:custGeom>
          <a:solidFill>
            <a:srgbClr val="FFFFFF"/>
          </a:solidFill>
          <a:ln w="15766" cap="flat">
            <a:solidFill>
              <a:srgbClr val="606A90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152" name="Freeform 151">
            <a:extLst>
              <a:ext uri="{FF2B5EF4-FFF2-40B4-BE49-F238E27FC236}">
                <a16:creationId xmlns:a16="http://schemas.microsoft.com/office/drawing/2014/main" id="{ABD64480-DFC9-4325-25D1-20F17FBFB012}"/>
              </a:ext>
            </a:extLst>
          </p:cNvPr>
          <p:cNvSpPr/>
          <p:nvPr/>
        </p:nvSpPr>
        <p:spPr>
          <a:xfrm>
            <a:off x="6923305" y="1797197"/>
            <a:ext cx="45571" cy="45557"/>
          </a:xfrm>
          <a:custGeom>
            <a:avLst/>
            <a:gdLst>
              <a:gd name="connsiteX0" fmla="*/ 22786 w 45571"/>
              <a:gd name="connsiteY0" fmla="*/ 45558 h 45557"/>
              <a:gd name="connsiteX1" fmla="*/ 38898 w 45571"/>
              <a:gd name="connsiteY1" fmla="*/ 38886 h 45557"/>
              <a:gd name="connsiteX2" fmla="*/ 45572 w 45571"/>
              <a:gd name="connsiteY2" fmla="*/ 22779 h 45557"/>
              <a:gd name="connsiteX3" fmla="*/ 38898 w 45571"/>
              <a:gd name="connsiteY3" fmla="*/ 6672 h 45557"/>
              <a:gd name="connsiteX4" fmla="*/ 22786 w 45571"/>
              <a:gd name="connsiteY4" fmla="*/ 0 h 45557"/>
              <a:gd name="connsiteX5" fmla="*/ 6674 w 45571"/>
              <a:gd name="connsiteY5" fmla="*/ 6672 h 45557"/>
              <a:gd name="connsiteX6" fmla="*/ 0 w 45571"/>
              <a:gd name="connsiteY6" fmla="*/ 22779 h 45557"/>
              <a:gd name="connsiteX7" fmla="*/ 6674 w 45571"/>
              <a:gd name="connsiteY7" fmla="*/ 38886 h 45557"/>
              <a:gd name="connsiteX8" fmla="*/ 22786 w 45571"/>
              <a:gd name="connsiteY8" fmla="*/ 45558 h 45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571" h="45557">
                <a:moveTo>
                  <a:pt x="22786" y="45558"/>
                </a:moveTo>
                <a:cubicBezTo>
                  <a:pt x="28829" y="45558"/>
                  <a:pt x="34625" y="43158"/>
                  <a:pt x="38898" y="38886"/>
                </a:cubicBezTo>
                <a:cubicBezTo>
                  <a:pt x="43171" y="34614"/>
                  <a:pt x="45572" y="28820"/>
                  <a:pt x="45572" y="22779"/>
                </a:cubicBezTo>
                <a:cubicBezTo>
                  <a:pt x="45572" y="16738"/>
                  <a:pt x="43171" y="10943"/>
                  <a:pt x="38898" y="6672"/>
                </a:cubicBezTo>
                <a:cubicBezTo>
                  <a:pt x="34625" y="2400"/>
                  <a:pt x="28829" y="0"/>
                  <a:pt x="22786" y="0"/>
                </a:cubicBezTo>
                <a:cubicBezTo>
                  <a:pt x="16743" y="0"/>
                  <a:pt x="10947" y="2400"/>
                  <a:pt x="6674" y="6672"/>
                </a:cubicBezTo>
                <a:cubicBezTo>
                  <a:pt x="2401" y="10943"/>
                  <a:pt x="0" y="16738"/>
                  <a:pt x="0" y="22779"/>
                </a:cubicBezTo>
                <a:cubicBezTo>
                  <a:pt x="0" y="28820"/>
                  <a:pt x="2401" y="34614"/>
                  <a:pt x="6674" y="38886"/>
                </a:cubicBezTo>
                <a:cubicBezTo>
                  <a:pt x="10947" y="43158"/>
                  <a:pt x="16743" y="45558"/>
                  <a:pt x="22786" y="45558"/>
                </a:cubicBezTo>
                <a:close/>
              </a:path>
            </a:pathLst>
          </a:custGeom>
          <a:solidFill>
            <a:srgbClr val="FFFFFF"/>
          </a:solidFill>
          <a:ln w="15766" cap="flat">
            <a:solidFill>
              <a:srgbClr val="606A90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153" name="Freeform 152">
            <a:extLst>
              <a:ext uri="{FF2B5EF4-FFF2-40B4-BE49-F238E27FC236}">
                <a16:creationId xmlns:a16="http://schemas.microsoft.com/office/drawing/2014/main" id="{DD2D7608-0BB5-2912-2828-C24DC0B2A3C9}"/>
              </a:ext>
            </a:extLst>
          </p:cNvPr>
          <p:cNvSpPr/>
          <p:nvPr/>
        </p:nvSpPr>
        <p:spPr>
          <a:xfrm>
            <a:off x="8145378" y="1970897"/>
            <a:ext cx="67742" cy="15863"/>
          </a:xfrm>
          <a:custGeom>
            <a:avLst/>
            <a:gdLst>
              <a:gd name="connsiteX0" fmla="*/ 0 w 67742"/>
              <a:gd name="connsiteY0" fmla="*/ 0 h 15863"/>
              <a:gd name="connsiteX1" fmla="*/ 67742 w 67742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7742" h="15863">
                <a:moveTo>
                  <a:pt x="0" y="0"/>
                </a:moveTo>
                <a:lnTo>
                  <a:pt x="67742" y="0"/>
                </a:lnTo>
              </a:path>
            </a:pathLst>
          </a:custGeom>
          <a:noFill/>
          <a:ln w="11667" cap="rnd">
            <a:solidFill>
              <a:srgbClr val="606A90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154" name="Freeform 153">
            <a:extLst>
              <a:ext uri="{FF2B5EF4-FFF2-40B4-BE49-F238E27FC236}">
                <a16:creationId xmlns:a16="http://schemas.microsoft.com/office/drawing/2014/main" id="{EFE39708-3AC3-5D75-7E2D-E8962C7A4FB3}"/>
              </a:ext>
            </a:extLst>
          </p:cNvPr>
          <p:cNvSpPr/>
          <p:nvPr/>
        </p:nvSpPr>
        <p:spPr>
          <a:xfrm>
            <a:off x="8145378" y="2016631"/>
            <a:ext cx="67742" cy="15863"/>
          </a:xfrm>
          <a:custGeom>
            <a:avLst/>
            <a:gdLst>
              <a:gd name="connsiteX0" fmla="*/ 0 w 67742"/>
              <a:gd name="connsiteY0" fmla="*/ 0 h 15863"/>
              <a:gd name="connsiteX1" fmla="*/ 67742 w 67742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7742" h="15863">
                <a:moveTo>
                  <a:pt x="0" y="0"/>
                </a:moveTo>
                <a:lnTo>
                  <a:pt x="67742" y="0"/>
                </a:lnTo>
              </a:path>
            </a:pathLst>
          </a:custGeom>
          <a:noFill/>
          <a:ln w="11667" cap="rnd">
            <a:solidFill>
              <a:srgbClr val="606A90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155" name="Freeform 154">
            <a:extLst>
              <a:ext uri="{FF2B5EF4-FFF2-40B4-BE49-F238E27FC236}">
                <a16:creationId xmlns:a16="http://schemas.microsoft.com/office/drawing/2014/main" id="{93E6C84A-4073-54B2-55FD-EBA1CEB7E020}"/>
              </a:ext>
            </a:extLst>
          </p:cNvPr>
          <p:cNvSpPr/>
          <p:nvPr/>
        </p:nvSpPr>
        <p:spPr>
          <a:xfrm>
            <a:off x="8145378" y="2062364"/>
            <a:ext cx="67742" cy="15863"/>
          </a:xfrm>
          <a:custGeom>
            <a:avLst/>
            <a:gdLst>
              <a:gd name="connsiteX0" fmla="*/ 0 w 67742"/>
              <a:gd name="connsiteY0" fmla="*/ 0 h 15863"/>
              <a:gd name="connsiteX1" fmla="*/ 67742 w 67742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7742" h="15863">
                <a:moveTo>
                  <a:pt x="0" y="0"/>
                </a:moveTo>
                <a:lnTo>
                  <a:pt x="67742" y="0"/>
                </a:lnTo>
              </a:path>
            </a:pathLst>
          </a:custGeom>
          <a:noFill/>
          <a:ln w="11667" cap="rnd">
            <a:solidFill>
              <a:srgbClr val="606A90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156" name="Freeform 155">
            <a:extLst>
              <a:ext uri="{FF2B5EF4-FFF2-40B4-BE49-F238E27FC236}">
                <a16:creationId xmlns:a16="http://schemas.microsoft.com/office/drawing/2014/main" id="{A3722155-EA85-B0D7-6ECB-971F6529D83B}"/>
              </a:ext>
            </a:extLst>
          </p:cNvPr>
          <p:cNvSpPr/>
          <p:nvPr/>
        </p:nvSpPr>
        <p:spPr>
          <a:xfrm>
            <a:off x="8277343" y="1933958"/>
            <a:ext cx="52786" cy="52769"/>
          </a:xfrm>
          <a:custGeom>
            <a:avLst/>
            <a:gdLst>
              <a:gd name="connsiteX0" fmla="*/ 26393 w 52786"/>
              <a:gd name="connsiteY0" fmla="*/ 52770 h 52769"/>
              <a:gd name="connsiteX1" fmla="*/ 45056 w 52786"/>
              <a:gd name="connsiteY1" fmla="*/ 45042 h 52769"/>
              <a:gd name="connsiteX2" fmla="*/ 52786 w 52786"/>
              <a:gd name="connsiteY2" fmla="*/ 26385 h 52769"/>
              <a:gd name="connsiteX3" fmla="*/ 45056 w 52786"/>
              <a:gd name="connsiteY3" fmla="*/ 7728 h 52769"/>
              <a:gd name="connsiteX4" fmla="*/ 26393 w 52786"/>
              <a:gd name="connsiteY4" fmla="*/ 0 h 52769"/>
              <a:gd name="connsiteX5" fmla="*/ 7731 w 52786"/>
              <a:gd name="connsiteY5" fmla="*/ 7728 h 52769"/>
              <a:gd name="connsiteX6" fmla="*/ 0 w 52786"/>
              <a:gd name="connsiteY6" fmla="*/ 26385 h 52769"/>
              <a:gd name="connsiteX7" fmla="*/ 7731 w 52786"/>
              <a:gd name="connsiteY7" fmla="*/ 45042 h 52769"/>
              <a:gd name="connsiteX8" fmla="*/ 26393 w 52786"/>
              <a:gd name="connsiteY8" fmla="*/ 52770 h 5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786" h="52769">
                <a:moveTo>
                  <a:pt x="26393" y="52770"/>
                </a:moveTo>
                <a:cubicBezTo>
                  <a:pt x="33393" y="52770"/>
                  <a:pt x="40107" y="49989"/>
                  <a:pt x="45056" y="45042"/>
                </a:cubicBezTo>
                <a:cubicBezTo>
                  <a:pt x="50005" y="40094"/>
                  <a:pt x="52786" y="33382"/>
                  <a:pt x="52786" y="26385"/>
                </a:cubicBezTo>
                <a:cubicBezTo>
                  <a:pt x="52786" y="19387"/>
                  <a:pt x="50005" y="12676"/>
                  <a:pt x="45056" y="7728"/>
                </a:cubicBezTo>
                <a:cubicBezTo>
                  <a:pt x="40107" y="2780"/>
                  <a:pt x="33393" y="0"/>
                  <a:pt x="26393" y="0"/>
                </a:cubicBezTo>
                <a:cubicBezTo>
                  <a:pt x="19394" y="0"/>
                  <a:pt x="12680" y="2780"/>
                  <a:pt x="7731" y="7728"/>
                </a:cubicBezTo>
                <a:cubicBezTo>
                  <a:pt x="2781" y="12676"/>
                  <a:pt x="0" y="19387"/>
                  <a:pt x="0" y="26385"/>
                </a:cubicBezTo>
                <a:cubicBezTo>
                  <a:pt x="0" y="33382"/>
                  <a:pt x="2781" y="40094"/>
                  <a:pt x="7731" y="45042"/>
                </a:cubicBezTo>
                <a:cubicBezTo>
                  <a:pt x="12680" y="49989"/>
                  <a:pt x="19394" y="52770"/>
                  <a:pt x="26393" y="52770"/>
                </a:cubicBezTo>
                <a:close/>
              </a:path>
            </a:pathLst>
          </a:custGeom>
          <a:solidFill>
            <a:srgbClr val="FFFFFF"/>
          </a:solidFill>
          <a:ln w="13874" cap="flat">
            <a:solidFill>
              <a:srgbClr val="C58A2C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157" name="Freeform 156">
            <a:extLst>
              <a:ext uri="{FF2B5EF4-FFF2-40B4-BE49-F238E27FC236}">
                <a16:creationId xmlns:a16="http://schemas.microsoft.com/office/drawing/2014/main" id="{4F0528B7-7BB1-FA38-9227-5E002E47B4CD}"/>
              </a:ext>
            </a:extLst>
          </p:cNvPr>
          <p:cNvSpPr/>
          <p:nvPr/>
        </p:nvSpPr>
        <p:spPr>
          <a:xfrm>
            <a:off x="8378520" y="1933958"/>
            <a:ext cx="52785" cy="52769"/>
          </a:xfrm>
          <a:custGeom>
            <a:avLst/>
            <a:gdLst>
              <a:gd name="connsiteX0" fmla="*/ 26392 w 52785"/>
              <a:gd name="connsiteY0" fmla="*/ 52770 h 52769"/>
              <a:gd name="connsiteX1" fmla="*/ 45055 w 52785"/>
              <a:gd name="connsiteY1" fmla="*/ 45042 h 52769"/>
              <a:gd name="connsiteX2" fmla="*/ 52785 w 52785"/>
              <a:gd name="connsiteY2" fmla="*/ 26385 h 52769"/>
              <a:gd name="connsiteX3" fmla="*/ 45055 w 52785"/>
              <a:gd name="connsiteY3" fmla="*/ 7728 h 52769"/>
              <a:gd name="connsiteX4" fmla="*/ 26392 w 52785"/>
              <a:gd name="connsiteY4" fmla="*/ 0 h 52769"/>
              <a:gd name="connsiteX5" fmla="*/ 7730 w 52785"/>
              <a:gd name="connsiteY5" fmla="*/ 7728 h 52769"/>
              <a:gd name="connsiteX6" fmla="*/ 0 w 52785"/>
              <a:gd name="connsiteY6" fmla="*/ 26385 h 52769"/>
              <a:gd name="connsiteX7" fmla="*/ 7730 w 52785"/>
              <a:gd name="connsiteY7" fmla="*/ 45042 h 52769"/>
              <a:gd name="connsiteX8" fmla="*/ 26392 w 52785"/>
              <a:gd name="connsiteY8" fmla="*/ 52770 h 5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785" h="52769">
                <a:moveTo>
                  <a:pt x="26392" y="52770"/>
                </a:moveTo>
                <a:cubicBezTo>
                  <a:pt x="33392" y="52770"/>
                  <a:pt x="40106" y="49989"/>
                  <a:pt x="45055" y="45042"/>
                </a:cubicBezTo>
                <a:cubicBezTo>
                  <a:pt x="50004" y="40094"/>
                  <a:pt x="52785" y="33382"/>
                  <a:pt x="52785" y="26385"/>
                </a:cubicBezTo>
                <a:cubicBezTo>
                  <a:pt x="52785" y="19387"/>
                  <a:pt x="50004" y="12676"/>
                  <a:pt x="45055" y="7728"/>
                </a:cubicBezTo>
                <a:cubicBezTo>
                  <a:pt x="40106" y="2780"/>
                  <a:pt x="33392" y="0"/>
                  <a:pt x="26392" y="0"/>
                </a:cubicBezTo>
                <a:cubicBezTo>
                  <a:pt x="19393" y="0"/>
                  <a:pt x="12679" y="2780"/>
                  <a:pt x="7730" y="7728"/>
                </a:cubicBezTo>
                <a:cubicBezTo>
                  <a:pt x="2780" y="12676"/>
                  <a:pt x="0" y="19387"/>
                  <a:pt x="0" y="26385"/>
                </a:cubicBezTo>
                <a:cubicBezTo>
                  <a:pt x="0" y="33382"/>
                  <a:pt x="2780" y="40094"/>
                  <a:pt x="7730" y="45042"/>
                </a:cubicBezTo>
                <a:cubicBezTo>
                  <a:pt x="12679" y="49989"/>
                  <a:pt x="19393" y="52770"/>
                  <a:pt x="26392" y="52770"/>
                </a:cubicBezTo>
                <a:close/>
              </a:path>
            </a:pathLst>
          </a:custGeom>
          <a:solidFill>
            <a:srgbClr val="FFFFFF"/>
          </a:solidFill>
          <a:ln w="13874" cap="flat">
            <a:solidFill>
              <a:srgbClr val="C58A2C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158" name="Freeform 157">
            <a:extLst>
              <a:ext uri="{FF2B5EF4-FFF2-40B4-BE49-F238E27FC236}">
                <a16:creationId xmlns:a16="http://schemas.microsoft.com/office/drawing/2014/main" id="{EAF5E4BC-0848-8527-A5C0-01CC11FF3118}"/>
              </a:ext>
            </a:extLst>
          </p:cNvPr>
          <p:cNvSpPr/>
          <p:nvPr/>
        </p:nvSpPr>
        <p:spPr>
          <a:xfrm>
            <a:off x="8328373" y="2045654"/>
            <a:ext cx="52785" cy="52769"/>
          </a:xfrm>
          <a:custGeom>
            <a:avLst/>
            <a:gdLst>
              <a:gd name="connsiteX0" fmla="*/ 26392 w 52785"/>
              <a:gd name="connsiteY0" fmla="*/ 52770 h 52769"/>
              <a:gd name="connsiteX1" fmla="*/ 45055 w 52785"/>
              <a:gd name="connsiteY1" fmla="*/ 45042 h 52769"/>
              <a:gd name="connsiteX2" fmla="*/ 52785 w 52785"/>
              <a:gd name="connsiteY2" fmla="*/ 26385 h 52769"/>
              <a:gd name="connsiteX3" fmla="*/ 45055 w 52785"/>
              <a:gd name="connsiteY3" fmla="*/ 7728 h 52769"/>
              <a:gd name="connsiteX4" fmla="*/ 26392 w 52785"/>
              <a:gd name="connsiteY4" fmla="*/ 0 h 52769"/>
              <a:gd name="connsiteX5" fmla="*/ 7730 w 52785"/>
              <a:gd name="connsiteY5" fmla="*/ 7728 h 52769"/>
              <a:gd name="connsiteX6" fmla="*/ 0 w 52785"/>
              <a:gd name="connsiteY6" fmla="*/ 26385 h 52769"/>
              <a:gd name="connsiteX7" fmla="*/ 7730 w 52785"/>
              <a:gd name="connsiteY7" fmla="*/ 45042 h 52769"/>
              <a:gd name="connsiteX8" fmla="*/ 26392 w 52785"/>
              <a:gd name="connsiteY8" fmla="*/ 52770 h 5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785" h="52769">
                <a:moveTo>
                  <a:pt x="26392" y="52770"/>
                </a:moveTo>
                <a:cubicBezTo>
                  <a:pt x="33392" y="52770"/>
                  <a:pt x="40106" y="49989"/>
                  <a:pt x="45055" y="45042"/>
                </a:cubicBezTo>
                <a:cubicBezTo>
                  <a:pt x="50004" y="40094"/>
                  <a:pt x="52785" y="33382"/>
                  <a:pt x="52785" y="26385"/>
                </a:cubicBezTo>
                <a:cubicBezTo>
                  <a:pt x="52785" y="19387"/>
                  <a:pt x="50004" y="12676"/>
                  <a:pt x="45055" y="7728"/>
                </a:cubicBezTo>
                <a:cubicBezTo>
                  <a:pt x="40106" y="2780"/>
                  <a:pt x="33392" y="0"/>
                  <a:pt x="26392" y="0"/>
                </a:cubicBezTo>
                <a:cubicBezTo>
                  <a:pt x="19393" y="0"/>
                  <a:pt x="12679" y="2780"/>
                  <a:pt x="7730" y="7728"/>
                </a:cubicBezTo>
                <a:cubicBezTo>
                  <a:pt x="2780" y="12676"/>
                  <a:pt x="0" y="19387"/>
                  <a:pt x="0" y="26385"/>
                </a:cubicBezTo>
                <a:cubicBezTo>
                  <a:pt x="0" y="33382"/>
                  <a:pt x="2780" y="40094"/>
                  <a:pt x="7730" y="45042"/>
                </a:cubicBezTo>
                <a:cubicBezTo>
                  <a:pt x="12679" y="49989"/>
                  <a:pt x="19393" y="52770"/>
                  <a:pt x="26392" y="52770"/>
                </a:cubicBezTo>
                <a:close/>
              </a:path>
            </a:pathLst>
          </a:custGeom>
          <a:solidFill>
            <a:srgbClr val="FFFFFF"/>
          </a:solidFill>
          <a:ln w="13874" cap="flat">
            <a:solidFill>
              <a:srgbClr val="C58A2C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83A18CB3-0D6C-99C8-476B-D1ADEE66255A}"/>
              </a:ext>
            </a:extLst>
          </p:cNvPr>
          <p:cNvSpPr txBox="1"/>
          <p:nvPr/>
        </p:nvSpPr>
        <p:spPr>
          <a:xfrm>
            <a:off x="2018924" y="2237789"/>
            <a:ext cx="17211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Hypothesis generation agent</a:t>
            </a: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531B4B7A-207E-57E3-FC2F-2D79F3711F7A}"/>
              </a:ext>
            </a:extLst>
          </p:cNvPr>
          <p:cNvSpPr txBox="1"/>
          <p:nvPr/>
        </p:nvSpPr>
        <p:spPr>
          <a:xfrm>
            <a:off x="579127" y="1775242"/>
            <a:ext cx="11540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Gene list + disease</a:t>
            </a: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F83A2072-DFDD-28D7-9879-F94B0C18F402}"/>
              </a:ext>
            </a:extLst>
          </p:cNvPr>
          <p:cNvSpPr txBox="1"/>
          <p:nvPr/>
        </p:nvSpPr>
        <p:spPr>
          <a:xfrm>
            <a:off x="4391523" y="1814460"/>
            <a:ext cx="989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Rigorous enrichment test</a:t>
            </a: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E6ED5674-993B-577C-370C-FE9D0FCCE7C2}"/>
              </a:ext>
            </a:extLst>
          </p:cNvPr>
          <p:cNvSpPr txBox="1"/>
          <p:nvPr/>
        </p:nvSpPr>
        <p:spPr>
          <a:xfrm>
            <a:off x="6095053" y="2210239"/>
            <a:ext cx="13747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Biological ranking agent</a:t>
            </a: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8925959D-6C8D-E364-E2EB-77688DEEDEB3}"/>
              </a:ext>
            </a:extLst>
          </p:cNvPr>
          <p:cNvSpPr txBox="1"/>
          <p:nvPr/>
        </p:nvSpPr>
        <p:spPr>
          <a:xfrm>
            <a:off x="1859380" y="2421424"/>
            <a:ext cx="198111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Disease-context-aware reasoning over candidate pathways from GO:BP, GO:MF, GO:CC, KEGG, and </a:t>
            </a:r>
            <a:r>
              <a:rPr lang="en-US" sz="900" dirty="0" err="1"/>
              <a:t>Reactome</a:t>
            </a:r>
            <a:r>
              <a:rPr lang="en-US" sz="900" dirty="0"/>
              <a:t>.</a:t>
            </a: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25E552D8-9684-6FA5-DB3D-A05A7BFD724C}"/>
              </a:ext>
            </a:extLst>
          </p:cNvPr>
          <p:cNvSpPr txBox="1"/>
          <p:nvPr/>
        </p:nvSpPr>
        <p:spPr>
          <a:xfrm>
            <a:off x="198450" y="2417847"/>
            <a:ext cx="154772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What biological pathways underlie these gene-disease associations?</a:t>
            </a:r>
            <a:endParaRPr lang="en-US" sz="700" dirty="0"/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26472161-76BD-3F25-D735-F2A5E69EBFA1}"/>
              </a:ext>
            </a:extLst>
          </p:cNvPr>
          <p:cNvSpPr txBox="1"/>
          <p:nvPr/>
        </p:nvSpPr>
        <p:spPr>
          <a:xfrm>
            <a:off x="3926422" y="2254176"/>
            <a:ext cx="15997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Statistical validation agent</a:t>
            </a:r>
          </a:p>
        </p:txBody>
      </p:sp>
      <p:grpSp>
        <p:nvGrpSpPr>
          <p:cNvPr id="102" name="Graphic 4">
            <a:extLst>
              <a:ext uri="{FF2B5EF4-FFF2-40B4-BE49-F238E27FC236}">
                <a16:creationId xmlns:a16="http://schemas.microsoft.com/office/drawing/2014/main" id="{EE50DE3A-71AD-EC1A-45C2-FE6D82F0125C}"/>
              </a:ext>
            </a:extLst>
          </p:cNvPr>
          <p:cNvGrpSpPr/>
          <p:nvPr/>
        </p:nvGrpSpPr>
        <p:grpSpPr>
          <a:xfrm>
            <a:off x="4259346" y="3010930"/>
            <a:ext cx="84572" cy="48230"/>
            <a:chOff x="5030481" y="3348604"/>
            <a:chExt cx="84572" cy="48230"/>
          </a:xfrm>
        </p:grpSpPr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20CE6E20-AF27-36C2-D255-71A2F2878332}"/>
                </a:ext>
              </a:extLst>
            </p:cNvPr>
            <p:cNvSpPr/>
            <p:nvPr/>
          </p:nvSpPr>
          <p:spPr>
            <a:xfrm>
              <a:off x="5030481" y="3374043"/>
              <a:ext cx="84572" cy="22791"/>
            </a:xfrm>
            <a:custGeom>
              <a:avLst/>
              <a:gdLst>
                <a:gd name="connsiteX0" fmla="*/ 0 w 84572"/>
                <a:gd name="connsiteY0" fmla="*/ 22791 h 22791"/>
                <a:gd name="connsiteX1" fmla="*/ 84572 w 84572"/>
                <a:gd name="connsiteY1" fmla="*/ 13657 h 2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4572" h="22791">
                  <a:moveTo>
                    <a:pt x="0" y="22791"/>
                  </a:moveTo>
                  <a:cubicBezTo>
                    <a:pt x="31784" y="-4164"/>
                    <a:pt x="59975" y="-7209"/>
                    <a:pt x="84572" y="13657"/>
                  </a:cubicBezTo>
                </a:path>
              </a:pathLst>
            </a:custGeom>
            <a:noFill/>
            <a:ln w="12613" cap="rnd">
              <a:solidFill>
                <a:srgbClr val="C55F5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CN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59C1AC10-AA5D-6B96-3FE4-3D266636FC30}"/>
                </a:ext>
              </a:extLst>
            </p:cNvPr>
            <p:cNvSpPr/>
            <p:nvPr/>
          </p:nvSpPr>
          <p:spPr>
            <a:xfrm>
              <a:off x="5073929" y="3348604"/>
              <a:ext cx="41124" cy="39095"/>
            </a:xfrm>
            <a:custGeom>
              <a:avLst/>
              <a:gdLst>
                <a:gd name="connsiteX0" fmla="*/ 24391 w 41124"/>
                <a:gd name="connsiteY0" fmla="*/ 0 h 39095"/>
                <a:gd name="connsiteX1" fmla="*/ 41125 w 41124"/>
                <a:gd name="connsiteY1" fmla="*/ 39096 h 39095"/>
                <a:gd name="connsiteX2" fmla="*/ 0 w 41124"/>
                <a:gd name="connsiteY2" fmla="*/ 29108 h 39095"/>
                <a:gd name="connsiteX3" fmla="*/ 24391 w 41124"/>
                <a:gd name="connsiteY3" fmla="*/ 0 h 39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124" h="39095">
                  <a:moveTo>
                    <a:pt x="24391" y="0"/>
                  </a:moveTo>
                  <a:lnTo>
                    <a:pt x="41125" y="39096"/>
                  </a:lnTo>
                  <a:lnTo>
                    <a:pt x="0" y="29108"/>
                  </a:lnTo>
                  <a:lnTo>
                    <a:pt x="24391" y="0"/>
                  </a:lnTo>
                  <a:close/>
                </a:path>
              </a:pathLst>
            </a:custGeom>
            <a:solidFill>
              <a:srgbClr val="C55F53"/>
            </a:solidFill>
            <a:ln w="12613" cap="rnd">
              <a:solidFill>
                <a:srgbClr val="C55F5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CN"/>
            </a:p>
          </p:txBody>
        </p:sp>
      </p:grpSp>
      <p:grpSp>
        <p:nvGrpSpPr>
          <p:cNvPr id="105" name="Graphic 4">
            <a:extLst>
              <a:ext uri="{FF2B5EF4-FFF2-40B4-BE49-F238E27FC236}">
                <a16:creationId xmlns:a16="http://schemas.microsoft.com/office/drawing/2014/main" id="{D8D4C3A6-FC4F-FF11-316A-D5765C1E0B02}"/>
              </a:ext>
            </a:extLst>
          </p:cNvPr>
          <p:cNvGrpSpPr/>
          <p:nvPr/>
        </p:nvGrpSpPr>
        <p:grpSpPr>
          <a:xfrm>
            <a:off x="4270117" y="3147858"/>
            <a:ext cx="84571" cy="48230"/>
            <a:chOff x="5041249" y="3485532"/>
            <a:chExt cx="84571" cy="48230"/>
          </a:xfrm>
        </p:grpSpPr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923FDE28-6CFE-8B91-14A4-685D96525A77}"/>
                </a:ext>
              </a:extLst>
            </p:cNvPr>
            <p:cNvSpPr/>
            <p:nvPr/>
          </p:nvSpPr>
          <p:spPr>
            <a:xfrm>
              <a:off x="5041249" y="3485532"/>
              <a:ext cx="84571" cy="22791"/>
            </a:xfrm>
            <a:custGeom>
              <a:avLst/>
              <a:gdLst>
                <a:gd name="connsiteX0" fmla="*/ 84572 w 84571"/>
                <a:gd name="connsiteY0" fmla="*/ 0 h 22791"/>
                <a:gd name="connsiteX1" fmla="*/ 0 w 84571"/>
                <a:gd name="connsiteY1" fmla="*/ 9135 h 2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4571" h="22791">
                  <a:moveTo>
                    <a:pt x="84572" y="0"/>
                  </a:moveTo>
                  <a:cubicBezTo>
                    <a:pt x="52787" y="26956"/>
                    <a:pt x="24597" y="30001"/>
                    <a:pt x="0" y="9135"/>
                  </a:cubicBezTo>
                </a:path>
              </a:pathLst>
            </a:custGeom>
            <a:noFill/>
            <a:ln w="12613" cap="rnd">
              <a:solidFill>
                <a:srgbClr val="C55F5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CN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320944BC-03AF-FF6C-4D3F-860D13EFF278}"/>
                </a:ext>
              </a:extLst>
            </p:cNvPr>
            <p:cNvSpPr/>
            <p:nvPr/>
          </p:nvSpPr>
          <p:spPr>
            <a:xfrm>
              <a:off x="5041249" y="3494666"/>
              <a:ext cx="41124" cy="39095"/>
            </a:xfrm>
            <a:custGeom>
              <a:avLst/>
              <a:gdLst>
                <a:gd name="connsiteX0" fmla="*/ 16734 w 41124"/>
                <a:gd name="connsiteY0" fmla="*/ 39096 h 39095"/>
                <a:gd name="connsiteX1" fmla="*/ 0 w 41124"/>
                <a:gd name="connsiteY1" fmla="*/ 0 h 39095"/>
                <a:gd name="connsiteX2" fmla="*/ 41125 w 41124"/>
                <a:gd name="connsiteY2" fmla="*/ 9988 h 39095"/>
                <a:gd name="connsiteX3" fmla="*/ 16734 w 41124"/>
                <a:gd name="connsiteY3" fmla="*/ 39096 h 39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124" h="39095">
                  <a:moveTo>
                    <a:pt x="16734" y="39096"/>
                  </a:moveTo>
                  <a:lnTo>
                    <a:pt x="0" y="0"/>
                  </a:lnTo>
                  <a:lnTo>
                    <a:pt x="41125" y="9988"/>
                  </a:lnTo>
                  <a:lnTo>
                    <a:pt x="16734" y="39096"/>
                  </a:lnTo>
                  <a:close/>
                </a:path>
              </a:pathLst>
            </a:custGeom>
            <a:solidFill>
              <a:srgbClr val="C55F53"/>
            </a:solidFill>
            <a:ln w="12613" cap="rnd">
              <a:solidFill>
                <a:srgbClr val="C55F5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CN"/>
            </a:p>
          </p:txBody>
        </p:sp>
      </p:grpSp>
      <p:sp>
        <p:nvSpPr>
          <p:cNvPr id="335" name="TextBox 334">
            <a:extLst>
              <a:ext uri="{FF2B5EF4-FFF2-40B4-BE49-F238E27FC236}">
                <a16:creationId xmlns:a16="http://schemas.microsoft.com/office/drawing/2014/main" id="{7EB51E3E-3B87-3181-8DC5-81CF57C8A81B}"/>
              </a:ext>
            </a:extLst>
          </p:cNvPr>
          <p:cNvSpPr txBox="1"/>
          <p:nvPr/>
        </p:nvSpPr>
        <p:spPr>
          <a:xfrm>
            <a:off x="4224104" y="3019850"/>
            <a:ext cx="11925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Feedback agent</a:t>
            </a: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647626AD-9F10-5753-C5F1-F3BA5351EEDC}"/>
              </a:ext>
            </a:extLst>
          </p:cNvPr>
          <p:cNvSpPr txBox="1"/>
          <p:nvPr/>
        </p:nvSpPr>
        <p:spPr>
          <a:xfrm>
            <a:off x="3661924" y="3352002"/>
            <a:ext cx="2146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Analyzing successful and failure cases to refine the hypothesis generation prompt</a:t>
            </a: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E4CC2090-A59F-016A-00A3-C27069AE261F}"/>
              </a:ext>
            </a:extLst>
          </p:cNvPr>
          <p:cNvSpPr txBox="1"/>
          <p:nvPr/>
        </p:nvSpPr>
        <p:spPr>
          <a:xfrm>
            <a:off x="5352419" y="2887819"/>
            <a:ext cx="750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rgbClr val="C00000"/>
                </a:solidFill>
              </a:rPr>
              <a:t>Unvalidated hypothesis</a:t>
            </a: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296F8713-153C-A965-9CE3-5ABEFA907417}"/>
              </a:ext>
            </a:extLst>
          </p:cNvPr>
          <p:cNvSpPr txBox="1"/>
          <p:nvPr/>
        </p:nvSpPr>
        <p:spPr>
          <a:xfrm>
            <a:off x="583055" y="1920602"/>
            <a:ext cx="1118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A new context formed by genes and disease</a:t>
            </a:r>
            <a:endParaRPr lang="en-US" sz="600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6A47A38-0E6D-5547-3718-F765D14B8B98}"/>
              </a:ext>
            </a:extLst>
          </p:cNvPr>
          <p:cNvCxnSpPr>
            <a:cxnSpLocks/>
          </p:cNvCxnSpPr>
          <p:nvPr/>
        </p:nvCxnSpPr>
        <p:spPr>
          <a:xfrm>
            <a:off x="1835451" y="2024437"/>
            <a:ext cx="44917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B83AEFE-C934-E799-29F3-81558D7D3447}"/>
              </a:ext>
            </a:extLst>
          </p:cNvPr>
          <p:cNvCxnSpPr>
            <a:cxnSpLocks/>
          </p:cNvCxnSpPr>
          <p:nvPr/>
        </p:nvCxnSpPr>
        <p:spPr>
          <a:xfrm>
            <a:off x="3404869" y="2024476"/>
            <a:ext cx="44917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31663BE-026B-1B32-8D85-0A78A9D7525F}"/>
              </a:ext>
            </a:extLst>
          </p:cNvPr>
          <p:cNvCxnSpPr>
            <a:cxnSpLocks/>
          </p:cNvCxnSpPr>
          <p:nvPr/>
        </p:nvCxnSpPr>
        <p:spPr>
          <a:xfrm>
            <a:off x="5583837" y="2015655"/>
            <a:ext cx="44917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6" name="Graphic 4">
            <a:extLst>
              <a:ext uri="{FF2B5EF4-FFF2-40B4-BE49-F238E27FC236}">
                <a16:creationId xmlns:a16="http://schemas.microsoft.com/office/drawing/2014/main" id="{8F2F7CD7-2BC8-D403-DCCE-5F1ACD7828BC}"/>
              </a:ext>
            </a:extLst>
          </p:cNvPr>
          <p:cNvGrpSpPr/>
          <p:nvPr/>
        </p:nvGrpSpPr>
        <p:grpSpPr>
          <a:xfrm rot="278416">
            <a:off x="3363100" y="2196055"/>
            <a:ext cx="697836" cy="688380"/>
            <a:chOff x="3543101" y="2718030"/>
            <a:chExt cx="1281228" cy="672349"/>
          </a:xfrm>
        </p:grpSpPr>
        <p:sp>
          <p:nvSpPr>
            <p:cNvPr id="187" name="Freeform 186">
              <a:extLst>
                <a:ext uri="{FF2B5EF4-FFF2-40B4-BE49-F238E27FC236}">
                  <a16:creationId xmlns:a16="http://schemas.microsoft.com/office/drawing/2014/main" id="{5083066A-F4C8-D274-FDD7-3FE972D4AAFF}"/>
                </a:ext>
              </a:extLst>
            </p:cNvPr>
            <p:cNvSpPr/>
            <p:nvPr/>
          </p:nvSpPr>
          <p:spPr>
            <a:xfrm>
              <a:off x="3543101" y="2729999"/>
              <a:ext cx="1281228" cy="660380"/>
            </a:xfrm>
            <a:custGeom>
              <a:avLst/>
              <a:gdLst>
                <a:gd name="connsiteX0" fmla="*/ 1281229 w 1281228"/>
                <a:gd name="connsiteY0" fmla="*/ 660380 h 660380"/>
                <a:gd name="connsiteX1" fmla="*/ 0 w 1281228"/>
                <a:gd name="connsiteY1" fmla="*/ 0 h 660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81228" h="660380">
                  <a:moveTo>
                    <a:pt x="1281229" y="660380"/>
                  </a:moveTo>
                  <a:cubicBezTo>
                    <a:pt x="916667" y="309068"/>
                    <a:pt x="489591" y="88942"/>
                    <a:pt x="0" y="0"/>
                  </a:cubicBezTo>
                </a:path>
              </a:pathLst>
            </a:custGeom>
            <a:noFill/>
            <a:ln w="9775" cap="rnd">
              <a:solidFill>
                <a:srgbClr val="C55F53"/>
              </a:solidFill>
              <a:custDash>
                <a:ds d="186000" sp="139500"/>
              </a:custDash>
              <a:round/>
            </a:ln>
          </p:spPr>
          <p:txBody>
            <a:bodyPr rtlCol="0" anchor="ctr"/>
            <a:lstStyle/>
            <a:p>
              <a:endParaRPr lang="en-CN"/>
            </a:p>
          </p:txBody>
        </p:sp>
        <p:sp>
          <p:nvSpPr>
            <p:cNvPr id="193" name="Freeform 192">
              <a:extLst>
                <a:ext uri="{FF2B5EF4-FFF2-40B4-BE49-F238E27FC236}">
                  <a16:creationId xmlns:a16="http://schemas.microsoft.com/office/drawing/2014/main" id="{0317F4C2-E8DC-F947-D753-37D3A8AFECD9}"/>
                </a:ext>
              </a:extLst>
            </p:cNvPr>
            <p:cNvSpPr/>
            <p:nvPr/>
          </p:nvSpPr>
          <p:spPr>
            <a:xfrm>
              <a:off x="3543101" y="2718030"/>
              <a:ext cx="40598" cy="37467"/>
            </a:xfrm>
            <a:custGeom>
              <a:avLst/>
              <a:gdLst>
                <a:gd name="connsiteX0" fmla="*/ 33876 w 40598"/>
                <a:gd name="connsiteY0" fmla="*/ 37468 h 37467"/>
                <a:gd name="connsiteX1" fmla="*/ 0 w 40598"/>
                <a:gd name="connsiteY1" fmla="*/ 11969 h 37467"/>
                <a:gd name="connsiteX2" fmla="*/ 40599 w 40598"/>
                <a:gd name="connsiteY2" fmla="*/ 0 h 37467"/>
                <a:gd name="connsiteX3" fmla="*/ 33876 w 40598"/>
                <a:gd name="connsiteY3" fmla="*/ 37468 h 37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598" h="37467">
                  <a:moveTo>
                    <a:pt x="33876" y="37468"/>
                  </a:moveTo>
                  <a:lnTo>
                    <a:pt x="0" y="11969"/>
                  </a:lnTo>
                  <a:lnTo>
                    <a:pt x="40599" y="0"/>
                  </a:lnTo>
                  <a:lnTo>
                    <a:pt x="33876" y="37468"/>
                  </a:lnTo>
                  <a:close/>
                </a:path>
              </a:pathLst>
            </a:custGeom>
            <a:solidFill>
              <a:srgbClr val="C55F53"/>
            </a:solidFill>
            <a:ln w="9775" cap="rnd">
              <a:solidFill>
                <a:srgbClr val="C55F53"/>
              </a:solidFill>
              <a:custDash>
                <a:ds d="186000" sp="139500"/>
              </a:custDash>
              <a:round/>
            </a:ln>
          </p:spPr>
          <p:txBody>
            <a:bodyPr rtlCol="0" anchor="ctr"/>
            <a:lstStyle/>
            <a:p>
              <a:endParaRPr lang="en-CN"/>
            </a:p>
          </p:txBody>
        </p:sp>
      </p:grpSp>
      <p:sp>
        <p:nvSpPr>
          <p:cNvPr id="194" name="TextBox 193">
            <a:extLst>
              <a:ext uri="{FF2B5EF4-FFF2-40B4-BE49-F238E27FC236}">
                <a16:creationId xmlns:a16="http://schemas.microsoft.com/office/drawing/2014/main" id="{AB64D125-5149-8B04-110E-9BBAE15F6881}"/>
              </a:ext>
            </a:extLst>
          </p:cNvPr>
          <p:cNvSpPr txBox="1"/>
          <p:nvPr/>
        </p:nvSpPr>
        <p:spPr>
          <a:xfrm>
            <a:off x="5868652" y="2409639"/>
            <a:ext cx="174155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Ranking validated hypotheses by strength of disease-related biological evidence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2BA0592F-2A3D-5F82-3D1E-1DD89F1C720B}"/>
              </a:ext>
            </a:extLst>
          </p:cNvPr>
          <p:cNvSpPr txBox="1"/>
          <p:nvPr/>
        </p:nvSpPr>
        <p:spPr>
          <a:xfrm>
            <a:off x="3890501" y="2439056"/>
            <a:ext cx="166712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Formal pathway enrichment analysis for each generated initial hypothesis</a:t>
            </a:r>
          </a:p>
        </p:txBody>
      </p: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322166CC-E4C7-5FA3-70F4-48D85A770193}"/>
              </a:ext>
            </a:extLst>
          </p:cNvPr>
          <p:cNvCxnSpPr>
            <a:cxnSpLocks/>
          </p:cNvCxnSpPr>
          <p:nvPr/>
        </p:nvCxnSpPr>
        <p:spPr>
          <a:xfrm>
            <a:off x="7347011" y="2041253"/>
            <a:ext cx="44917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3B964B10-B1BE-E592-3D4A-F3D93A6B5FC5}"/>
              </a:ext>
            </a:extLst>
          </p:cNvPr>
          <p:cNvSpPr txBox="1"/>
          <p:nvPr/>
        </p:nvSpPr>
        <p:spPr>
          <a:xfrm>
            <a:off x="8439131" y="1842940"/>
            <a:ext cx="966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Reasoning path decomposition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9AE124FD-0D90-CD93-5F93-4B2956C0C9B5}"/>
              </a:ext>
            </a:extLst>
          </p:cNvPr>
          <p:cNvSpPr txBox="1"/>
          <p:nvPr/>
        </p:nvSpPr>
        <p:spPr>
          <a:xfrm>
            <a:off x="8232266" y="2229607"/>
            <a:ext cx="11925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Interpretation agent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9E36D5D7-0FF9-BD20-0E67-CFD1237112F3}"/>
              </a:ext>
            </a:extLst>
          </p:cNvPr>
          <p:cNvSpPr txBox="1"/>
          <p:nvPr/>
        </p:nvSpPr>
        <p:spPr>
          <a:xfrm>
            <a:off x="8034977" y="2424229"/>
            <a:ext cx="158709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Extract key disease-related biological insights beyond the pathway level</a:t>
            </a:r>
          </a:p>
        </p:txBody>
      </p:sp>
      <p:cxnSp>
        <p:nvCxnSpPr>
          <p:cNvPr id="324" name="Straight Arrow Connector 323">
            <a:extLst>
              <a:ext uri="{FF2B5EF4-FFF2-40B4-BE49-F238E27FC236}">
                <a16:creationId xmlns:a16="http://schemas.microsoft.com/office/drawing/2014/main" id="{FCE9AC59-5AD7-D23C-2A05-BF4CBFCBA2F2}"/>
              </a:ext>
            </a:extLst>
          </p:cNvPr>
          <p:cNvCxnSpPr>
            <a:cxnSpLocks/>
          </p:cNvCxnSpPr>
          <p:nvPr/>
        </p:nvCxnSpPr>
        <p:spPr>
          <a:xfrm>
            <a:off x="9580589" y="2046859"/>
            <a:ext cx="44917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0" name="TextBox 329">
            <a:extLst>
              <a:ext uri="{FF2B5EF4-FFF2-40B4-BE49-F238E27FC236}">
                <a16:creationId xmlns:a16="http://schemas.microsoft.com/office/drawing/2014/main" id="{B8DF48F4-70C0-8345-A58A-31FCD21C0C0F}"/>
              </a:ext>
            </a:extLst>
          </p:cNvPr>
          <p:cNvSpPr txBox="1"/>
          <p:nvPr/>
        </p:nvSpPr>
        <p:spPr>
          <a:xfrm>
            <a:off x="185058" y="87315"/>
            <a:ext cx="309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A</a:t>
            </a:r>
          </a:p>
        </p:txBody>
      </p:sp>
      <p:sp>
        <p:nvSpPr>
          <p:cNvPr id="331" name="Freeform 330">
            <a:extLst>
              <a:ext uri="{FF2B5EF4-FFF2-40B4-BE49-F238E27FC236}">
                <a16:creationId xmlns:a16="http://schemas.microsoft.com/office/drawing/2014/main" id="{568CE6BE-B8CD-6F3B-13E7-C57C2909E006}"/>
              </a:ext>
            </a:extLst>
          </p:cNvPr>
          <p:cNvSpPr/>
          <p:nvPr/>
        </p:nvSpPr>
        <p:spPr>
          <a:xfrm>
            <a:off x="110258" y="115614"/>
            <a:ext cx="11045595" cy="3632776"/>
          </a:xfrm>
          <a:custGeom>
            <a:avLst/>
            <a:gdLst>
              <a:gd name="connsiteX0" fmla="*/ 8798 w 10798247"/>
              <a:gd name="connsiteY0" fmla="*/ 1964787 h 1964787"/>
              <a:gd name="connsiteX1" fmla="*/ 10789450 w 10798247"/>
              <a:gd name="connsiteY1" fmla="*/ 1964787 h 1964787"/>
              <a:gd name="connsiteX2" fmla="*/ 10798248 w 10798247"/>
              <a:gd name="connsiteY2" fmla="*/ 1955993 h 1964787"/>
              <a:gd name="connsiteX3" fmla="*/ 10798248 w 10798247"/>
              <a:gd name="connsiteY3" fmla="*/ 8795 h 1964787"/>
              <a:gd name="connsiteX4" fmla="*/ 10789450 w 10798247"/>
              <a:gd name="connsiteY4" fmla="*/ 0 h 1964787"/>
              <a:gd name="connsiteX5" fmla="*/ 8798 w 10798247"/>
              <a:gd name="connsiteY5" fmla="*/ 0 h 1964787"/>
              <a:gd name="connsiteX6" fmla="*/ 0 w 10798247"/>
              <a:gd name="connsiteY6" fmla="*/ 8795 h 1964787"/>
              <a:gd name="connsiteX7" fmla="*/ 0 w 10798247"/>
              <a:gd name="connsiteY7" fmla="*/ 1955993 h 1964787"/>
              <a:gd name="connsiteX8" fmla="*/ 8798 w 10798247"/>
              <a:gd name="connsiteY8" fmla="*/ 1964787 h 1964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798247" h="1964787">
                <a:moveTo>
                  <a:pt x="8798" y="1964787"/>
                </a:moveTo>
                <a:lnTo>
                  <a:pt x="10789450" y="1964787"/>
                </a:lnTo>
                <a:cubicBezTo>
                  <a:pt x="10795315" y="1964787"/>
                  <a:pt x="10798248" y="1961856"/>
                  <a:pt x="10798248" y="1955993"/>
                </a:cubicBezTo>
                <a:lnTo>
                  <a:pt x="10798248" y="8795"/>
                </a:lnTo>
                <a:cubicBezTo>
                  <a:pt x="10798248" y="2932"/>
                  <a:pt x="10795315" y="0"/>
                  <a:pt x="10789450" y="0"/>
                </a:cubicBezTo>
                <a:lnTo>
                  <a:pt x="8798" y="0"/>
                </a:lnTo>
                <a:cubicBezTo>
                  <a:pt x="2933" y="0"/>
                  <a:pt x="0" y="2932"/>
                  <a:pt x="0" y="8795"/>
                </a:cubicBezTo>
                <a:lnTo>
                  <a:pt x="0" y="1955993"/>
                </a:lnTo>
                <a:cubicBezTo>
                  <a:pt x="0" y="1961856"/>
                  <a:pt x="2933" y="1964787"/>
                  <a:pt x="8798" y="1964787"/>
                </a:cubicBezTo>
                <a:close/>
              </a:path>
            </a:pathLst>
          </a:custGeom>
          <a:noFill/>
          <a:ln w="8514" cap="flat">
            <a:solidFill>
              <a:srgbClr val="5A5A5A"/>
            </a:solidFill>
            <a:prstDash val="solid"/>
            <a:miter/>
          </a:ln>
        </p:spPr>
        <p:txBody>
          <a:bodyPr rtlCol="0" anchor="ctr"/>
          <a:lstStyle/>
          <a:p>
            <a:endParaRPr lang="en-CN" dirty="0"/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AEF23CFC-C1B3-DE2C-0D39-EB98C70ADD08}"/>
              </a:ext>
            </a:extLst>
          </p:cNvPr>
          <p:cNvSpPr txBox="1"/>
          <p:nvPr/>
        </p:nvSpPr>
        <p:spPr>
          <a:xfrm>
            <a:off x="1594481" y="169988"/>
            <a:ext cx="80771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A reliable agentic AI framework for interpretable biological pathway discovery of disease-associated genes</a:t>
            </a: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6FCA7236-259E-878B-5B2C-AD7DC3BDA404}"/>
              </a:ext>
            </a:extLst>
          </p:cNvPr>
          <p:cNvSpPr txBox="1"/>
          <p:nvPr/>
        </p:nvSpPr>
        <p:spPr>
          <a:xfrm>
            <a:off x="9705988" y="2417847"/>
            <a:ext cx="145818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Statistically validated and biologically meaningful pathway hypothesis</a:t>
            </a: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408F5111-B04D-625B-DCB4-D151F4C9BE90}"/>
              </a:ext>
            </a:extLst>
          </p:cNvPr>
          <p:cNvSpPr txBox="1"/>
          <p:nvPr/>
        </p:nvSpPr>
        <p:spPr>
          <a:xfrm>
            <a:off x="4379574" y="1253245"/>
            <a:ext cx="777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Statistical </a:t>
            </a:r>
          </a:p>
          <a:p>
            <a:pPr algn="ctr"/>
            <a:r>
              <a:rPr lang="en-US" sz="1000" b="1" dirty="0"/>
              <a:t>validation</a:t>
            </a:r>
          </a:p>
        </p:txBody>
      </p:sp>
      <p:sp>
        <p:nvSpPr>
          <p:cNvPr id="343" name="Freeform 342">
            <a:extLst>
              <a:ext uri="{FF2B5EF4-FFF2-40B4-BE49-F238E27FC236}">
                <a16:creationId xmlns:a16="http://schemas.microsoft.com/office/drawing/2014/main" id="{F61A7F7B-802A-C743-95FA-A739030EEF4B}"/>
              </a:ext>
            </a:extLst>
          </p:cNvPr>
          <p:cNvSpPr/>
          <p:nvPr/>
        </p:nvSpPr>
        <p:spPr>
          <a:xfrm>
            <a:off x="2126435" y="1289499"/>
            <a:ext cx="1446335" cy="320135"/>
          </a:xfrm>
          <a:custGeom>
            <a:avLst/>
            <a:gdLst>
              <a:gd name="connsiteX0" fmla="*/ 5279 w 1446335"/>
              <a:gd name="connsiteY0" fmla="*/ 320135 h 320135"/>
              <a:gd name="connsiteX1" fmla="*/ 1441057 w 1446335"/>
              <a:gd name="connsiteY1" fmla="*/ 320135 h 320135"/>
              <a:gd name="connsiteX2" fmla="*/ 1446335 w 1446335"/>
              <a:gd name="connsiteY2" fmla="*/ 314858 h 320135"/>
              <a:gd name="connsiteX3" fmla="*/ 1446335 w 1446335"/>
              <a:gd name="connsiteY3" fmla="*/ 5277 h 320135"/>
              <a:gd name="connsiteX4" fmla="*/ 1441057 w 1446335"/>
              <a:gd name="connsiteY4" fmla="*/ 0 h 320135"/>
              <a:gd name="connsiteX5" fmla="*/ 5279 w 1446335"/>
              <a:gd name="connsiteY5" fmla="*/ 0 h 320135"/>
              <a:gd name="connsiteX6" fmla="*/ 0 w 1446335"/>
              <a:gd name="connsiteY6" fmla="*/ 5277 h 320135"/>
              <a:gd name="connsiteX7" fmla="*/ 0 w 1446335"/>
              <a:gd name="connsiteY7" fmla="*/ 314858 h 320135"/>
              <a:gd name="connsiteX8" fmla="*/ 5279 w 1446335"/>
              <a:gd name="connsiteY8" fmla="*/ 320135 h 320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6335" h="320135">
                <a:moveTo>
                  <a:pt x="5279" y="320135"/>
                </a:moveTo>
                <a:lnTo>
                  <a:pt x="1441057" y="320135"/>
                </a:lnTo>
                <a:cubicBezTo>
                  <a:pt x="1444576" y="320135"/>
                  <a:pt x="1446335" y="318376"/>
                  <a:pt x="1446335" y="314858"/>
                </a:cubicBezTo>
                <a:lnTo>
                  <a:pt x="1446335" y="5277"/>
                </a:lnTo>
                <a:cubicBezTo>
                  <a:pt x="1446335" y="1759"/>
                  <a:pt x="1444576" y="0"/>
                  <a:pt x="1441057" y="0"/>
                </a:cubicBezTo>
                <a:lnTo>
                  <a:pt x="5279" y="0"/>
                </a:lnTo>
                <a:cubicBezTo>
                  <a:pt x="1760" y="0"/>
                  <a:pt x="0" y="1759"/>
                  <a:pt x="0" y="5277"/>
                </a:cubicBezTo>
                <a:lnTo>
                  <a:pt x="0" y="314858"/>
                </a:lnTo>
                <a:cubicBezTo>
                  <a:pt x="0" y="318376"/>
                  <a:pt x="1760" y="320135"/>
                  <a:pt x="5279" y="320135"/>
                </a:cubicBezTo>
                <a:close/>
              </a:path>
            </a:pathLst>
          </a:custGeom>
          <a:solidFill>
            <a:srgbClr val="F0F0F0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DA70F0D3-0E9C-E075-776A-3454FA7FACDA}"/>
              </a:ext>
            </a:extLst>
          </p:cNvPr>
          <p:cNvSpPr txBox="1"/>
          <p:nvPr/>
        </p:nvSpPr>
        <p:spPr>
          <a:xfrm>
            <a:off x="2292252" y="1243858"/>
            <a:ext cx="1125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Hypothesis generation</a:t>
            </a: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776EF9D2-1509-B731-13D1-82CC29D87321}"/>
              </a:ext>
            </a:extLst>
          </p:cNvPr>
          <p:cNvSpPr txBox="1"/>
          <p:nvPr/>
        </p:nvSpPr>
        <p:spPr>
          <a:xfrm>
            <a:off x="455562" y="1322149"/>
            <a:ext cx="11258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Input</a:t>
            </a: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54E21A02-E30C-9AD5-26A0-DC15AB404790}"/>
              </a:ext>
            </a:extLst>
          </p:cNvPr>
          <p:cNvSpPr txBox="1"/>
          <p:nvPr/>
        </p:nvSpPr>
        <p:spPr>
          <a:xfrm>
            <a:off x="6363908" y="1243377"/>
            <a:ext cx="777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Biological </a:t>
            </a:r>
          </a:p>
          <a:p>
            <a:pPr algn="ctr"/>
            <a:r>
              <a:rPr lang="en-US" sz="1000" b="1" dirty="0"/>
              <a:t>ranking</a:t>
            </a: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1D5FB11E-2F21-6D42-EE09-F1D5D0CB388D}"/>
              </a:ext>
            </a:extLst>
          </p:cNvPr>
          <p:cNvSpPr txBox="1"/>
          <p:nvPr/>
        </p:nvSpPr>
        <p:spPr>
          <a:xfrm>
            <a:off x="8368307" y="1234348"/>
            <a:ext cx="946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Structured interpretation</a:t>
            </a:r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5C96B3AA-027C-4D99-1BCE-6FEB29737AD8}"/>
              </a:ext>
            </a:extLst>
          </p:cNvPr>
          <p:cNvSpPr txBox="1"/>
          <p:nvPr/>
        </p:nvSpPr>
        <p:spPr>
          <a:xfrm>
            <a:off x="10046312" y="1313108"/>
            <a:ext cx="9466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Output</a:t>
            </a:r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340C398F-D578-9CD4-5E1D-E9FF0AF1D3F5}"/>
              </a:ext>
            </a:extLst>
          </p:cNvPr>
          <p:cNvSpPr txBox="1"/>
          <p:nvPr/>
        </p:nvSpPr>
        <p:spPr>
          <a:xfrm>
            <a:off x="10031562" y="1808446"/>
            <a:ext cx="95135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Pathways </a:t>
            </a:r>
          </a:p>
          <a:p>
            <a:pPr algn="ctr"/>
            <a:r>
              <a:rPr lang="en-US" sz="900" b="1" dirty="0"/>
              <a:t>and biological interpretations</a:t>
            </a: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601A1441-458C-DF43-C7F1-334A4F5A38E8}"/>
              </a:ext>
            </a:extLst>
          </p:cNvPr>
          <p:cNvSpPr txBox="1"/>
          <p:nvPr/>
        </p:nvSpPr>
        <p:spPr>
          <a:xfrm>
            <a:off x="3353935" y="2887410"/>
            <a:ext cx="750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rgbClr val="C00000"/>
                </a:solidFill>
              </a:rPr>
              <a:t>Refined prompt</a:t>
            </a:r>
          </a:p>
        </p:txBody>
      </p:sp>
      <p:sp>
        <p:nvSpPr>
          <p:cNvPr id="355" name="Freeform 354">
            <a:extLst>
              <a:ext uri="{FF2B5EF4-FFF2-40B4-BE49-F238E27FC236}">
                <a16:creationId xmlns:a16="http://schemas.microsoft.com/office/drawing/2014/main" id="{6A53F55E-E755-5263-44FD-3331A6273096}"/>
              </a:ext>
            </a:extLst>
          </p:cNvPr>
          <p:cNvSpPr/>
          <p:nvPr/>
        </p:nvSpPr>
        <p:spPr>
          <a:xfrm>
            <a:off x="327234" y="4300198"/>
            <a:ext cx="2994723" cy="476448"/>
          </a:xfrm>
          <a:custGeom>
            <a:avLst/>
            <a:gdLst>
              <a:gd name="connsiteX0" fmla="*/ 8798 w 2994723"/>
              <a:gd name="connsiteY0" fmla="*/ 654343 h 654342"/>
              <a:gd name="connsiteX1" fmla="*/ 2985926 w 2994723"/>
              <a:gd name="connsiteY1" fmla="*/ 654343 h 654342"/>
              <a:gd name="connsiteX2" fmla="*/ 2994724 w 2994723"/>
              <a:gd name="connsiteY2" fmla="*/ 645548 h 654342"/>
              <a:gd name="connsiteX3" fmla="*/ 2994724 w 2994723"/>
              <a:gd name="connsiteY3" fmla="*/ 8795 h 654342"/>
              <a:gd name="connsiteX4" fmla="*/ 2985926 w 2994723"/>
              <a:gd name="connsiteY4" fmla="*/ 0 h 654342"/>
              <a:gd name="connsiteX5" fmla="*/ 8798 w 2994723"/>
              <a:gd name="connsiteY5" fmla="*/ 0 h 654342"/>
              <a:gd name="connsiteX6" fmla="*/ 0 w 2994723"/>
              <a:gd name="connsiteY6" fmla="*/ 8795 h 654342"/>
              <a:gd name="connsiteX7" fmla="*/ 0 w 2994723"/>
              <a:gd name="connsiteY7" fmla="*/ 645548 h 654342"/>
              <a:gd name="connsiteX8" fmla="*/ 8798 w 2994723"/>
              <a:gd name="connsiteY8" fmla="*/ 654343 h 654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94723" h="654342">
                <a:moveTo>
                  <a:pt x="8798" y="654343"/>
                </a:moveTo>
                <a:lnTo>
                  <a:pt x="2985926" y="654343"/>
                </a:lnTo>
                <a:cubicBezTo>
                  <a:pt x="2991791" y="654343"/>
                  <a:pt x="2994724" y="651411"/>
                  <a:pt x="2994724" y="645548"/>
                </a:cubicBezTo>
                <a:lnTo>
                  <a:pt x="2994724" y="8795"/>
                </a:lnTo>
                <a:cubicBezTo>
                  <a:pt x="2994724" y="2932"/>
                  <a:pt x="2991791" y="0"/>
                  <a:pt x="2985926" y="0"/>
                </a:cubicBezTo>
                <a:lnTo>
                  <a:pt x="8798" y="0"/>
                </a:lnTo>
                <a:cubicBezTo>
                  <a:pt x="2933" y="0"/>
                  <a:pt x="0" y="2932"/>
                  <a:pt x="0" y="8795"/>
                </a:cubicBezTo>
                <a:lnTo>
                  <a:pt x="0" y="645548"/>
                </a:lnTo>
                <a:cubicBezTo>
                  <a:pt x="0" y="651411"/>
                  <a:pt x="2933" y="654343"/>
                  <a:pt x="8798" y="654343"/>
                </a:cubicBezTo>
                <a:close/>
              </a:path>
            </a:pathLst>
          </a:custGeom>
          <a:solidFill>
            <a:srgbClr val="F1F5F8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356" name="Freeform 355">
            <a:extLst>
              <a:ext uri="{FF2B5EF4-FFF2-40B4-BE49-F238E27FC236}">
                <a16:creationId xmlns:a16="http://schemas.microsoft.com/office/drawing/2014/main" id="{58DDB69E-F5E2-FC0D-9BF9-AE570ED7BE3B}"/>
              </a:ext>
            </a:extLst>
          </p:cNvPr>
          <p:cNvSpPr/>
          <p:nvPr/>
        </p:nvSpPr>
        <p:spPr>
          <a:xfrm>
            <a:off x="326909" y="4828542"/>
            <a:ext cx="2994723" cy="581807"/>
          </a:xfrm>
          <a:custGeom>
            <a:avLst/>
            <a:gdLst>
              <a:gd name="connsiteX0" fmla="*/ 8798 w 2994723"/>
              <a:gd name="connsiteY0" fmla="*/ 531214 h 531214"/>
              <a:gd name="connsiteX1" fmla="*/ 2985926 w 2994723"/>
              <a:gd name="connsiteY1" fmla="*/ 531214 h 531214"/>
              <a:gd name="connsiteX2" fmla="*/ 2994724 w 2994723"/>
              <a:gd name="connsiteY2" fmla="*/ 522419 h 531214"/>
              <a:gd name="connsiteX3" fmla="*/ 2994724 w 2994723"/>
              <a:gd name="connsiteY3" fmla="*/ 8795 h 531214"/>
              <a:gd name="connsiteX4" fmla="*/ 2985926 w 2994723"/>
              <a:gd name="connsiteY4" fmla="*/ 0 h 531214"/>
              <a:gd name="connsiteX5" fmla="*/ 8798 w 2994723"/>
              <a:gd name="connsiteY5" fmla="*/ 0 h 531214"/>
              <a:gd name="connsiteX6" fmla="*/ 0 w 2994723"/>
              <a:gd name="connsiteY6" fmla="*/ 8795 h 531214"/>
              <a:gd name="connsiteX7" fmla="*/ 0 w 2994723"/>
              <a:gd name="connsiteY7" fmla="*/ 522419 h 531214"/>
              <a:gd name="connsiteX8" fmla="*/ 8798 w 2994723"/>
              <a:gd name="connsiteY8" fmla="*/ 531214 h 531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94723" h="531214">
                <a:moveTo>
                  <a:pt x="8798" y="531214"/>
                </a:moveTo>
                <a:lnTo>
                  <a:pt x="2985926" y="531214"/>
                </a:lnTo>
                <a:cubicBezTo>
                  <a:pt x="2991791" y="531214"/>
                  <a:pt x="2994724" y="528282"/>
                  <a:pt x="2994724" y="522419"/>
                </a:cubicBezTo>
                <a:lnTo>
                  <a:pt x="2994724" y="8795"/>
                </a:lnTo>
                <a:cubicBezTo>
                  <a:pt x="2994724" y="2932"/>
                  <a:pt x="2991791" y="0"/>
                  <a:pt x="2985926" y="0"/>
                </a:cubicBezTo>
                <a:lnTo>
                  <a:pt x="8798" y="0"/>
                </a:lnTo>
                <a:cubicBezTo>
                  <a:pt x="2933" y="0"/>
                  <a:pt x="0" y="2932"/>
                  <a:pt x="0" y="8795"/>
                </a:cubicBezTo>
                <a:lnTo>
                  <a:pt x="0" y="522419"/>
                </a:lnTo>
                <a:cubicBezTo>
                  <a:pt x="0" y="528282"/>
                  <a:pt x="2933" y="531214"/>
                  <a:pt x="8798" y="531214"/>
                </a:cubicBezTo>
                <a:close/>
              </a:path>
            </a:pathLst>
          </a:custGeom>
          <a:solidFill>
            <a:srgbClr val="F3F7F4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 dirty="0"/>
          </a:p>
        </p:txBody>
      </p:sp>
      <p:sp>
        <p:nvSpPr>
          <p:cNvPr id="357" name="Freeform 356">
            <a:extLst>
              <a:ext uri="{FF2B5EF4-FFF2-40B4-BE49-F238E27FC236}">
                <a16:creationId xmlns:a16="http://schemas.microsoft.com/office/drawing/2014/main" id="{B6182567-CBB6-A365-3EFE-D355FD83206A}"/>
              </a:ext>
            </a:extLst>
          </p:cNvPr>
          <p:cNvSpPr/>
          <p:nvPr/>
        </p:nvSpPr>
        <p:spPr>
          <a:xfrm>
            <a:off x="326909" y="5481546"/>
            <a:ext cx="2994723" cy="472370"/>
          </a:xfrm>
          <a:custGeom>
            <a:avLst/>
            <a:gdLst>
              <a:gd name="connsiteX0" fmla="*/ 8798 w 2994723"/>
              <a:gd name="connsiteY0" fmla="*/ 390495 h 390494"/>
              <a:gd name="connsiteX1" fmla="*/ 2985926 w 2994723"/>
              <a:gd name="connsiteY1" fmla="*/ 390495 h 390494"/>
              <a:gd name="connsiteX2" fmla="*/ 2994724 w 2994723"/>
              <a:gd name="connsiteY2" fmla="*/ 381700 h 390494"/>
              <a:gd name="connsiteX3" fmla="*/ 2994724 w 2994723"/>
              <a:gd name="connsiteY3" fmla="*/ 8795 h 390494"/>
              <a:gd name="connsiteX4" fmla="*/ 2985926 w 2994723"/>
              <a:gd name="connsiteY4" fmla="*/ 0 h 390494"/>
              <a:gd name="connsiteX5" fmla="*/ 8798 w 2994723"/>
              <a:gd name="connsiteY5" fmla="*/ 0 h 390494"/>
              <a:gd name="connsiteX6" fmla="*/ 0 w 2994723"/>
              <a:gd name="connsiteY6" fmla="*/ 8795 h 390494"/>
              <a:gd name="connsiteX7" fmla="*/ 0 w 2994723"/>
              <a:gd name="connsiteY7" fmla="*/ 381700 h 390494"/>
              <a:gd name="connsiteX8" fmla="*/ 8798 w 2994723"/>
              <a:gd name="connsiteY8" fmla="*/ 390495 h 390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94723" h="390494">
                <a:moveTo>
                  <a:pt x="8798" y="390495"/>
                </a:moveTo>
                <a:lnTo>
                  <a:pt x="2985926" y="390495"/>
                </a:lnTo>
                <a:cubicBezTo>
                  <a:pt x="2991791" y="390495"/>
                  <a:pt x="2994724" y="387563"/>
                  <a:pt x="2994724" y="381700"/>
                </a:cubicBezTo>
                <a:lnTo>
                  <a:pt x="2994724" y="8795"/>
                </a:lnTo>
                <a:cubicBezTo>
                  <a:pt x="2994724" y="2931"/>
                  <a:pt x="2991791" y="0"/>
                  <a:pt x="2985926" y="0"/>
                </a:cubicBezTo>
                <a:lnTo>
                  <a:pt x="8798" y="0"/>
                </a:lnTo>
                <a:cubicBezTo>
                  <a:pt x="2933" y="0"/>
                  <a:pt x="0" y="2931"/>
                  <a:pt x="0" y="8795"/>
                </a:cubicBezTo>
                <a:lnTo>
                  <a:pt x="0" y="381700"/>
                </a:lnTo>
                <a:cubicBezTo>
                  <a:pt x="0" y="387563"/>
                  <a:pt x="2933" y="390495"/>
                  <a:pt x="8798" y="390495"/>
                </a:cubicBezTo>
                <a:close/>
              </a:path>
            </a:pathLst>
          </a:custGeom>
          <a:solidFill>
            <a:srgbClr val="FAF7F0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358" name="Freeform 357">
            <a:extLst>
              <a:ext uri="{FF2B5EF4-FFF2-40B4-BE49-F238E27FC236}">
                <a16:creationId xmlns:a16="http://schemas.microsoft.com/office/drawing/2014/main" id="{59924F02-0C1F-B01C-3584-25A4CB790142}"/>
              </a:ext>
            </a:extLst>
          </p:cNvPr>
          <p:cNvSpPr/>
          <p:nvPr/>
        </p:nvSpPr>
        <p:spPr>
          <a:xfrm>
            <a:off x="111486" y="4234740"/>
            <a:ext cx="3360706" cy="15863"/>
          </a:xfrm>
          <a:custGeom>
            <a:avLst/>
            <a:gdLst>
              <a:gd name="connsiteX0" fmla="*/ 0 w 3360706"/>
              <a:gd name="connsiteY0" fmla="*/ 0 h 15863"/>
              <a:gd name="connsiteX1" fmla="*/ 3360706 w 3360706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360706" h="15863">
                <a:moveTo>
                  <a:pt x="0" y="0"/>
                </a:moveTo>
                <a:lnTo>
                  <a:pt x="3360706" y="0"/>
                </a:lnTo>
              </a:path>
            </a:pathLst>
          </a:custGeom>
          <a:noFill/>
          <a:ln w="7095" cap="sq">
            <a:solidFill>
              <a:srgbClr val="5A5A5A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361" name="Freeform 360">
            <a:extLst>
              <a:ext uri="{FF2B5EF4-FFF2-40B4-BE49-F238E27FC236}">
                <a16:creationId xmlns:a16="http://schemas.microsoft.com/office/drawing/2014/main" id="{D62719D9-A8C9-3242-5C08-C6982C1E3FCF}"/>
              </a:ext>
            </a:extLst>
          </p:cNvPr>
          <p:cNvSpPr/>
          <p:nvPr/>
        </p:nvSpPr>
        <p:spPr>
          <a:xfrm>
            <a:off x="798551" y="5705571"/>
            <a:ext cx="337830" cy="197006"/>
          </a:xfrm>
          <a:custGeom>
            <a:avLst/>
            <a:gdLst>
              <a:gd name="connsiteX0" fmla="*/ 12317 w 337830"/>
              <a:gd name="connsiteY0" fmla="*/ 197007 h 197006"/>
              <a:gd name="connsiteX1" fmla="*/ 325513 w 337830"/>
              <a:gd name="connsiteY1" fmla="*/ 197007 h 197006"/>
              <a:gd name="connsiteX2" fmla="*/ 337830 w 337830"/>
              <a:gd name="connsiteY2" fmla="*/ 184694 h 197006"/>
              <a:gd name="connsiteX3" fmla="*/ 337830 w 337830"/>
              <a:gd name="connsiteY3" fmla="*/ 12313 h 197006"/>
              <a:gd name="connsiteX4" fmla="*/ 325513 w 337830"/>
              <a:gd name="connsiteY4" fmla="*/ 0 h 197006"/>
              <a:gd name="connsiteX5" fmla="*/ 12317 w 337830"/>
              <a:gd name="connsiteY5" fmla="*/ 0 h 197006"/>
              <a:gd name="connsiteX6" fmla="*/ 0 w 337830"/>
              <a:gd name="connsiteY6" fmla="*/ 12313 h 197006"/>
              <a:gd name="connsiteX7" fmla="*/ 0 w 337830"/>
              <a:gd name="connsiteY7" fmla="*/ 184694 h 197006"/>
              <a:gd name="connsiteX8" fmla="*/ 12317 w 337830"/>
              <a:gd name="connsiteY8" fmla="*/ 197007 h 197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7830" h="197006">
                <a:moveTo>
                  <a:pt x="12317" y="197007"/>
                </a:moveTo>
                <a:lnTo>
                  <a:pt x="325513" y="197007"/>
                </a:lnTo>
                <a:cubicBezTo>
                  <a:pt x="333725" y="197007"/>
                  <a:pt x="337830" y="192902"/>
                  <a:pt x="337830" y="184694"/>
                </a:cubicBezTo>
                <a:lnTo>
                  <a:pt x="337830" y="12313"/>
                </a:lnTo>
                <a:cubicBezTo>
                  <a:pt x="337830" y="4104"/>
                  <a:pt x="333725" y="0"/>
                  <a:pt x="325513" y="0"/>
                </a:cubicBezTo>
                <a:lnTo>
                  <a:pt x="12317" y="0"/>
                </a:lnTo>
                <a:cubicBezTo>
                  <a:pt x="4106" y="0"/>
                  <a:pt x="0" y="4104"/>
                  <a:pt x="0" y="12313"/>
                </a:cubicBezTo>
                <a:lnTo>
                  <a:pt x="0" y="184694"/>
                </a:lnTo>
                <a:cubicBezTo>
                  <a:pt x="0" y="192902"/>
                  <a:pt x="4106" y="197007"/>
                  <a:pt x="12317" y="197007"/>
                </a:cubicBezTo>
                <a:close/>
              </a:path>
            </a:pathLst>
          </a:custGeom>
          <a:solidFill>
            <a:srgbClr val="FBFCFD"/>
          </a:solidFill>
          <a:ln w="9145" cap="flat">
            <a:solidFill>
              <a:srgbClr val="4E86A8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362" name="Freeform 361">
            <a:extLst>
              <a:ext uri="{FF2B5EF4-FFF2-40B4-BE49-F238E27FC236}">
                <a16:creationId xmlns:a16="http://schemas.microsoft.com/office/drawing/2014/main" id="{79003B06-3EB5-C881-5D11-6BB3D3A5D102}"/>
              </a:ext>
            </a:extLst>
          </p:cNvPr>
          <p:cNvSpPr/>
          <p:nvPr/>
        </p:nvSpPr>
        <p:spPr>
          <a:xfrm>
            <a:off x="1176851" y="5705571"/>
            <a:ext cx="337830" cy="197006"/>
          </a:xfrm>
          <a:custGeom>
            <a:avLst/>
            <a:gdLst>
              <a:gd name="connsiteX0" fmla="*/ 12317 w 337830"/>
              <a:gd name="connsiteY0" fmla="*/ 197007 h 197006"/>
              <a:gd name="connsiteX1" fmla="*/ 325513 w 337830"/>
              <a:gd name="connsiteY1" fmla="*/ 197007 h 197006"/>
              <a:gd name="connsiteX2" fmla="*/ 337830 w 337830"/>
              <a:gd name="connsiteY2" fmla="*/ 184694 h 197006"/>
              <a:gd name="connsiteX3" fmla="*/ 337830 w 337830"/>
              <a:gd name="connsiteY3" fmla="*/ 12313 h 197006"/>
              <a:gd name="connsiteX4" fmla="*/ 325513 w 337830"/>
              <a:gd name="connsiteY4" fmla="*/ 0 h 197006"/>
              <a:gd name="connsiteX5" fmla="*/ 12317 w 337830"/>
              <a:gd name="connsiteY5" fmla="*/ 0 h 197006"/>
              <a:gd name="connsiteX6" fmla="*/ 0 w 337830"/>
              <a:gd name="connsiteY6" fmla="*/ 12313 h 197006"/>
              <a:gd name="connsiteX7" fmla="*/ 0 w 337830"/>
              <a:gd name="connsiteY7" fmla="*/ 184694 h 197006"/>
              <a:gd name="connsiteX8" fmla="*/ 12317 w 337830"/>
              <a:gd name="connsiteY8" fmla="*/ 197007 h 197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7830" h="197006">
                <a:moveTo>
                  <a:pt x="12317" y="197007"/>
                </a:moveTo>
                <a:lnTo>
                  <a:pt x="325513" y="197007"/>
                </a:lnTo>
                <a:cubicBezTo>
                  <a:pt x="333724" y="197007"/>
                  <a:pt x="337830" y="192902"/>
                  <a:pt x="337830" y="184694"/>
                </a:cubicBezTo>
                <a:lnTo>
                  <a:pt x="337830" y="12313"/>
                </a:lnTo>
                <a:cubicBezTo>
                  <a:pt x="337830" y="4104"/>
                  <a:pt x="333724" y="0"/>
                  <a:pt x="325513" y="0"/>
                </a:cubicBezTo>
                <a:lnTo>
                  <a:pt x="12317" y="0"/>
                </a:lnTo>
                <a:cubicBezTo>
                  <a:pt x="4106" y="0"/>
                  <a:pt x="0" y="4104"/>
                  <a:pt x="0" y="12313"/>
                </a:cubicBezTo>
                <a:lnTo>
                  <a:pt x="0" y="184694"/>
                </a:lnTo>
                <a:cubicBezTo>
                  <a:pt x="0" y="192902"/>
                  <a:pt x="4106" y="197007"/>
                  <a:pt x="12317" y="197007"/>
                </a:cubicBezTo>
                <a:close/>
              </a:path>
            </a:pathLst>
          </a:custGeom>
          <a:solidFill>
            <a:srgbClr val="FBFCFD"/>
          </a:solidFill>
          <a:ln w="9145" cap="flat">
            <a:solidFill>
              <a:srgbClr val="4E86A8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363" name="Freeform 362">
            <a:extLst>
              <a:ext uri="{FF2B5EF4-FFF2-40B4-BE49-F238E27FC236}">
                <a16:creationId xmlns:a16="http://schemas.microsoft.com/office/drawing/2014/main" id="{D4C5CF44-B3DD-78AB-0DC4-CBC638C211FD}"/>
              </a:ext>
            </a:extLst>
          </p:cNvPr>
          <p:cNvSpPr/>
          <p:nvPr/>
        </p:nvSpPr>
        <p:spPr>
          <a:xfrm>
            <a:off x="1555150" y="5705571"/>
            <a:ext cx="337830" cy="197006"/>
          </a:xfrm>
          <a:custGeom>
            <a:avLst/>
            <a:gdLst>
              <a:gd name="connsiteX0" fmla="*/ 12317 w 337830"/>
              <a:gd name="connsiteY0" fmla="*/ 197007 h 197006"/>
              <a:gd name="connsiteX1" fmla="*/ 325513 w 337830"/>
              <a:gd name="connsiteY1" fmla="*/ 197007 h 197006"/>
              <a:gd name="connsiteX2" fmla="*/ 337830 w 337830"/>
              <a:gd name="connsiteY2" fmla="*/ 184694 h 197006"/>
              <a:gd name="connsiteX3" fmla="*/ 337830 w 337830"/>
              <a:gd name="connsiteY3" fmla="*/ 12313 h 197006"/>
              <a:gd name="connsiteX4" fmla="*/ 325513 w 337830"/>
              <a:gd name="connsiteY4" fmla="*/ 0 h 197006"/>
              <a:gd name="connsiteX5" fmla="*/ 12317 w 337830"/>
              <a:gd name="connsiteY5" fmla="*/ 0 h 197006"/>
              <a:gd name="connsiteX6" fmla="*/ 0 w 337830"/>
              <a:gd name="connsiteY6" fmla="*/ 12313 h 197006"/>
              <a:gd name="connsiteX7" fmla="*/ 0 w 337830"/>
              <a:gd name="connsiteY7" fmla="*/ 184694 h 197006"/>
              <a:gd name="connsiteX8" fmla="*/ 12317 w 337830"/>
              <a:gd name="connsiteY8" fmla="*/ 197007 h 197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7830" h="197006">
                <a:moveTo>
                  <a:pt x="12317" y="197007"/>
                </a:moveTo>
                <a:lnTo>
                  <a:pt x="325513" y="197007"/>
                </a:lnTo>
                <a:cubicBezTo>
                  <a:pt x="333724" y="197007"/>
                  <a:pt x="337830" y="192902"/>
                  <a:pt x="337830" y="184694"/>
                </a:cubicBezTo>
                <a:lnTo>
                  <a:pt x="337830" y="12313"/>
                </a:lnTo>
                <a:cubicBezTo>
                  <a:pt x="337830" y="4104"/>
                  <a:pt x="333724" y="0"/>
                  <a:pt x="325513" y="0"/>
                </a:cubicBezTo>
                <a:lnTo>
                  <a:pt x="12317" y="0"/>
                </a:lnTo>
                <a:cubicBezTo>
                  <a:pt x="4105" y="0"/>
                  <a:pt x="0" y="4104"/>
                  <a:pt x="0" y="12313"/>
                </a:cubicBezTo>
                <a:lnTo>
                  <a:pt x="0" y="184694"/>
                </a:lnTo>
                <a:cubicBezTo>
                  <a:pt x="0" y="192902"/>
                  <a:pt x="4105" y="197007"/>
                  <a:pt x="12317" y="197007"/>
                </a:cubicBezTo>
                <a:close/>
              </a:path>
            </a:pathLst>
          </a:custGeom>
          <a:solidFill>
            <a:srgbClr val="FBFCFD"/>
          </a:solidFill>
          <a:ln w="9145" cap="flat">
            <a:solidFill>
              <a:srgbClr val="4E86A8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364" name="Freeform 363">
            <a:extLst>
              <a:ext uri="{FF2B5EF4-FFF2-40B4-BE49-F238E27FC236}">
                <a16:creationId xmlns:a16="http://schemas.microsoft.com/office/drawing/2014/main" id="{0B29697E-CA1E-1A35-A191-F13381B9CC08}"/>
              </a:ext>
            </a:extLst>
          </p:cNvPr>
          <p:cNvSpPr/>
          <p:nvPr/>
        </p:nvSpPr>
        <p:spPr>
          <a:xfrm>
            <a:off x="1933449" y="5705571"/>
            <a:ext cx="337830" cy="197006"/>
          </a:xfrm>
          <a:custGeom>
            <a:avLst/>
            <a:gdLst>
              <a:gd name="connsiteX0" fmla="*/ 12317 w 337830"/>
              <a:gd name="connsiteY0" fmla="*/ 197007 h 197006"/>
              <a:gd name="connsiteX1" fmla="*/ 325514 w 337830"/>
              <a:gd name="connsiteY1" fmla="*/ 197007 h 197006"/>
              <a:gd name="connsiteX2" fmla="*/ 337830 w 337830"/>
              <a:gd name="connsiteY2" fmla="*/ 184694 h 197006"/>
              <a:gd name="connsiteX3" fmla="*/ 337830 w 337830"/>
              <a:gd name="connsiteY3" fmla="*/ 12313 h 197006"/>
              <a:gd name="connsiteX4" fmla="*/ 325514 w 337830"/>
              <a:gd name="connsiteY4" fmla="*/ 0 h 197006"/>
              <a:gd name="connsiteX5" fmla="*/ 12317 w 337830"/>
              <a:gd name="connsiteY5" fmla="*/ 0 h 197006"/>
              <a:gd name="connsiteX6" fmla="*/ 0 w 337830"/>
              <a:gd name="connsiteY6" fmla="*/ 12313 h 197006"/>
              <a:gd name="connsiteX7" fmla="*/ 0 w 337830"/>
              <a:gd name="connsiteY7" fmla="*/ 184694 h 197006"/>
              <a:gd name="connsiteX8" fmla="*/ 12317 w 337830"/>
              <a:gd name="connsiteY8" fmla="*/ 197007 h 197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7830" h="197006">
                <a:moveTo>
                  <a:pt x="12317" y="197007"/>
                </a:moveTo>
                <a:lnTo>
                  <a:pt x="325514" y="197007"/>
                </a:lnTo>
                <a:cubicBezTo>
                  <a:pt x="333725" y="197007"/>
                  <a:pt x="337830" y="192902"/>
                  <a:pt x="337830" y="184694"/>
                </a:cubicBezTo>
                <a:lnTo>
                  <a:pt x="337830" y="12313"/>
                </a:lnTo>
                <a:cubicBezTo>
                  <a:pt x="337830" y="4104"/>
                  <a:pt x="333725" y="0"/>
                  <a:pt x="325514" y="0"/>
                </a:cubicBezTo>
                <a:lnTo>
                  <a:pt x="12317" y="0"/>
                </a:lnTo>
                <a:cubicBezTo>
                  <a:pt x="4106" y="0"/>
                  <a:pt x="0" y="4104"/>
                  <a:pt x="0" y="12313"/>
                </a:cubicBezTo>
                <a:lnTo>
                  <a:pt x="0" y="184694"/>
                </a:lnTo>
                <a:cubicBezTo>
                  <a:pt x="0" y="192902"/>
                  <a:pt x="4106" y="197007"/>
                  <a:pt x="12317" y="197007"/>
                </a:cubicBezTo>
                <a:close/>
              </a:path>
            </a:pathLst>
          </a:custGeom>
          <a:solidFill>
            <a:srgbClr val="FBFCFD"/>
          </a:solidFill>
          <a:ln w="9145" cap="flat">
            <a:solidFill>
              <a:srgbClr val="C58A2C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365" name="Freeform 364">
            <a:extLst>
              <a:ext uri="{FF2B5EF4-FFF2-40B4-BE49-F238E27FC236}">
                <a16:creationId xmlns:a16="http://schemas.microsoft.com/office/drawing/2014/main" id="{183E54B0-9A7E-0C9D-D499-6AF705624ED8}"/>
              </a:ext>
            </a:extLst>
          </p:cNvPr>
          <p:cNvSpPr/>
          <p:nvPr/>
        </p:nvSpPr>
        <p:spPr>
          <a:xfrm>
            <a:off x="2311749" y="5705571"/>
            <a:ext cx="337830" cy="197006"/>
          </a:xfrm>
          <a:custGeom>
            <a:avLst/>
            <a:gdLst>
              <a:gd name="connsiteX0" fmla="*/ 12317 w 337830"/>
              <a:gd name="connsiteY0" fmla="*/ 197007 h 197006"/>
              <a:gd name="connsiteX1" fmla="*/ 325513 w 337830"/>
              <a:gd name="connsiteY1" fmla="*/ 197007 h 197006"/>
              <a:gd name="connsiteX2" fmla="*/ 337830 w 337830"/>
              <a:gd name="connsiteY2" fmla="*/ 184694 h 197006"/>
              <a:gd name="connsiteX3" fmla="*/ 337830 w 337830"/>
              <a:gd name="connsiteY3" fmla="*/ 12313 h 197006"/>
              <a:gd name="connsiteX4" fmla="*/ 325513 w 337830"/>
              <a:gd name="connsiteY4" fmla="*/ 0 h 197006"/>
              <a:gd name="connsiteX5" fmla="*/ 12317 w 337830"/>
              <a:gd name="connsiteY5" fmla="*/ 0 h 197006"/>
              <a:gd name="connsiteX6" fmla="*/ 0 w 337830"/>
              <a:gd name="connsiteY6" fmla="*/ 12313 h 197006"/>
              <a:gd name="connsiteX7" fmla="*/ 0 w 337830"/>
              <a:gd name="connsiteY7" fmla="*/ 184694 h 197006"/>
              <a:gd name="connsiteX8" fmla="*/ 12317 w 337830"/>
              <a:gd name="connsiteY8" fmla="*/ 197007 h 197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7830" h="197006">
                <a:moveTo>
                  <a:pt x="12317" y="197007"/>
                </a:moveTo>
                <a:lnTo>
                  <a:pt x="325513" y="197007"/>
                </a:lnTo>
                <a:cubicBezTo>
                  <a:pt x="333724" y="197007"/>
                  <a:pt x="337830" y="192902"/>
                  <a:pt x="337830" y="184694"/>
                </a:cubicBezTo>
                <a:lnTo>
                  <a:pt x="337830" y="12313"/>
                </a:lnTo>
                <a:cubicBezTo>
                  <a:pt x="337830" y="4104"/>
                  <a:pt x="333725" y="0"/>
                  <a:pt x="325513" y="0"/>
                </a:cubicBezTo>
                <a:lnTo>
                  <a:pt x="12317" y="0"/>
                </a:lnTo>
                <a:cubicBezTo>
                  <a:pt x="4106" y="0"/>
                  <a:pt x="0" y="4104"/>
                  <a:pt x="0" y="12313"/>
                </a:cubicBezTo>
                <a:lnTo>
                  <a:pt x="0" y="184694"/>
                </a:lnTo>
                <a:cubicBezTo>
                  <a:pt x="0" y="192902"/>
                  <a:pt x="4106" y="197007"/>
                  <a:pt x="12317" y="197007"/>
                </a:cubicBezTo>
                <a:close/>
              </a:path>
            </a:pathLst>
          </a:custGeom>
          <a:solidFill>
            <a:srgbClr val="FBFCFD"/>
          </a:solidFill>
          <a:ln w="9145" cap="flat">
            <a:solidFill>
              <a:srgbClr val="C55F53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371" name="Freeform 370">
            <a:extLst>
              <a:ext uri="{FF2B5EF4-FFF2-40B4-BE49-F238E27FC236}">
                <a16:creationId xmlns:a16="http://schemas.microsoft.com/office/drawing/2014/main" id="{82D55DEB-8440-C967-0CBA-F25CE6A4BA5A}"/>
              </a:ext>
            </a:extLst>
          </p:cNvPr>
          <p:cNvSpPr/>
          <p:nvPr/>
        </p:nvSpPr>
        <p:spPr>
          <a:xfrm>
            <a:off x="594151" y="5264395"/>
            <a:ext cx="82698" cy="82672"/>
          </a:xfrm>
          <a:custGeom>
            <a:avLst/>
            <a:gdLst>
              <a:gd name="connsiteX0" fmla="*/ 41349 w 82698"/>
              <a:gd name="connsiteY0" fmla="*/ 82672 h 82672"/>
              <a:gd name="connsiteX1" fmla="*/ 70587 w 82698"/>
              <a:gd name="connsiteY1" fmla="*/ 70565 h 82672"/>
              <a:gd name="connsiteX2" fmla="*/ 82698 w 82698"/>
              <a:gd name="connsiteY2" fmla="*/ 41336 h 82672"/>
              <a:gd name="connsiteX3" fmla="*/ 70587 w 82698"/>
              <a:gd name="connsiteY3" fmla="*/ 12107 h 82672"/>
              <a:gd name="connsiteX4" fmla="*/ 41349 w 82698"/>
              <a:gd name="connsiteY4" fmla="*/ 0 h 82672"/>
              <a:gd name="connsiteX5" fmla="*/ 12111 w 82698"/>
              <a:gd name="connsiteY5" fmla="*/ 12107 h 82672"/>
              <a:gd name="connsiteX6" fmla="*/ 0 w 82698"/>
              <a:gd name="connsiteY6" fmla="*/ 41336 h 82672"/>
              <a:gd name="connsiteX7" fmla="*/ 12111 w 82698"/>
              <a:gd name="connsiteY7" fmla="*/ 70565 h 82672"/>
              <a:gd name="connsiteX8" fmla="*/ 41349 w 82698"/>
              <a:gd name="connsiteY8" fmla="*/ 82672 h 82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698" h="82672">
                <a:moveTo>
                  <a:pt x="41349" y="82672"/>
                </a:moveTo>
                <a:cubicBezTo>
                  <a:pt x="52315" y="82672"/>
                  <a:pt x="62833" y="78317"/>
                  <a:pt x="70587" y="70565"/>
                </a:cubicBezTo>
                <a:cubicBezTo>
                  <a:pt x="78341" y="62814"/>
                  <a:pt x="82698" y="52298"/>
                  <a:pt x="82698" y="41336"/>
                </a:cubicBezTo>
                <a:cubicBezTo>
                  <a:pt x="82698" y="30374"/>
                  <a:pt x="78341" y="19858"/>
                  <a:pt x="70587" y="12107"/>
                </a:cubicBezTo>
                <a:cubicBezTo>
                  <a:pt x="62833" y="4355"/>
                  <a:pt x="52315" y="0"/>
                  <a:pt x="41349" y="0"/>
                </a:cubicBezTo>
                <a:cubicBezTo>
                  <a:pt x="30383" y="0"/>
                  <a:pt x="19865" y="4355"/>
                  <a:pt x="12111" y="12107"/>
                </a:cubicBezTo>
                <a:cubicBezTo>
                  <a:pt x="4357" y="19858"/>
                  <a:pt x="0" y="30374"/>
                  <a:pt x="0" y="41336"/>
                </a:cubicBezTo>
                <a:cubicBezTo>
                  <a:pt x="0" y="52298"/>
                  <a:pt x="4357" y="62814"/>
                  <a:pt x="12111" y="70565"/>
                </a:cubicBezTo>
                <a:cubicBezTo>
                  <a:pt x="19865" y="78317"/>
                  <a:pt x="30383" y="82672"/>
                  <a:pt x="41349" y="82672"/>
                </a:cubicBezTo>
                <a:close/>
              </a:path>
            </a:pathLst>
          </a:custGeom>
          <a:solidFill>
            <a:srgbClr val="F9EFEC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392" name="Freeform 391">
            <a:extLst>
              <a:ext uri="{FF2B5EF4-FFF2-40B4-BE49-F238E27FC236}">
                <a16:creationId xmlns:a16="http://schemas.microsoft.com/office/drawing/2014/main" id="{C50EB898-2435-61EC-1747-3071D85F53B4}"/>
              </a:ext>
            </a:extLst>
          </p:cNvPr>
          <p:cNvSpPr/>
          <p:nvPr/>
        </p:nvSpPr>
        <p:spPr>
          <a:xfrm>
            <a:off x="2018493" y="5073548"/>
            <a:ext cx="81818" cy="15863"/>
          </a:xfrm>
          <a:custGeom>
            <a:avLst/>
            <a:gdLst>
              <a:gd name="connsiteX0" fmla="*/ 0 w 81818"/>
              <a:gd name="connsiteY0" fmla="*/ 0 h 15863"/>
              <a:gd name="connsiteX1" fmla="*/ 81818 w 81818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1818" h="15863">
                <a:moveTo>
                  <a:pt x="0" y="0"/>
                </a:moveTo>
                <a:lnTo>
                  <a:pt x="81818" y="0"/>
                </a:lnTo>
              </a:path>
            </a:pathLst>
          </a:custGeom>
          <a:noFill/>
          <a:ln w="12298" cap="rnd">
            <a:solidFill>
              <a:srgbClr val="3A8A69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393" name="Freeform 392">
            <a:extLst>
              <a:ext uri="{FF2B5EF4-FFF2-40B4-BE49-F238E27FC236}">
                <a16:creationId xmlns:a16="http://schemas.microsoft.com/office/drawing/2014/main" id="{97DCBB50-E4BF-C563-4D9F-6330F6A54454}"/>
              </a:ext>
            </a:extLst>
          </p:cNvPr>
          <p:cNvSpPr/>
          <p:nvPr/>
        </p:nvSpPr>
        <p:spPr>
          <a:xfrm>
            <a:off x="2018493" y="5103451"/>
            <a:ext cx="81818" cy="15863"/>
          </a:xfrm>
          <a:custGeom>
            <a:avLst/>
            <a:gdLst>
              <a:gd name="connsiteX0" fmla="*/ 0 w 81818"/>
              <a:gd name="connsiteY0" fmla="*/ 0 h 15863"/>
              <a:gd name="connsiteX1" fmla="*/ 81818 w 81818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1818" h="15863">
                <a:moveTo>
                  <a:pt x="0" y="0"/>
                </a:moveTo>
                <a:lnTo>
                  <a:pt x="81818" y="0"/>
                </a:lnTo>
              </a:path>
            </a:pathLst>
          </a:custGeom>
          <a:noFill/>
          <a:ln w="12298" cap="rnd">
            <a:solidFill>
              <a:srgbClr val="3A8A69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394" name="Freeform 393">
            <a:extLst>
              <a:ext uri="{FF2B5EF4-FFF2-40B4-BE49-F238E27FC236}">
                <a16:creationId xmlns:a16="http://schemas.microsoft.com/office/drawing/2014/main" id="{5CD2A413-1B7E-41A9-BD62-D41E584D1E78}"/>
              </a:ext>
            </a:extLst>
          </p:cNvPr>
          <p:cNvSpPr/>
          <p:nvPr/>
        </p:nvSpPr>
        <p:spPr>
          <a:xfrm>
            <a:off x="2018493" y="5133354"/>
            <a:ext cx="81818" cy="15863"/>
          </a:xfrm>
          <a:custGeom>
            <a:avLst/>
            <a:gdLst>
              <a:gd name="connsiteX0" fmla="*/ 0 w 81818"/>
              <a:gd name="connsiteY0" fmla="*/ 0 h 15863"/>
              <a:gd name="connsiteX1" fmla="*/ 81818 w 81818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1818" h="15863">
                <a:moveTo>
                  <a:pt x="0" y="0"/>
                </a:moveTo>
                <a:lnTo>
                  <a:pt x="81818" y="0"/>
                </a:lnTo>
              </a:path>
            </a:pathLst>
          </a:custGeom>
          <a:noFill/>
          <a:ln w="12298" cap="rnd">
            <a:solidFill>
              <a:srgbClr val="3A8A69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396" name="Freeform 395">
            <a:extLst>
              <a:ext uri="{FF2B5EF4-FFF2-40B4-BE49-F238E27FC236}">
                <a16:creationId xmlns:a16="http://schemas.microsoft.com/office/drawing/2014/main" id="{23F4F35D-FA8B-E28E-397C-9867BF7FFF10}"/>
              </a:ext>
            </a:extLst>
          </p:cNvPr>
          <p:cNvSpPr/>
          <p:nvPr/>
        </p:nvSpPr>
        <p:spPr>
          <a:xfrm>
            <a:off x="605588" y="5305734"/>
            <a:ext cx="59824" cy="15863"/>
          </a:xfrm>
          <a:custGeom>
            <a:avLst/>
            <a:gdLst>
              <a:gd name="connsiteX0" fmla="*/ 0 w 59824"/>
              <a:gd name="connsiteY0" fmla="*/ 0 h 15863"/>
              <a:gd name="connsiteX1" fmla="*/ 59824 w 59824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9824" h="15863">
                <a:moveTo>
                  <a:pt x="0" y="0"/>
                </a:moveTo>
                <a:lnTo>
                  <a:pt x="59824" y="0"/>
                </a:lnTo>
              </a:path>
            </a:pathLst>
          </a:custGeom>
          <a:noFill/>
          <a:ln w="18131" cap="rnd">
            <a:solidFill>
              <a:srgbClr val="C58A2C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397" name="Freeform 396">
            <a:extLst>
              <a:ext uri="{FF2B5EF4-FFF2-40B4-BE49-F238E27FC236}">
                <a16:creationId xmlns:a16="http://schemas.microsoft.com/office/drawing/2014/main" id="{396F9A8B-FCB8-C77B-711B-54DC6D475E17}"/>
              </a:ext>
            </a:extLst>
          </p:cNvPr>
          <p:cNvSpPr/>
          <p:nvPr/>
        </p:nvSpPr>
        <p:spPr>
          <a:xfrm>
            <a:off x="635500" y="5275831"/>
            <a:ext cx="15766" cy="59805"/>
          </a:xfrm>
          <a:custGeom>
            <a:avLst/>
            <a:gdLst>
              <a:gd name="connsiteX0" fmla="*/ 0 w 15766"/>
              <a:gd name="connsiteY0" fmla="*/ 59806 h 59805"/>
              <a:gd name="connsiteX1" fmla="*/ 0 w 15766"/>
              <a:gd name="connsiteY1" fmla="*/ 0 h 59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766" h="59805">
                <a:moveTo>
                  <a:pt x="0" y="59806"/>
                </a:moveTo>
                <a:lnTo>
                  <a:pt x="0" y="0"/>
                </a:lnTo>
              </a:path>
            </a:pathLst>
          </a:custGeom>
          <a:noFill/>
          <a:ln w="18131" cap="rnd">
            <a:solidFill>
              <a:srgbClr val="C58A2C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399" name="Freeform 398">
            <a:extLst>
              <a:ext uri="{FF2B5EF4-FFF2-40B4-BE49-F238E27FC236}">
                <a16:creationId xmlns:a16="http://schemas.microsoft.com/office/drawing/2014/main" id="{4B86B7EB-FFE4-664C-D782-5394BD75ED29}"/>
              </a:ext>
            </a:extLst>
          </p:cNvPr>
          <p:cNvSpPr/>
          <p:nvPr/>
        </p:nvSpPr>
        <p:spPr>
          <a:xfrm>
            <a:off x="2025534" y="5283744"/>
            <a:ext cx="70381" cy="3518"/>
          </a:xfrm>
          <a:custGeom>
            <a:avLst/>
            <a:gdLst>
              <a:gd name="connsiteX0" fmla="*/ 0 w 70381"/>
              <a:gd name="connsiteY0" fmla="*/ 0 h 3518"/>
              <a:gd name="connsiteX1" fmla="*/ 70381 w 70381"/>
              <a:gd name="connsiteY1" fmla="*/ 3518 h 3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0381" h="3518">
                <a:moveTo>
                  <a:pt x="0" y="0"/>
                </a:moveTo>
                <a:lnTo>
                  <a:pt x="70381" y="3518"/>
                </a:lnTo>
              </a:path>
            </a:pathLst>
          </a:custGeom>
          <a:noFill/>
          <a:ln w="10721" cap="sq">
            <a:solidFill>
              <a:srgbClr val="606A90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00" name="Freeform 399">
            <a:extLst>
              <a:ext uri="{FF2B5EF4-FFF2-40B4-BE49-F238E27FC236}">
                <a16:creationId xmlns:a16="http://schemas.microsoft.com/office/drawing/2014/main" id="{56CBF5A9-6951-46DA-D899-9A1375774BE7}"/>
              </a:ext>
            </a:extLst>
          </p:cNvPr>
          <p:cNvSpPr/>
          <p:nvPr/>
        </p:nvSpPr>
        <p:spPr>
          <a:xfrm>
            <a:off x="2064243" y="5287262"/>
            <a:ext cx="31671" cy="54528"/>
          </a:xfrm>
          <a:custGeom>
            <a:avLst/>
            <a:gdLst>
              <a:gd name="connsiteX0" fmla="*/ 31672 w 31671"/>
              <a:gd name="connsiteY0" fmla="*/ 0 h 54528"/>
              <a:gd name="connsiteX1" fmla="*/ 0 w 31671"/>
              <a:gd name="connsiteY1" fmla="*/ 54529 h 5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671" h="54528">
                <a:moveTo>
                  <a:pt x="31672" y="0"/>
                </a:moveTo>
                <a:lnTo>
                  <a:pt x="0" y="54529"/>
                </a:lnTo>
              </a:path>
            </a:pathLst>
          </a:custGeom>
          <a:noFill/>
          <a:ln w="10721" cap="sq">
            <a:solidFill>
              <a:srgbClr val="606A90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01" name="Freeform 400">
            <a:extLst>
              <a:ext uri="{FF2B5EF4-FFF2-40B4-BE49-F238E27FC236}">
                <a16:creationId xmlns:a16="http://schemas.microsoft.com/office/drawing/2014/main" id="{5D263202-40C1-DD89-FB54-6B6CBA3187D4}"/>
              </a:ext>
            </a:extLst>
          </p:cNvPr>
          <p:cNvSpPr/>
          <p:nvPr/>
        </p:nvSpPr>
        <p:spPr>
          <a:xfrm>
            <a:off x="2025534" y="5283744"/>
            <a:ext cx="38709" cy="58046"/>
          </a:xfrm>
          <a:custGeom>
            <a:avLst/>
            <a:gdLst>
              <a:gd name="connsiteX0" fmla="*/ 38710 w 38709"/>
              <a:gd name="connsiteY0" fmla="*/ 58047 h 58046"/>
              <a:gd name="connsiteX1" fmla="*/ 0 w 38709"/>
              <a:gd name="connsiteY1" fmla="*/ 0 h 58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8709" h="58046">
                <a:moveTo>
                  <a:pt x="38710" y="58047"/>
                </a:moveTo>
                <a:lnTo>
                  <a:pt x="0" y="0"/>
                </a:lnTo>
              </a:path>
            </a:pathLst>
          </a:custGeom>
          <a:noFill/>
          <a:ln w="10721" cap="sq">
            <a:solidFill>
              <a:srgbClr val="606A90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03" name="Freeform 402">
            <a:extLst>
              <a:ext uri="{FF2B5EF4-FFF2-40B4-BE49-F238E27FC236}">
                <a16:creationId xmlns:a16="http://schemas.microsoft.com/office/drawing/2014/main" id="{73A3CA0B-24D9-2EA3-8225-51BF7928A558}"/>
              </a:ext>
            </a:extLst>
          </p:cNvPr>
          <p:cNvSpPr/>
          <p:nvPr/>
        </p:nvSpPr>
        <p:spPr>
          <a:xfrm>
            <a:off x="855149" y="5772665"/>
            <a:ext cx="224634" cy="49197"/>
          </a:xfrm>
          <a:custGeom>
            <a:avLst/>
            <a:gdLst>
              <a:gd name="connsiteX0" fmla="*/ 45068 w 224634"/>
              <a:gd name="connsiteY0" fmla="*/ 44747 h 49197"/>
              <a:gd name="connsiteX1" fmla="*/ 35634 w 224634"/>
              <a:gd name="connsiteY1" fmla="*/ 48090 h 49197"/>
              <a:gd name="connsiteX2" fmla="*/ 25534 w 224634"/>
              <a:gd name="connsiteY2" fmla="*/ 49198 h 49197"/>
              <a:gd name="connsiteX3" fmla="*/ 6878 w 224634"/>
              <a:gd name="connsiteY3" fmla="*/ 42572 h 49197"/>
              <a:gd name="connsiteX4" fmla="*/ 0 w 224634"/>
              <a:gd name="connsiteY4" fmla="*/ 24614 h 49197"/>
              <a:gd name="connsiteX5" fmla="*/ 7000 w 224634"/>
              <a:gd name="connsiteY5" fmla="*/ 6575 h 49197"/>
              <a:gd name="connsiteX6" fmla="*/ 26200 w 224634"/>
              <a:gd name="connsiteY6" fmla="*/ 0 h 49197"/>
              <a:gd name="connsiteX7" fmla="*/ 35200 w 224634"/>
              <a:gd name="connsiteY7" fmla="*/ 894 h 49197"/>
              <a:gd name="connsiteX8" fmla="*/ 43331 w 224634"/>
              <a:gd name="connsiteY8" fmla="*/ 3526 h 49197"/>
              <a:gd name="connsiteX9" fmla="*/ 43331 w 224634"/>
              <a:gd name="connsiteY9" fmla="*/ 13333 h 49197"/>
              <a:gd name="connsiteX10" fmla="*/ 35493 w 224634"/>
              <a:gd name="connsiteY10" fmla="*/ 9980 h 49197"/>
              <a:gd name="connsiteX11" fmla="*/ 27675 w 224634"/>
              <a:gd name="connsiteY11" fmla="*/ 8862 h 49197"/>
              <a:gd name="connsiteX12" fmla="*/ 16494 w 224634"/>
              <a:gd name="connsiteY12" fmla="*/ 12947 h 49197"/>
              <a:gd name="connsiteX13" fmla="*/ 12565 w 224634"/>
              <a:gd name="connsiteY13" fmla="*/ 24614 h 49197"/>
              <a:gd name="connsiteX14" fmla="*/ 16353 w 224634"/>
              <a:gd name="connsiteY14" fmla="*/ 36240 h 49197"/>
              <a:gd name="connsiteX15" fmla="*/ 27109 w 224634"/>
              <a:gd name="connsiteY15" fmla="*/ 40336 h 49197"/>
              <a:gd name="connsiteX16" fmla="*/ 30634 w 224634"/>
              <a:gd name="connsiteY16" fmla="*/ 40102 h 49197"/>
              <a:gd name="connsiteX17" fmla="*/ 33553 w 224634"/>
              <a:gd name="connsiteY17" fmla="*/ 39350 h 49197"/>
              <a:gd name="connsiteX18" fmla="*/ 33553 w 224634"/>
              <a:gd name="connsiteY18" fmla="*/ 30143 h 49197"/>
              <a:gd name="connsiteX19" fmla="*/ 26130 w 224634"/>
              <a:gd name="connsiteY19" fmla="*/ 30143 h 49197"/>
              <a:gd name="connsiteX20" fmla="*/ 26130 w 224634"/>
              <a:gd name="connsiteY20" fmla="*/ 21942 h 49197"/>
              <a:gd name="connsiteX21" fmla="*/ 45068 w 224634"/>
              <a:gd name="connsiteY21" fmla="*/ 21942 h 49197"/>
              <a:gd name="connsiteX22" fmla="*/ 45068 w 224634"/>
              <a:gd name="connsiteY22" fmla="*/ 44747 h 49197"/>
              <a:gd name="connsiteX23" fmla="*/ 77299 w 224634"/>
              <a:gd name="connsiteY23" fmla="*/ 8862 h 49197"/>
              <a:gd name="connsiteX24" fmla="*/ 68684 w 224634"/>
              <a:gd name="connsiteY24" fmla="*/ 12988 h 49197"/>
              <a:gd name="connsiteX25" fmla="*/ 65623 w 224634"/>
              <a:gd name="connsiteY25" fmla="*/ 24614 h 49197"/>
              <a:gd name="connsiteX26" fmla="*/ 68684 w 224634"/>
              <a:gd name="connsiteY26" fmla="*/ 36210 h 49197"/>
              <a:gd name="connsiteX27" fmla="*/ 77299 w 224634"/>
              <a:gd name="connsiteY27" fmla="*/ 40336 h 49197"/>
              <a:gd name="connsiteX28" fmla="*/ 85945 w 224634"/>
              <a:gd name="connsiteY28" fmla="*/ 36210 h 49197"/>
              <a:gd name="connsiteX29" fmla="*/ 89006 w 224634"/>
              <a:gd name="connsiteY29" fmla="*/ 24614 h 49197"/>
              <a:gd name="connsiteX30" fmla="*/ 85945 w 224634"/>
              <a:gd name="connsiteY30" fmla="*/ 12988 h 49197"/>
              <a:gd name="connsiteX31" fmla="*/ 77299 w 224634"/>
              <a:gd name="connsiteY31" fmla="*/ 8862 h 49197"/>
              <a:gd name="connsiteX32" fmla="*/ 77299 w 224634"/>
              <a:gd name="connsiteY32" fmla="*/ 0 h 49197"/>
              <a:gd name="connsiteX33" fmla="*/ 95096 w 224634"/>
              <a:gd name="connsiteY33" fmla="*/ 6545 h 49197"/>
              <a:gd name="connsiteX34" fmla="*/ 101540 w 224634"/>
              <a:gd name="connsiteY34" fmla="*/ 24614 h 49197"/>
              <a:gd name="connsiteX35" fmla="*/ 95096 w 224634"/>
              <a:gd name="connsiteY35" fmla="*/ 42653 h 49197"/>
              <a:gd name="connsiteX36" fmla="*/ 77299 w 224634"/>
              <a:gd name="connsiteY36" fmla="*/ 49198 h 49197"/>
              <a:gd name="connsiteX37" fmla="*/ 59513 w 224634"/>
              <a:gd name="connsiteY37" fmla="*/ 42653 h 49197"/>
              <a:gd name="connsiteX38" fmla="*/ 53059 w 224634"/>
              <a:gd name="connsiteY38" fmla="*/ 24614 h 49197"/>
              <a:gd name="connsiteX39" fmla="*/ 59513 w 224634"/>
              <a:gd name="connsiteY39" fmla="*/ 6545 h 49197"/>
              <a:gd name="connsiteX40" fmla="*/ 77299 w 224634"/>
              <a:gd name="connsiteY40" fmla="*/ 0 h 49197"/>
              <a:gd name="connsiteX41" fmla="*/ 112021 w 224634"/>
              <a:gd name="connsiteY41" fmla="*/ 12703 h 49197"/>
              <a:gd name="connsiteX42" fmla="*/ 123414 w 224634"/>
              <a:gd name="connsiteY42" fmla="*/ 12703 h 49197"/>
              <a:gd name="connsiteX43" fmla="*/ 123414 w 224634"/>
              <a:gd name="connsiteY43" fmla="*/ 24990 h 49197"/>
              <a:gd name="connsiteX44" fmla="*/ 112021 w 224634"/>
              <a:gd name="connsiteY44" fmla="*/ 24990 h 49197"/>
              <a:gd name="connsiteX45" fmla="*/ 112021 w 224634"/>
              <a:gd name="connsiteY45" fmla="*/ 12703 h 49197"/>
              <a:gd name="connsiteX46" fmla="*/ 112021 w 224634"/>
              <a:gd name="connsiteY46" fmla="*/ 35987 h 49197"/>
              <a:gd name="connsiteX47" fmla="*/ 123414 w 224634"/>
              <a:gd name="connsiteY47" fmla="*/ 35987 h 49197"/>
              <a:gd name="connsiteX48" fmla="*/ 123414 w 224634"/>
              <a:gd name="connsiteY48" fmla="*/ 48273 h 49197"/>
              <a:gd name="connsiteX49" fmla="*/ 112021 w 224634"/>
              <a:gd name="connsiteY49" fmla="*/ 48273 h 49197"/>
              <a:gd name="connsiteX50" fmla="*/ 112021 w 224634"/>
              <a:gd name="connsiteY50" fmla="*/ 35987 h 49197"/>
              <a:gd name="connsiteX51" fmla="*/ 155446 w 224634"/>
              <a:gd name="connsiteY51" fmla="*/ 19218 h 49197"/>
              <a:gd name="connsiteX52" fmla="*/ 159799 w 224634"/>
              <a:gd name="connsiteY52" fmla="*/ 17948 h 49197"/>
              <a:gd name="connsiteX53" fmla="*/ 161284 w 224634"/>
              <a:gd name="connsiteY53" fmla="*/ 14198 h 49197"/>
              <a:gd name="connsiteX54" fmla="*/ 159799 w 224634"/>
              <a:gd name="connsiteY54" fmla="*/ 10468 h 49197"/>
              <a:gd name="connsiteX55" fmla="*/ 155446 w 224634"/>
              <a:gd name="connsiteY55" fmla="*/ 9177 h 49197"/>
              <a:gd name="connsiteX56" fmla="*/ 148729 w 224634"/>
              <a:gd name="connsiteY56" fmla="*/ 9177 h 49197"/>
              <a:gd name="connsiteX57" fmla="*/ 148729 w 224634"/>
              <a:gd name="connsiteY57" fmla="*/ 19218 h 49197"/>
              <a:gd name="connsiteX58" fmla="*/ 155446 w 224634"/>
              <a:gd name="connsiteY58" fmla="*/ 19218 h 49197"/>
              <a:gd name="connsiteX59" fmla="*/ 155860 w 224634"/>
              <a:gd name="connsiteY59" fmla="*/ 39950 h 49197"/>
              <a:gd name="connsiteX60" fmla="*/ 161365 w 224634"/>
              <a:gd name="connsiteY60" fmla="*/ 38395 h 49197"/>
              <a:gd name="connsiteX61" fmla="*/ 163213 w 224634"/>
              <a:gd name="connsiteY61" fmla="*/ 33700 h 49197"/>
              <a:gd name="connsiteX62" fmla="*/ 161385 w 224634"/>
              <a:gd name="connsiteY62" fmla="*/ 29076 h 49197"/>
              <a:gd name="connsiteX63" fmla="*/ 155860 w 224634"/>
              <a:gd name="connsiteY63" fmla="*/ 27531 h 49197"/>
              <a:gd name="connsiteX64" fmla="*/ 148729 w 224634"/>
              <a:gd name="connsiteY64" fmla="*/ 27531 h 49197"/>
              <a:gd name="connsiteX65" fmla="*/ 148729 w 224634"/>
              <a:gd name="connsiteY65" fmla="*/ 39950 h 49197"/>
              <a:gd name="connsiteX66" fmla="*/ 155860 w 224634"/>
              <a:gd name="connsiteY66" fmla="*/ 39950 h 49197"/>
              <a:gd name="connsiteX67" fmla="*/ 167162 w 224634"/>
              <a:gd name="connsiteY67" fmla="*/ 22897 h 49197"/>
              <a:gd name="connsiteX68" fmla="*/ 173212 w 224634"/>
              <a:gd name="connsiteY68" fmla="*/ 27125 h 49197"/>
              <a:gd name="connsiteX69" fmla="*/ 175364 w 224634"/>
              <a:gd name="connsiteY69" fmla="*/ 34676 h 49197"/>
              <a:gd name="connsiteX70" fmla="*/ 170758 w 224634"/>
              <a:gd name="connsiteY70" fmla="*/ 44910 h 49197"/>
              <a:gd name="connsiteX71" fmla="*/ 156739 w 224634"/>
              <a:gd name="connsiteY71" fmla="*/ 48273 h 49197"/>
              <a:gd name="connsiteX72" fmla="*/ 136578 w 224634"/>
              <a:gd name="connsiteY72" fmla="*/ 48273 h 49197"/>
              <a:gd name="connsiteX73" fmla="*/ 136578 w 224634"/>
              <a:gd name="connsiteY73" fmla="*/ 854 h 49197"/>
              <a:gd name="connsiteX74" fmla="*/ 154820 w 224634"/>
              <a:gd name="connsiteY74" fmla="*/ 854 h 49197"/>
              <a:gd name="connsiteX75" fmla="*/ 169041 w 224634"/>
              <a:gd name="connsiteY75" fmla="*/ 3842 h 49197"/>
              <a:gd name="connsiteX76" fmla="*/ 173445 w 224634"/>
              <a:gd name="connsiteY76" fmla="*/ 13405 h 49197"/>
              <a:gd name="connsiteX77" fmla="*/ 171829 w 224634"/>
              <a:gd name="connsiteY77" fmla="*/ 19289 h 49197"/>
              <a:gd name="connsiteX78" fmla="*/ 167162 w 224634"/>
              <a:gd name="connsiteY78" fmla="*/ 22897 h 49197"/>
              <a:gd name="connsiteX79" fmla="*/ 185849 w 224634"/>
              <a:gd name="connsiteY79" fmla="*/ 854 h 49197"/>
              <a:gd name="connsiteX80" fmla="*/ 206010 w 224634"/>
              <a:gd name="connsiteY80" fmla="*/ 854 h 49197"/>
              <a:gd name="connsiteX81" fmla="*/ 219817 w 224634"/>
              <a:gd name="connsiteY81" fmla="*/ 4878 h 49197"/>
              <a:gd name="connsiteX82" fmla="*/ 224635 w 224634"/>
              <a:gd name="connsiteY82" fmla="*/ 16321 h 49197"/>
              <a:gd name="connsiteX83" fmla="*/ 219817 w 224634"/>
              <a:gd name="connsiteY83" fmla="*/ 27805 h 49197"/>
              <a:gd name="connsiteX84" fmla="*/ 206010 w 224634"/>
              <a:gd name="connsiteY84" fmla="*/ 31820 h 49197"/>
              <a:gd name="connsiteX85" fmla="*/ 198000 w 224634"/>
              <a:gd name="connsiteY85" fmla="*/ 31820 h 49197"/>
              <a:gd name="connsiteX86" fmla="*/ 198000 w 224634"/>
              <a:gd name="connsiteY86" fmla="*/ 48273 h 49197"/>
              <a:gd name="connsiteX87" fmla="*/ 185849 w 224634"/>
              <a:gd name="connsiteY87" fmla="*/ 48273 h 49197"/>
              <a:gd name="connsiteX88" fmla="*/ 185849 w 224634"/>
              <a:gd name="connsiteY88" fmla="*/ 854 h 49197"/>
              <a:gd name="connsiteX89" fmla="*/ 198000 w 224634"/>
              <a:gd name="connsiteY89" fmla="*/ 9715 h 49197"/>
              <a:gd name="connsiteX90" fmla="*/ 198000 w 224634"/>
              <a:gd name="connsiteY90" fmla="*/ 22958 h 49197"/>
              <a:gd name="connsiteX91" fmla="*/ 204717 w 224634"/>
              <a:gd name="connsiteY91" fmla="*/ 22958 h 49197"/>
              <a:gd name="connsiteX92" fmla="*/ 210181 w 224634"/>
              <a:gd name="connsiteY92" fmla="*/ 21230 h 49197"/>
              <a:gd name="connsiteX93" fmla="*/ 212110 w 224634"/>
              <a:gd name="connsiteY93" fmla="*/ 16321 h 49197"/>
              <a:gd name="connsiteX94" fmla="*/ 210181 w 224634"/>
              <a:gd name="connsiteY94" fmla="*/ 11433 h 49197"/>
              <a:gd name="connsiteX95" fmla="*/ 204717 w 224634"/>
              <a:gd name="connsiteY95" fmla="*/ 9715 h 49197"/>
              <a:gd name="connsiteX96" fmla="*/ 198000 w 224634"/>
              <a:gd name="connsiteY96" fmla="*/ 9715 h 49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224634" h="49197">
                <a:moveTo>
                  <a:pt x="45068" y="44747"/>
                </a:moveTo>
                <a:cubicBezTo>
                  <a:pt x="42038" y="46231"/>
                  <a:pt x="38893" y="47345"/>
                  <a:pt x="35634" y="48090"/>
                </a:cubicBezTo>
                <a:cubicBezTo>
                  <a:pt x="32375" y="48829"/>
                  <a:pt x="29008" y="49198"/>
                  <a:pt x="25534" y="49198"/>
                </a:cubicBezTo>
                <a:cubicBezTo>
                  <a:pt x="17682" y="49198"/>
                  <a:pt x="11464" y="46989"/>
                  <a:pt x="6878" y="42572"/>
                </a:cubicBezTo>
                <a:cubicBezTo>
                  <a:pt x="2293" y="38155"/>
                  <a:pt x="0" y="32169"/>
                  <a:pt x="0" y="24614"/>
                </a:cubicBezTo>
                <a:cubicBezTo>
                  <a:pt x="0" y="16972"/>
                  <a:pt x="2333" y="10959"/>
                  <a:pt x="7000" y="6575"/>
                </a:cubicBezTo>
                <a:cubicBezTo>
                  <a:pt x="11673" y="2192"/>
                  <a:pt x="18073" y="0"/>
                  <a:pt x="26200" y="0"/>
                </a:cubicBezTo>
                <a:cubicBezTo>
                  <a:pt x="29331" y="0"/>
                  <a:pt x="32331" y="298"/>
                  <a:pt x="35200" y="894"/>
                </a:cubicBezTo>
                <a:cubicBezTo>
                  <a:pt x="38075" y="1484"/>
                  <a:pt x="40785" y="2361"/>
                  <a:pt x="43331" y="3526"/>
                </a:cubicBezTo>
                <a:lnTo>
                  <a:pt x="43331" y="13333"/>
                </a:lnTo>
                <a:cubicBezTo>
                  <a:pt x="40704" y="11836"/>
                  <a:pt x="38092" y="10718"/>
                  <a:pt x="35493" y="9980"/>
                </a:cubicBezTo>
                <a:cubicBezTo>
                  <a:pt x="32894" y="9235"/>
                  <a:pt x="30288" y="8862"/>
                  <a:pt x="27675" y="8862"/>
                </a:cubicBezTo>
                <a:cubicBezTo>
                  <a:pt x="22840" y="8862"/>
                  <a:pt x="19113" y="10224"/>
                  <a:pt x="16494" y="12947"/>
                </a:cubicBezTo>
                <a:cubicBezTo>
                  <a:pt x="13875" y="15664"/>
                  <a:pt x="12565" y="19553"/>
                  <a:pt x="12565" y="24614"/>
                </a:cubicBezTo>
                <a:cubicBezTo>
                  <a:pt x="12565" y="29628"/>
                  <a:pt x="13827" y="33504"/>
                  <a:pt x="16353" y="36240"/>
                </a:cubicBezTo>
                <a:cubicBezTo>
                  <a:pt x="18878" y="38971"/>
                  <a:pt x="22463" y="40336"/>
                  <a:pt x="27109" y="40336"/>
                </a:cubicBezTo>
                <a:cubicBezTo>
                  <a:pt x="28375" y="40336"/>
                  <a:pt x="29550" y="40258"/>
                  <a:pt x="30634" y="40102"/>
                </a:cubicBezTo>
                <a:cubicBezTo>
                  <a:pt x="31719" y="39940"/>
                  <a:pt x="32692" y="39689"/>
                  <a:pt x="33553" y="39350"/>
                </a:cubicBezTo>
                <a:lnTo>
                  <a:pt x="33553" y="30143"/>
                </a:lnTo>
                <a:lnTo>
                  <a:pt x="26130" y="30143"/>
                </a:lnTo>
                <a:lnTo>
                  <a:pt x="26130" y="21942"/>
                </a:lnTo>
                <a:lnTo>
                  <a:pt x="45068" y="21942"/>
                </a:lnTo>
                <a:lnTo>
                  <a:pt x="45068" y="44747"/>
                </a:lnTo>
                <a:close/>
                <a:moveTo>
                  <a:pt x="77299" y="8862"/>
                </a:moveTo>
                <a:cubicBezTo>
                  <a:pt x="73596" y="8862"/>
                  <a:pt x="70724" y="10237"/>
                  <a:pt x="68684" y="12988"/>
                </a:cubicBezTo>
                <a:cubicBezTo>
                  <a:pt x="66644" y="15739"/>
                  <a:pt x="65623" y="19614"/>
                  <a:pt x="65623" y="24614"/>
                </a:cubicBezTo>
                <a:cubicBezTo>
                  <a:pt x="65623" y="29587"/>
                  <a:pt x="66644" y="33453"/>
                  <a:pt x="68684" y="36210"/>
                </a:cubicBezTo>
                <a:cubicBezTo>
                  <a:pt x="70724" y="38961"/>
                  <a:pt x="73596" y="40336"/>
                  <a:pt x="77299" y="40336"/>
                </a:cubicBezTo>
                <a:cubicBezTo>
                  <a:pt x="81023" y="40336"/>
                  <a:pt x="83905" y="38961"/>
                  <a:pt x="85945" y="36210"/>
                </a:cubicBezTo>
                <a:cubicBezTo>
                  <a:pt x="87986" y="33452"/>
                  <a:pt x="89006" y="29587"/>
                  <a:pt x="89006" y="24614"/>
                </a:cubicBezTo>
                <a:cubicBezTo>
                  <a:pt x="89006" y="19614"/>
                  <a:pt x="87986" y="15739"/>
                  <a:pt x="85945" y="12988"/>
                </a:cubicBezTo>
                <a:cubicBezTo>
                  <a:pt x="83905" y="10237"/>
                  <a:pt x="81023" y="8862"/>
                  <a:pt x="77299" y="8862"/>
                </a:cubicBezTo>
                <a:close/>
                <a:moveTo>
                  <a:pt x="77299" y="0"/>
                </a:moveTo>
                <a:cubicBezTo>
                  <a:pt x="84875" y="0"/>
                  <a:pt x="90807" y="2181"/>
                  <a:pt x="95096" y="6545"/>
                </a:cubicBezTo>
                <a:cubicBezTo>
                  <a:pt x="99392" y="10901"/>
                  <a:pt x="101540" y="16925"/>
                  <a:pt x="101540" y="24614"/>
                </a:cubicBezTo>
                <a:cubicBezTo>
                  <a:pt x="101540" y="32277"/>
                  <a:pt x="99392" y="38290"/>
                  <a:pt x="95096" y="42653"/>
                </a:cubicBezTo>
                <a:cubicBezTo>
                  <a:pt x="90807" y="47016"/>
                  <a:pt x="84875" y="49198"/>
                  <a:pt x="77299" y="49198"/>
                </a:cubicBezTo>
                <a:cubicBezTo>
                  <a:pt x="69744" y="49198"/>
                  <a:pt x="63815" y="47016"/>
                  <a:pt x="59513" y="42653"/>
                </a:cubicBezTo>
                <a:cubicBezTo>
                  <a:pt x="55210" y="38290"/>
                  <a:pt x="53059" y="32277"/>
                  <a:pt x="53059" y="24614"/>
                </a:cubicBezTo>
                <a:cubicBezTo>
                  <a:pt x="53059" y="16925"/>
                  <a:pt x="55210" y="10901"/>
                  <a:pt x="59513" y="6545"/>
                </a:cubicBezTo>
                <a:cubicBezTo>
                  <a:pt x="63815" y="2181"/>
                  <a:pt x="69744" y="0"/>
                  <a:pt x="77299" y="0"/>
                </a:cubicBezTo>
                <a:close/>
                <a:moveTo>
                  <a:pt x="112021" y="12703"/>
                </a:moveTo>
                <a:lnTo>
                  <a:pt x="123414" y="12703"/>
                </a:lnTo>
                <a:lnTo>
                  <a:pt x="123414" y="24990"/>
                </a:lnTo>
                <a:lnTo>
                  <a:pt x="112021" y="24990"/>
                </a:lnTo>
                <a:lnTo>
                  <a:pt x="112021" y="12703"/>
                </a:lnTo>
                <a:close/>
                <a:moveTo>
                  <a:pt x="112021" y="35987"/>
                </a:moveTo>
                <a:lnTo>
                  <a:pt x="123414" y="35987"/>
                </a:lnTo>
                <a:lnTo>
                  <a:pt x="123414" y="48273"/>
                </a:lnTo>
                <a:lnTo>
                  <a:pt x="112021" y="48273"/>
                </a:lnTo>
                <a:lnTo>
                  <a:pt x="112021" y="35987"/>
                </a:lnTo>
                <a:close/>
                <a:moveTo>
                  <a:pt x="155446" y="19218"/>
                </a:moveTo>
                <a:cubicBezTo>
                  <a:pt x="157365" y="19218"/>
                  <a:pt x="158816" y="18794"/>
                  <a:pt x="159799" y="17948"/>
                </a:cubicBezTo>
                <a:cubicBezTo>
                  <a:pt x="160789" y="17101"/>
                  <a:pt x="161284" y="15850"/>
                  <a:pt x="161284" y="14198"/>
                </a:cubicBezTo>
                <a:cubicBezTo>
                  <a:pt x="161284" y="12565"/>
                  <a:pt x="160789" y="11321"/>
                  <a:pt x="159799" y="10468"/>
                </a:cubicBezTo>
                <a:cubicBezTo>
                  <a:pt x="158816" y="9607"/>
                  <a:pt x="157365" y="9177"/>
                  <a:pt x="155446" y="9177"/>
                </a:cubicBezTo>
                <a:lnTo>
                  <a:pt x="148729" y="9177"/>
                </a:lnTo>
                <a:lnTo>
                  <a:pt x="148729" y="19218"/>
                </a:lnTo>
                <a:lnTo>
                  <a:pt x="155446" y="19218"/>
                </a:lnTo>
                <a:close/>
                <a:moveTo>
                  <a:pt x="155860" y="39950"/>
                </a:moveTo>
                <a:cubicBezTo>
                  <a:pt x="158297" y="39950"/>
                  <a:pt x="160132" y="39432"/>
                  <a:pt x="161365" y="38395"/>
                </a:cubicBezTo>
                <a:cubicBezTo>
                  <a:pt x="162597" y="37359"/>
                  <a:pt x="163213" y="35793"/>
                  <a:pt x="163213" y="33700"/>
                </a:cubicBezTo>
                <a:cubicBezTo>
                  <a:pt x="163213" y="31640"/>
                  <a:pt x="162604" y="30099"/>
                  <a:pt x="161385" y="29076"/>
                </a:cubicBezTo>
                <a:cubicBezTo>
                  <a:pt x="160166" y="28046"/>
                  <a:pt x="158324" y="27531"/>
                  <a:pt x="155860" y="27531"/>
                </a:cubicBezTo>
                <a:lnTo>
                  <a:pt x="148729" y="27531"/>
                </a:lnTo>
                <a:lnTo>
                  <a:pt x="148729" y="39950"/>
                </a:lnTo>
                <a:lnTo>
                  <a:pt x="155860" y="39950"/>
                </a:lnTo>
                <a:close/>
                <a:moveTo>
                  <a:pt x="167162" y="22897"/>
                </a:moveTo>
                <a:cubicBezTo>
                  <a:pt x="169768" y="23662"/>
                  <a:pt x="171785" y="25071"/>
                  <a:pt x="173212" y="27125"/>
                </a:cubicBezTo>
                <a:cubicBezTo>
                  <a:pt x="174647" y="29177"/>
                  <a:pt x="175364" y="31694"/>
                  <a:pt x="175364" y="34676"/>
                </a:cubicBezTo>
                <a:cubicBezTo>
                  <a:pt x="175364" y="39249"/>
                  <a:pt x="173828" y="42660"/>
                  <a:pt x="170758" y="44910"/>
                </a:cubicBezTo>
                <a:cubicBezTo>
                  <a:pt x="167688" y="47152"/>
                  <a:pt x="163014" y="48273"/>
                  <a:pt x="156739" y="48273"/>
                </a:cubicBezTo>
                <a:lnTo>
                  <a:pt x="136578" y="48273"/>
                </a:lnTo>
                <a:lnTo>
                  <a:pt x="136578" y="854"/>
                </a:lnTo>
                <a:lnTo>
                  <a:pt x="154820" y="854"/>
                </a:lnTo>
                <a:cubicBezTo>
                  <a:pt x="161365" y="854"/>
                  <a:pt x="166105" y="1849"/>
                  <a:pt x="169041" y="3842"/>
                </a:cubicBezTo>
                <a:cubicBezTo>
                  <a:pt x="171977" y="5833"/>
                  <a:pt x="173445" y="9021"/>
                  <a:pt x="173445" y="13405"/>
                </a:cubicBezTo>
                <a:cubicBezTo>
                  <a:pt x="173445" y="15708"/>
                  <a:pt x="172906" y="17670"/>
                  <a:pt x="171829" y="19289"/>
                </a:cubicBezTo>
                <a:cubicBezTo>
                  <a:pt x="170758" y="20908"/>
                  <a:pt x="169203" y="22111"/>
                  <a:pt x="167162" y="22897"/>
                </a:cubicBezTo>
                <a:close/>
                <a:moveTo>
                  <a:pt x="185849" y="854"/>
                </a:moveTo>
                <a:lnTo>
                  <a:pt x="206010" y="854"/>
                </a:lnTo>
                <a:cubicBezTo>
                  <a:pt x="212009" y="854"/>
                  <a:pt x="216612" y="2195"/>
                  <a:pt x="219817" y="4878"/>
                </a:cubicBezTo>
                <a:cubicBezTo>
                  <a:pt x="223029" y="7554"/>
                  <a:pt x="224635" y="11369"/>
                  <a:pt x="224635" y="16321"/>
                </a:cubicBezTo>
                <a:cubicBezTo>
                  <a:pt x="224635" y="21301"/>
                  <a:pt x="223029" y="25129"/>
                  <a:pt x="219817" y="27805"/>
                </a:cubicBezTo>
                <a:cubicBezTo>
                  <a:pt x="216612" y="30482"/>
                  <a:pt x="212009" y="31820"/>
                  <a:pt x="206010" y="31820"/>
                </a:cubicBezTo>
                <a:lnTo>
                  <a:pt x="198000" y="31820"/>
                </a:lnTo>
                <a:lnTo>
                  <a:pt x="198000" y="48273"/>
                </a:lnTo>
                <a:lnTo>
                  <a:pt x="185849" y="48273"/>
                </a:lnTo>
                <a:lnTo>
                  <a:pt x="185849" y="854"/>
                </a:lnTo>
                <a:close/>
                <a:moveTo>
                  <a:pt x="198000" y="9715"/>
                </a:moveTo>
                <a:lnTo>
                  <a:pt x="198000" y="22958"/>
                </a:lnTo>
                <a:lnTo>
                  <a:pt x="204717" y="22958"/>
                </a:lnTo>
                <a:cubicBezTo>
                  <a:pt x="207073" y="22958"/>
                  <a:pt x="208895" y="22382"/>
                  <a:pt x="210181" y="21230"/>
                </a:cubicBezTo>
                <a:cubicBezTo>
                  <a:pt x="211467" y="20078"/>
                  <a:pt x="212110" y="18442"/>
                  <a:pt x="212110" y="16321"/>
                </a:cubicBezTo>
                <a:cubicBezTo>
                  <a:pt x="212110" y="14208"/>
                  <a:pt x="211467" y="12578"/>
                  <a:pt x="210181" y="11433"/>
                </a:cubicBezTo>
                <a:cubicBezTo>
                  <a:pt x="208895" y="10288"/>
                  <a:pt x="207073" y="9715"/>
                  <a:pt x="204717" y="9715"/>
                </a:cubicBezTo>
                <a:lnTo>
                  <a:pt x="198000" y="9715"/>
                </a:lnTo>
                <a:close/>
              </a:path>
            </a:pathLst>
          </a:custGeom>
          <a:solidFill>
            <a:srgbClr val="4E86A8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04" name="Freeform 403">
            <a:extLst>
              <a:ext uri="{FF2B5EF4-FFF2-40B4-BE49-F238E27FC236}">
                <a16:creationId xmlns:a16="http://schemas.microsoft.com/office/drawing/2014/main" id="{3EBDD8DB-FD6B-48EE-AA45-DC01CA422B1D}"/>
              </a:ext>
            </a:extLst>
          </p:cNvPr>
          <p:cNvSpPr/>
          <p:nvPr/>
        </p:nvSpPr>
        <p:spPr>
          <a:xfrm>
            <a:off x="1228920" y="5772665"/>
            <a:ext cx="233690" cy="49197"/>
          </a:xfrm>
          <a:custGeom>
            <a:avLst/>
            <a:gdLst>
              <a:gd name="connsiteX0" fmla="*/ 45068 w 233690"/>
              <a:gd name="connsiteY0" fmla="*/ 44747 h 49197"/>
              <a:gd name="connsiteX1" fmla="*/ 35634 w 233690"/>
              <a:gd name="connsiteY1" fmla="*/ 48090 h 49197"/>
              <a:gd name="connsiteX2" fmla="*/ 25534 w 233690"/>
              <a:gd name="connsiteY2" fmla="*/ 49198 h 49197"/>
              <a:gd name="connsiteX3" fmla="*/ 6878 w 233690"/>
              <a:gd name="connsiteY3" fmla="*/ 42572 h 49197"/>
              <a:gd name="connsiteX4" fmla="*/ 0 w 233690"/>
              <a:gd name="connsiteY4" fmla="*/ 24614 h 49197"/>
              <a:gd name="connsiteX5" fmla="*/ 7000 w 233690"/>
              <a:gd name="connsiteY5" fmla="*/ 6575 h 49197"/>
              <a:gd name="connsiteX6" fmla="*/ 26200 w 233690"/>
              <a:gd name="connsiteY6" fmla="*/ 0 h 49197"/>
              <a:gd name="connsiteX7" fmla="*/ 35200 w 233690"/>
              <a:gd name="connsiteY7" fmla="*/ 894 h 49197"/>
              <a:gd name="connsiteX8" fmla="*/ 43331 w 233690"/>
              <a:gd name="connsiteY8" fmla="*/ 3526 h 49197"/>
              <a:gd name="connsiteX9" fmla="*/ 43331 w 233690"/>
              <a:gd name="connsiteY9" fmla="*/ 13333 h 49197"/>
              <a:gd name="connsiteX10" fmla="*/ 35493 w 233690"/>
              <a:gd name="connsiteY10" fmla="*/ 9980 h 49197"/>
              <a:gd name="connsiteX11" fmla="*/ 27675 w 233690"/>
              <a:gd name="connsiteY11" fmla="*/ 8862 h 49197"/>
              <a:gd name="connsiteX12" fmla="*/ 16494 w 233690"/>
              <a:gd name="connsiteY12" fmla="*/ 12947 h 49197"/>
              <a:gd name="connsiteX13" fmla="*/ 12565 w 233690"/>
              <a:gd name="connsiteY13" fmla="*/ 24614 h 49197"/>
              <a:gd name="connsiteX14" fmla="*/ 16352 w 233690"/>
              <a:gd name="connsiteY14" fmla="*/ 36240 h 49197"/>
              <a:gd name="connsiteX15" fmla="*/ 27109 w 233690"/>
              <a:gd name="connsiteY15" fmla="*/ 40336 h 49197"/>
              <a:gd name="connsiteX16" fmla="*/ 30634 w 233690"/>
              <a:gd name="connsiteY16" fmla="*/ 40102 h 49197"/>
              <a:gd name="connsiteX17" fmla="*/ 33553 w 233690"/>
              <a:gd name="connsiteY17" fmla="*/ 39350 h 49197"/>
              <a:gd name="connsiteX18" fmla="*/ 33553 w 233690"/>
              <a:gd name="connsiteY18" fmla="*/ 30143 h 49197"/>
              <a:gd name="connsiteX19" fmla="*/ 26130 w 233690"/>
              <a:gd name="connsiteY19" fmla="*/ 30143 h 49197"/>
              <a:gd name="connsiteX20" fmla="*/ 26130 w 233690"/>
              <a:gd name="connsiteY20" fmla="*/ 21942 h 49197"/>
              <a:gd name="connsiteX21" fmla="*/ 45068 w 233690"/>
              <a:gd name="connsiteY21" fmla="*/ 21942 h 49197"/>
              <a:gd name="connsiteX22" fmla="*/ 45068 w 233690"/>
              <a:gd name="connsiteY22" fmla="*/ 44747 h 49197"/>
              <a:gd name="connsiteX23" fmla="*/ 77299 w 233690"/>
              <a:gd name="connsiteY23" fmla="*/ 8862 h 49197"/>
              <a:gd name="connsiteX24" fmla="*/ 68684 w 233690"/>
              <a:gd name="connsiteY24" fmla="*/ 12988 h 49197"/>
              <a:gd name="connsiteX25" fmla="*/ 65623 w 233690"/>
              <a:gd name="connsiteY25" fmla="*/ 24614 h 49197"/>
              <a:gd name="connsiteX26" fmla="*/ 68684 w 233690"/>
              <a:gd name="connsiteY26" fmla="*/ 36210 h 49197"/>
              <a:gd name="connsiteX27" fmla="*/ 77299 w 233690"/>
              <a:gd name="connsiteY27" fmla="*/ 40336 h 49197"/>
              <a:gd name="connsiteX28" fmla="*/ 85945 w 233690"/>
              <a:gd name="connsiteY28" fmla="*/ 36210 h 49197"/>
              <a:gd name="connsiteX29" fmla="*/ 89006 w 233690"/>
              <a:gd name="connsiteY29" fmla="*/ 24614 h 49197"/>
              <a:gd name="connsiteX30" fmla="*/ 85945 w 233690"/>
              <a:gd name="connsiteY30" fmla="*/ 12988 h 49197"/>
              <a:gd name="connsiteX31" fmla="*/ 77299 w 233690"/>
              <a:gd name="connsiteY31" fmla="*/ 8862 h 49197"/>
              <a:gd name="connsiteX32" fmla="*/ 77299 w 233690"/>
              <a:gd name="connsiteY32" fmla="*/ 0 h 49197"/>
              <a:gd name="connsiteX33" fmla="*/ 95096 w 233690"/>
              <a:gd name="connsiteY33" fmla="*/ 6545 h 49197"/>
              <a:gd name="connsiteX34" fmla="*/ 101540 w 233690"/>
              <a:gd name="connsiteY34" fmla="*/ 24614 h 49197"/>
              <a:gd name="connsiteX35" fmla="*/ 95096 w 233690"/>
              <a:gd name="connsiteY35" fmla="*/ 42653 h 49197"/>
              <a:gd name="connsiteX36" fmla="*/ 77299 w 233690"/>
              <a:gd name="connsiteY36" fmla="*/ 49198 h 49197"/>
              <a:gd name="connsiteX37" fmla="*/ 59513 w 233690"/>
              <a:gd name="connsiteY37" fmla="*/ 42653 h 49197"/>
              <a:gd name="connsiteX38" fmla="*/ 53058 w 233690"/>
              <a:gd name="connsiteY38" fmla="*/ 24614 h 49197"/>
              <a:gd name="connsiteX39" fmla="*/ 59513 w 233690"/>
              <a:gd name="connsiteY39" fmla="*/ 6545 h 49197"/>
              <a:gd name="connsiteX40" fmla="*/ 77299 w 233690"/>
              <a:gd name="connsiteY40" fmla="*/ 0 h 49197"/>
              <a:gd name="connsiteX41" fmla="*/ 112021 w 233690"/>
              <a:gd name="connsiteY41" fmla="*/ 12703 h 49197"/>
              <a:gd name="connsiteX42" fmla="*/ 123414 w 233690"/>
              <a:gd name="connsiteY42" fmla="*/ 12703 h 49197"/>
              <a:gd name="connsiteX43" fmla="*/ 123414 w 233690"/>
              <a:gd name="connsiteY43" fmla="*/ 24990 h 49197"/>
              <a:gd name="connsiteX44" fmla="*/ 112021 w 233690"/>
              <a:gd name="connsiteY44" fmla="*/ 24990 h 49197"/>
              <a:gd name="connsiteX45" fmla="*/ 112021 w 233690"/>
              <a:gd name="connsiteY45" fmla="*/ 12703 h 49197"/>
              <a:gd name="connsiteX46" fmla="*/ 112021 w 233690"/>
              <a:gd name="connsiteY46" fmla="*/ 35987 h 49197"/>
              <a:gd name="connsiteX47" fmla="*/ 123414 w 233690"/>
              <a:gd name="connsiteY47" fmla="*/ 35987 h 49197"/>
              <a:gd name="connsiteX48" fmla="*/ 123414 w 233690"/>
              <a:gd name="connsiteY48" fmla="*/ 48273 h 49197"/>
              <a:gd name="connsiteX49" fmla="*/ 112021 w 233690"/>
              <a:gd name="connsiteY49" fmla="*/ 48273 h 49197"/>
              <a:gd name="connsiteX50" fmla="*/ 112021 w 233690"/>
              <a:gd name="connsiteY50" fmla="*/ 35987 h 49197"/>
              <a:gd name="connsiteX51" fmla="*/ 136578 w 233690"/>
              <a:gd name="connsiteY51" fmla="*/ 854 h 49197"/>
              <a:gd name="connsiteX52" fmla="*/ 152042 w 233690"/>
              <a:gd name="connsiteY52" fmla="*/ 854 h 49197"/>
              <a:gd name="connsiteX53" fmla="*/ 162768 w 233690"/>
              <a:gd name="connsiteY53" fmla="*/ 26230 h 49197"/>
              <a:gd name="connsiteX54" fmla="*/ 173566 w 233690"/>
              <a:gd name="connsiteY54" fmla="*/ 854 h 49197"/>
              <a:gd name="connsiteX55" fmla="*/ 188999 w 233690"/>
              <a:gd name="connsiteY55" fmla="*/ 854 h 49197"/>
              <a:gd name="connsiteX56" fmla="*/ 188999 w 233690"/>
              <a:gd name="connsiteY56" fmla="*/ 48273 h 49197"/>
              <a:gd name="connsiteX57" fmla="*/ 177515 w 233690"/>
              <a:gd name="connsiteY57" fmla="*/ 48273 h 49197"/>
              <a:gd name="connsiteX58" fmla="*/ 177515 w 233690"/>
              <a:gd name="connsiteY58" fmla="*/ 13588 h 49197"/>
              <a:gd name="connsiteX59" fmla="*/ 166657 w 233690"/>
              <a:gd name="connsiteY59" fmla="*/ 39157 h 49197"/>
              <a:gd name="connsiteX60" fmla="*/ 158951 w 233690"/>
              <a:gd name="connsiteY60" fmla="*/ 39157 h 49197"/>
              <a:gd name="connsiteX61" fmla="*/ 148093 w 233690"/>
              <a:gd name="connsiteY61" fmla="*/ 13588 h 49197"/>
              <a:gd name="connsiteX62" fmla="*/ 148093 w 233690"/>
              <a:gd name="connsiteY62" fmla="*/ 48273 h 49197"/>
              <a:gd name="connsiteX63" fmla="*/ 136578 w 233690"/>
              <a:gd name="connsiteY63" fmla="*/ 48273 h 49197"/>
              <a:gd name="connsiteX64" fmla="*/ 136578 w 233690"/>
              <a:gd name="connsiteY64" fmla="*/ 854 h 49197"/>
              <a:gd name="connsiteX65" fmla="*/ 200905 w 233690"/>
              <a:gd name="connsiteY65" fmla="*/ 854 h 49197"/>
              <a:gd name="connsiteX66" fmla="*/ 233691 w 233690"/>
              <a:gd name="connsiteY66" fmla="*/ 854 h 49197"/>
              <a:gd name="connsiteX67" fmla="*/ 233691 w 233690"/>
              <a:gd name="connsiteY67" fmla="*/ 10102 h 49197"/>
              <a:gd name="connsiteX68" fmla="*/ 213056 w 233690"/>
              <a:gd name="connsiteY68" fmla="*/ 10102 h 49197"/>
              <a:gd name="connsiteX69" fmla="*/ 213056 w 233690"/>
              <a:gd name="connsiteY69" fmla="*/ 18923 h 49197"/>
              <a:gd name="connsiteX70" fmla="*/ 232469 w 233690"/>
              <a:gd name="connsiteY70" fmla="*/ 18923 h 49197"/>
              <a:gd name="connsiteX71" fmla="*/ 232469 w 233690"/>
              <a:gd name="connsiteY71" fmla="*/ 28171 h 49197"/>
              <a:gd name="connsiteX72" fmla="*/ 213056 w 233690"/>
              <a:gd name="connsiteY72" fmla="*/ 28171 h 49197"/>
              <a:gd name="connsiteX73" fmla="*/ 213056 w 233690"/>
              <a:gd name="connsiteY73" fmla="*/ 48273 h 49197"/>
              <a:gd name="connsiteX74" fmla="*/ 200905 w 233690"/>
              <a:gd name="connsiteY74" fmla="*/ 48273 h 49197"/>
              <a:gd name="connsiteX75" fmla="*/ 200905 w 233690"/>
              <a:gd name="connsiteY75" fmla="*/ 854 h 49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233690" h="49197">
                <a:moveTo>
                  <a:pt x="45068" y="44747"/>
                </a:moveTo>
                <a:cubicBezTo>
                  <a:pt x="42038" y="46231"/>
                  <a:pt x="38893" y="47345"/>
                  <a:pt x="35634" y="48090"/>
                </a:cubicBezTo>
                <a:cubicBezTo>
                  <a:pt x="32375" y="48829"/>
                  <a:pt x="29008" y="49198"/>
                  <a:pt x="25534" y="49198"/>
                </a:cubicBezTo>
                <a:cubicBezTo>
                  <a:pt x="17682" y="49198"/>
                  <a:pt x="11464" y="46989"/>
                  <a:pt x="6878" y="42572"/>
                </a:cubicBezTo>
                <a:cubicBezTo>
                  <a:pt x="2293" y="38155"/>
                  <a:pt x="0" y="32169"/>
                  <a:pt x="0" y="24614"/>
                </a:cubicBezTo>
                <a:cubicBezTo>
                  <a:pt x="0" y="16972"/>
                  <a:pt x="2333" y="10959"/>
                  <a:pt x="7000" y="6575"/>
                </a:cubicBezTo>
                <a:cubicBezTo>
                  <a:pt x="11673" y="2192"/>
                  <a:pt x="18073" y="0"/>
                  <a:pt x="26200" y="0"/>
                </a:cubicBezTo>
                <a:cubicBezTo>
                  <a:pt x="29331" y="0"/>
                  <a:pt x="32331" y="298"/>
                  <a:pt x="35200" y="894"/>
                </a:cubicBezTo>
                <a:cubicBezTo>
                  <a:pt x="38075" y="1484"/>
                  <a:pt x="40785" y="2361"/>
                  <a:pt x="43331" y="3526"/>
                </a:cubicBezTo>
                <a:lnTo>
                  <a:pt x="43331" y="13333"/>
                </a:lnTo>
                <a:cubicBezTo>
                  <a:pt x="40704" y="11836"/>
                  <a:pt x="38092" y="10718"/>
                  <a:pt x="35493" y="9980"/>
                </a:cubicBezTo>
                <a:cubicBezTo>
                  <a:pt x="32894" y="9235"/>
                  <a:pt x="30288" y="8862"/>
                  <a:pt x="27675" y="8862"/>
                </a:cubicBezTo>
                <a:cubicBezTo>
                  <a:pt x="22840" y="8862"/>
                  <a:pt x="19113" y="10224"/>
                  <a:pt x="16494" y="12947"/>
                </a:cubicBezTo>
                <a:cubicBezTo>
                  <a:pt x="13875" y="15664"/>
                  <a:pt x="12565" y="19553"/>
                  <a:pt x="12565" y="24614"/>
                </a:cubicBezTo>
                <a:cubicBezTo>
                  <a:pt x="12565" y="29628"/>
                  <a:pt x="13827" y="33504"/>
                  <a:pt x="16352" y="36240"/>
                </a:cubicBezTo>
                <a:cubicBezTo>
                  <a:pt x="18878" y="38971"/>
                  <a:pt x="22463" y="40336"/>
                  <a:pt x="27109" y="40336"/>
                </a:cubicBezTo>
                <a:cubicBezTo>
                  <a:pt x="28375" y="40336"/>
                  <a:pt x="29550" y="40258"/>
                  <a:pt x="30634" y="40102"/>
                </a:cubicBezTo>
                <a:cubicBezTo>
                  <a:pt x="31719" y="39940"/>
                  <a:pt x="32692" y="39689"/>
                  <a:pt x="33553" y="39350"/>
                </a:cubicBezTo>
                <a:lnTo>
                  <a:pt x="33553" y="30143"/>
                </a:lnTo>
                <a:lnTo>
                  <a:pt x="26130" y="30143"/>
                </a:lnTo>
                <a:lnTo>
                  <a:pt x="26130" y="21942"/>
                </a:lnTo>
                <a:lnTo>
                  <a:pt x="45068" y="21942"/>
                </a:lnTo>
                <a:lnTo>
                  <a:pt x="45068" y="44747"/>
                </a:lnTo>
                <a:close/>
                <a:moveTo>
                  <a:pt x="77299" y="8862"/>
                </a:moveTo>
                <a:cubicBezTo>
                  <a:pt x="73596" y="8862"/>
                  <a:pt x="70724" y="10237"/>
                  <a:pt x="68684" y="12988"/>
                </a:cubicBezTo>
                <a:cubicBezTo>
                  <a:pt x="66644" y="15739"/>
                  <a:pt x="65623" y="19614"/>
                  <a:pt x="65623" y="24614"/>
                </a:cubicBezTo>
                <a:cubicBezTo>
                  <a:pt x="65623" y="29587"/>
                  <a:pt x="66644" y="33453"/>
                  <a:pt x="68684" y="36210"/>
                </a:cubicBezTo>
                <a:cubicBezTo>
                  <a:pt x="70724" y="38961"/>
                  <a:pt x="73596" y="40336"/>
                  <a:pt x="77299" y="40336"/>
                </a:cubicBezTo>
                <a:cubicBezTo>
                  <a:pt x="81023" y="40336"/>
                  <a:pt x="83905" y="38961"/>
                  <a:pt x="85945" y="36210"/>
                </a:cubicBezTo>
                <a:cubicBezTo>
                  <a:pt x="87986" y="33452"/>
                  <a:pt x="89006" y="29587"/>
                  <a:pt x="89006" y="24614"/>
                </a:cubicBezTo>
                <a:cubicBezTo>
                  <a:pt x="89006" y="19614"/>
                  <a:pt x="87986" y="15739"/>
                  <a:pt x="85945" y="12988"/>
                </a:cubicBezTo>
                <a:cubicBezTo>
                  <a:pt x="83905" y="10237"/>
                  <a:pt x="81023" y="8862"/>
                  <a:pt x="77299" y="8862"/>
                </a:cubicBezTo>
                <a:close/>
                <a:moveTo>
                  <a:pt x="77299" y="0"/>
                </a:moveTo>
                <a:cubicBezTo>
                  <a:pt x="84875" y="0"/>
                  <a:pt x="90807" y="2181"/>
                  <a:pt x="95096" y="6545"/>
                </a:cubicBezTo>
                <a:cubicBezTo>
                  <a:pt x="99392" y="10901"/>
                  <a:pt x="101540" y="16925"/>
                  <a:pt x="101540" y="24614"/>
                </a:cubicBezTo>
                <a:cubicBezTo>
                  <a:pt x="101540" y="32277"/>
                  <a:pt x="99392" y="38290"/>
                  <a:pt x="95096" y="42653"/>
                </a:cubicBezTo>
                <a:cubicBezTo>
                  <a:pt x="90807" y="47016"/>
                  <a:pt x="84875" y="49198"/>
                  <a:pt x="77299" y="49198"/>
                </a:cubicBezTo>
                <a:cubicBezTo>
                  <a:pt x="69744" y="49198"/>
                  <a:pt x="63815" y="47016"/>
                  <a:pt x="59513" y="42653"/>
                </a:cubicBezTo>
                <a:cubicBezTo>
                  <a:pt x="55210" y="38290"/>
                  <a:pt x="53058" y="32277"/>
                  <a:pt x="53058" y="24614"/>
                </a:cubicBezTo>
                <a:cubicBezTo>
                  <a:pt x="53058" y="16925"/>
                  <a:pt x="55210" y="10901"/>
                  <a:pt x="59513" y="6545"/>
                </a:cubicBezTo>
                <a:cubicBezTo>
                  <a:pt x="63815" y="2181"/>
                  <a:pt x="69744" y="0"/>
                  <a:pt x="77299" y="0"/>
                </a:cubicBezTo>
                <a:close/>
                <a:moveTo>
                  <a:pt x="112021" y="12703"/>
                </a:moveTo>
                <a:lnTo>
                  <a:pt x="123414" y="12703"/>
                </a:lnTo>
                <a:lnTo>
                  <a:pt x="123414" y="24990"/>
                </a:lnTo>
                <a:lnTo>
                  <a:pt x="112021" y="24990"/>
                </a:lnTo>
                <a:lnTo>
                  <a:pt x="112021" y="12703"/>
                </a:lnTo>
                <a:close/>
                <a:moveTo>
                  <a:pt x="112021" y="35987"/>
                </a:moveTo>
                <a:lnTo>
                  <a:pt x="123414" y="35987"/>
                </a:lnTo>
                <a:lnTo>
                  <a:pt x="123414" y="48273"/>
                </a:lnTo>
                <a:lnTo>
                  <a:pt x="112021" y="48273"/>
                </a:lnTo>
                <a:lnTo>
                  <a:pt x="112021" y="35987"/>
                </a:lnTo>
                <a:close/>
                <a:moveTo>
                  <a:pt x="136578" y="854"/>
                </a:moveTo>
                <a:lnTo>
                  <a:pt x="152042" y="854"/>
                </a:lnTo>
                <a:lnTo>
                  <a:pt x="162768" y="26230"/>
                </a:lnTo>
                <a:lnTo>
                  <a:pt x="173566" y="854"/>
                </a:lnTo>
                <a:lnTo>
                  <a:pt x="188999" y="854"/>
                </a:lnTo>
                <a:lnTo>
                  <a:pt x="188999" y="48273"/>
                </a:lnTo>
                <a:lnTo>
                  <a:pt x="177515" y="48273"/>
                </a:lnTo>
                <a:lnTo>
                  <a:pt x="177515" y="13588"/>
                </a:lnTo>
                <a:lnTo>
                  <a:pt x="166657" y="39157"/>
                </a:lnTo>
                <a:lnTo>
                  <a:pt x="158951" y="39157"/>
                </a:lnTo>
                <a:lnTo>
                  <a:pt x="148093" y="13588"/>
                </a:lnTo>
                <a:lnTo>
                  <a:pt x="148093" y="48273"/>
                </a:lnTo>
                <a:lnTo>
                  <a:pt x="136578" y="48273"/>
                </a:lnTo>
                <a:lnTo>
                  <a:pt x="136578" y="854"/>
                </a:lnTo>
                <a:close/>
                <a:moveTo>
                  <a:pt x="200905" y="854"/>
                </a:moveTo>
                <a:lnTo>
                  <a:pt x="233691" y="854"/>
                </a:lnTo>
                <a:lnTo>
                  <a:pt x="233691" y="10102"/>
                </a:lnTo>
                <a:lnTo>
                  <a:pt x="213056" y="10102"/>
                </a:lnTo>
                <a:lnTo>
                  <a:pt x="213056" y="18923"/>
                </a:lnTo>
                <a:lnTo>
                  <a:pt x="232469" y="18923"/>
                </a:lnTo>
                <a:lnTo>
                  <a:pt x="232469" y="28171"/>
                </a:lnTo>
                <a:lnTo>
                  <a:pt x="213056" y="28171"/>
                </a:lnTo>
                <a:lnTo>
                  <a:pt x="213056" y="48273"/>
                </a:lnTo>
                <a:lnTo>
                  <a:pt x="200905" y="48273"/>
                </a:lnTo>
                <a:lnTo>
                  <a:pt x="200905" y="854"/>
                </a:lnTo>
                <a:close/>
              </a:path>
            </a:pathLst>
          </a:custGeom>
          <a:solidFill>
            <a:srgbClr val="4E86A8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05" name="Freeform 404">
            <a:extLst>
              <a:ext uri="{FF2B5EF4-FFF2-40B4-BE49-F238E27FC236}">
                <a16:creationId xmlns:a16="http://schemas.microsoft.com/office/drawing/2014/main" id="{024969CC-D6D4-0E42-5579-009A0DA81E5E}"/>
              </a:ext>
            </a:extLst>
          </p:cNvPr>
          <p:cNvSpPr/>
          <p:nvPr/>
        </p:nvSpPr>
        <p:spPr>
          <a:xfrm>
            <a:off x="1613373" y="5772665"/>
            <a:ext cx="221389" cy="49197"/>
          </a:xfrm>
          <a:custGeom>
            <a:avLst/>
            <a:gdLst>
              <a:gd name="connsiteX0" fmla="*/ 45068 w 221389"/>
              <a:gd name="connsiteY0" fmla="*/ 44747 h 49197"/>
              <a:gd name="connsiteX1" fmla="*/ 35634 w 221389"/>
              <a:gd name="connsiteY1" fmla="*/ 48090 h 49197"/>
              <a:gd name="connsiteX2" fmla="*/ 25534 w 221389"/>
              <a:gd name="connsiteY2" fmla="*/ 49198 h 49197"/>
              <a:gd name="connsiteX3" fmla="*/ 6879 w 221389"/>
              <a:gd name="connsiteY3" fmla="*/ 42572 h 49197"/>
              <a:gd name="connsiteX4" fmla="*/ 0 w 221389"/>
              <a:gd name="connsiteY4" fmla="*/ 24614 h 49197"/>
              <a:gd name="connsiteX5" fmla="*/ 7000 w 221389"/>
              <a:gd name="connsiteY5" fmla="*/ 6575 h 49197"/>
              <a:gd name="connsiteX6" fmla="*/ 26200 w 221389"/>
              <a:gd name="connsiteY6" fmla="*/ 0 h 49197"/>
              <a:gd name="connsiteX7" fmla="*/ 35200 w 221389"/>
              <a:gd name="connsiteY7" fmla="*/ 894 h 49197"/>
              <a:gd name="connsiteX8" fmla="*/ 43331 w 221389"/>
              <a:gd name="connsiteY8" fmla="*/ 3526 h 49197"/>
              <a:gd name="connsiteX9" fmla="*/ 43331 w 221389"/>
              <a:gd name="connsiteY9" fmla="*/ 13333 h 49197"/>
              <a:gd name="connsiteX10" fmla="*/ 35493 w 221389"/>
              <a:gd name="connsiteY10" fmla="*/ 9980 h 49197"/>
              <a:gd name="connsiteX11" fmla="*/ 27675 w 221389"/>
              <a:gd name="connsiteY11" fmla="*/ 8862 h 49197"/>
              <a:gd name="connsiteX12" fmla="*/ 16494 w 221389"/>
              <a:gd name="connsiteY12" fmla="*/ 12947 h 49197"/>
              <a:gd name="connsiteX13" fmla="*/ 12565 w 221389"/>
              <a:gd name="connsiteY13" fmla="*/ 24614 h 49197"/>
              <a:gd name="connsiteX14" fmla="*/ 16353 w 221389"/>
              <a:gd name="connsiteY14" fmla="*/ 36240 h 49197"/>
              <a:gd name="connsiteX15" fmla="*/ 27110 w 221389"/>
              <a:gd name="connsiteY15" fmla="*/ 40336 h 49197"/>
              <a:gd name="connsiteX16" fmla="*/ 30635 w 221389"/>
              <a:gd name="connsiteY16" fmla="*/ 40102 h 49197"/>
              <a:gd name="connsiteX17" fmla="*/ 33553 w 221389"/>
              <a:gd name="connsiteY17" fmla="*/ 39350 h 49197"/>
              <a:gd name="connsiteX18" fmla="*/ 33553 w 221389"/>
              <a:gd name="connsiteY18" fmla="*/ 30143 h 49197"/>
              <a:gd name="connsiteX19" fmla="*/ 26130 w 221389"/>
              <a:gd name="connsiteY19" fmla="*/ 30143 h 49197"/>
              <a:gd name="connsiteX20" fmla="*/ 26130 w 221389"/>
              <a:gd name="connsiteY20" fmla="*/ 21942 h 49197"/>
              <a:gd name="connsiteX21" fmla="*/ 45068 w 221389"/>
              <a:gd name="connsiteY21" fmla="*/ 21942 h 49197"/>
              <a:gd name="connsiteX22" fmla="*/ 45068 w 221389"/>
              <a:gd name="connsiteY22" fmla="*/ 44747 h 49197"/>
              <a:gd name="connsiteX23" fmla="*/ 77299 w 221389"/>
              <a:gd name="connsiteY23" fmla="*/ 8862 h 49197"/>
              <a:gd name="connsiteX24" fmla="*/ 68684 w 221389"/>
              <a:gd name="connsiteY24" fmla="*/ 12988 h 49197"/>
              <a:gd name="connsiteX25" fmla="*/ 65623 w 221389"/>
              <a:gd name="connsiteY25" fmla="*/ 24614 h 49197"/>
              <a:gd name="connsiteX26" fmla="*/ 68684 w 221389"/>
              <a:gd name="connsiteY26" fmla="*/ 36210 h 49197"/>
              <a:gd name="connsiteX27" fmla="*/ 77299 w 221389"/>
              <a:gd name="connsiteY27" fmla="*/ 40336 h 49197"/>
              <a:gd name="connsiteX28" fmla="*/ 85945 w 221389"/>
              <a:gd name="connsiteY28" fmla="*/ 36210 h 49197"/>
              <a:gd name="connsiteX29" fmla="*/ 89006 w 221389"/>
              <a:gd name="connsiteY29" fmla="*/ 24614 h 49197"/>
              <a:gd name="connsiteX30" fmla="*/ 85945 w 221389"/>
              <a:gd name="connsiteY30" fmla="*/ 12988 h 49197"/>
              <a:gd name="connsiteX31" fmla="*/ 77299 w 221389"/>
              <a:gd name="connsiteY31" fmla="*/ 8862 h 49197"/>
              <a:gd name="connsiteX32" fmla="*/ 77299 w 221389"/>
              <a:gd name="connsiteY32" fmla="*/ 0 h 49197"/>
              <a:gd name="connsiteX33" fmla="*/ 95096 w 221389"/>
              <a:gd name="connsiteY33" fmla="*/ 6545 h 49197"/>
              <a:gd name="connsiteX34" fmla="*/ 101540 w 221389"/>
              <a:gd name="connsiteY34" fmla="*/ 24614 h 49197"/>
              <a:gd name="connsiteX35" fmla="*/ 95096 w 221389"/>
              <a:gd name="connsiteY35" fmla="*/ 42653 h 49197"/>
              <a:gd name="connsiteX36" fmla="*/ 77299 w 221389"/>
              <a:gd name="connsiteY36" fmla="*/ 49198 h 49197"/>
              <a:gd name="connsiteX37" fmla="*/ 59513 w 221389"/>
              <a:gd name="connsiteY37" fmla="*/ 42653 h 49197"/>
              <a:gd name="connsiteX38" fmla="*/ 53059 w 221389"/>
              <a:gd name="connsiteY38" fmla="*/ 24614 h 49197"/>
              <a:gd name="connsiteX39" fmla="*/ 59513 w 221389"/>
              <a:gd name="connsiteY39" fmla="*/ 6545 h 49197"/>
              <a:gd name="connsiteX40" fmla="*/ 77299 w 221389"/>
              <a:gd name="connsiteY40" fmla="*/ 0 h 49197"/>
              <a:gd name="connsiteX41" fmla="*/ 112021 w 221389"/>
              <a:gd name="connsiteY41" fmla="*/ 12703 h 49197"/>
              <a:gd name="connsiteX42" fmla="*/ 123414 w 221389"/>
              <a:gd name="connsiteY42" fmla="*/ 12703 h 49197"/>
              <a:gd name="connsiteX43" fmla="*/ 123414 w 221389"/>
              <a:gd name="connsiteY43" fmla="*/ 24990 h 49197"/>
              <a:gd name="connsiteX44" fmla="*/ 112021 w 221389"/>
              <a:gd name="connsiteY44" fmla="*/ 24990 h 49197"/>
              <a:gd name="connsiteX45" fmla="*/ 112021 w 221389"/>
              <a:gd name="connsiteY45" fmla="*/ 12703 h 49197"/>
              <a:gd name="connsiteX46" fmla="*/ 112021 w 221389"/>
              <a:gd name="connsiteY46" fmla="*/ 35987 h 49197"/>
              <a:gd name="connsiteX47" fmla="*/ 123414 w 221389"/>
              <a:gd name="connsiteY47" fmla="*/ 35987 h 49197"/>
              <a:gd name="connsiteX48" fmla="*/ 123414 w 221389"/>
              <a:gd name="connsiteY48" fmla="*/ 48273 h 49197"/>
              <a:gd name="connsiteX49" fmla="*/ 112021 w 221389"/>
              <a:gd name="connsiteY49" fmla="*/ 48273 h 49197"/>
              <a:gd name="connsiteX50" fmla="*/ 112021 w 221389"/>
              <a:gd name="connsiteY50" fmla="*/ 35987 h 49197"/>
              <a:gd name="connsiteX51" fmla="*/ 173950 w 221389"/>
              <a:gd name="connsiteY51" fmla="*/ 45672 h 49197"/>
              <a:gd name="connsiteX52" fmla="*/ 166970 w 221389"/>
              <a:gd name="connsiteY52" fmla="*/ 48304 h 49197"/>
              <a:gd name="connsiteX53" fmla="*/ 159395 w 221389"/>
              <a:gd name="connsiteY53" fmla="*/ 49198 h 49197"/>
              <a:gd name="connsiteX54" fmla="*/ 140740 w 221389"/>
              <a:gd name="connsiteY54" fmla="*/ 42572 h 49197"/>
              <a:gd name="connsiteX55" fmla="*/ 133862 w 221389"/>
              <a:gd name="connsiteY55" fmla="*/ 24614 h 49197"/>
              <a:gd name="connsiteX56" fmla="*/ 140740 w 221389"/>
              <a:gd name="connsiteY56" fmla="*/ 6626 h 49197"/>
              <a:gd name="connsiteX57" fmla="*/ 159395 w 221389"/>
              <a:gd name="connsiteY57" fmla="*/ 0 h 49197"/>
              <a:gd name="connsiteX58" fmla="*/ 166970 w 221389"/>
              <a:gd name="connsiteY58" fmla="*/ 894 h 49197"/>
              <a:gd name="connsiteX59" fmla="*/ 173950 w 221389"/>
              <a:gd name="connsiteY59" fmla="*/ 3526 h 49197"/>
              <a:gd name="connsiteX60" fmla="*/ 173950 w 221389"/>
              <a:gd name="connsiteY60" fmla="*/ 13333 h 49197"/>
              <a:gd name="connsiteX61" fmla="*/ 167284 w 221389"/>
              <a:gd name="connsiteY61" fmla="*/ 9939 h 49197"/>
              <a:gd name="connsiteX62" fmla="*/ 160375 w 221389"/>
              <a:gd name="connsiteY62" fmla="*/ 8862 h 49197"/>
              <a:gd name="connsiteX63" fmla="*/ 150143 w 221389"/>
              <a:gd name="connsiteY63" fmla="*/ 13059 h 49197"/>
              <a:gd name="connsiteX64" fmla="*/ 146426 w 221389"/>
              <a:gd name="connsiteY64" fmla="*/ 24614 h 49197"/>
              <a:gd name="connsiteX65" fmla="*/ 150143 w 221389"/>
              <a:gd name="connsiteY65" fmla="*/ 36149 h 49197"/>
              <a:gd name="connsiteX66" fmla="*/ 160375 w 221389"/>
              <a:gd name="connsiteY66" fmla="*/ 40336 h 49197"/>
              <a:gd name="connsiteX67" fmla="*/ 167284 w 221389"/>
              <a:gd name="connsiteY67" fmla="*/ 39259 h 49197"/>
              <a:gd name="connsiteX68" fmla="*/ 173950 w 221389"/>
              <a:gd name="connsiteY68" fmla="*/ 35854 h 49197"/>
              <a:gd name="connsiteX69" fmla="*/ 173950 w 221389"/>
              <a:gd name="connsiteY69" fmla="*/ 45672 h 49197"/>
              <a:gd name="connsiteX70" fmla="*/ 221390 w 221389"/>
              <a:gd name="connsiteY70" fmla="*/ 45672 h 49197"/>
              <a:gd name="connsiteX71" fmla="*/ 214411 w 221389"/>
              <a:gd name="connsiteY71" fmla="*/ 48304 h 49197"/>
              <a:gd name="connsiteX72" fmla="*/ 206835 w 221389"/>
              <a:gd name="connsiteY72" fmla="*/ 49198 h 49197"/>
              <a:gd name="connsiteX73" fmla="*/ 188180 w 221389"/>
              <a:gd name="connsiteY73" fmla="*/ 42572 h 49197"/>
              <a:gd name="connsiteX74" fmla="*/ 181302 w 221389"/>
              <a:gd name="connsiteY74" fmla="*/ 24614 h 49197"/>
              <a:gd name="connsiteX75" fmla="*/ 188180 w 221389"/>
              <a:gd name="connsiteY75" fmla="*/ 6626 h 49197"/>
              <a:gd name="connsiteX76" fmla="*/ 206835 w 221389"/>
              <a:gd name="connsiteY76" fmla="*/ 0 h 49197"/>
              <a:gd name="connsiteX77" fmla="*/ 214411 w 221389"/>
              <a:gd name="connsiteY77" fmla="*/ 894 h 49197"/>
              <a:gd name="connsiteX78" fmla="*/ 221390 w 221389"/>
              <a:gd name="connsiteY78" fmla="*/ 3526 h 49197"/>
              <a:gd name="connsiteX79" fmla="*/ 221390 w 221389"/>
              <a:gd name="connsiteY79" fmla="*/ 13333 h 49197"/>
              <a:gd name="connsiteX80" fmla="*/ 214724 w 221389"/>
              <a:gd name="connsiteY80" fmla="*/ 9939 h 49197"/>
              <a:gd name="connsiteX81" fmla="*/ 207815 w 221389"/>
              <a:gd name="connsiteY81" fmla="*/ 8862 h 49197"/>
              <a:gd name="connsiteX82" fmla="*/ 197583 w 221389"/>
              <a:gd name="connsiteY82" fmla="*/ 13059 h 49197"/>
              <a:gd name="connsiteX83" fmla="*/ 193866 w 221389"/>
              <a:gd name="connsiteY83" fmla="*/ 24614 h 49197"/>
              <a:gd name="connsiteX84" fmla="*/ 197583 w 221389"/>
              <a:gd name="connsiteY84" fmla="*/ 36149 h 49197"/>
              <a:gd name="connsiteX85" fmla="*/ 207815 w 221389"/>
              <a:gd name="connsiteY85" fmla="*/ 40336 h 49197"/>
              <a:gd name="connsiteX86" fmla="*/ 214724 w 221389"/>
              <a:gd name="connsiteY86" fmla="*/ 39259 h 49197"/>
              <a:gd name="connsiteX87" fmla="*/ 221390 w 221389"/>
              <a:gd name="connsiteY87" fmla="*/ 35854 h 49197"/>
              <a:gd name="connsiteX88" fmla="*/ 221390 w 221389"/>
              <a:gd name="connsiteY88" fmla="*/ 45672 h 49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221389" h="49197">
                <a:moveTo>
                  <a:pt x="45068" y="44747"/>
                </a:moveTo>
                <a:cubicBezTo>
                  <a:pt x="42038" y="46231"/>
                  <a:pt x="38893" y="47345"/>
                  <a:pt x="35634" y="48090"/>
                </a:cubicBezTo>
                <a:cubicBezTo>
                  <a:pt x="32375" y="48829"/>
                  <a:pt x="29008" y="49198"/>
                  <a:pt x="25534" y="49198"/>
                </a:cubicBezTo>
                <a:cubicBezTo>
                  <a:pt x="17682" y="49198"/>
                  <a:pt x="11464" y="46989"/>
                  <a:pt x="6879" y="42572"/>
                </a:cubicBezTo>
                <a:cubicBezTo>
                  <a:pt x="2293" y="38155"/>
                  <a:pt x="0" y="32169"/>
                  <a:pt x="0" y="24614"/>
                </a:cubicBezTo>
                <a:cubicBezTo>
                  <a:pt x="0" y="16972"/>
                  <a:pt x="2333" y="10959"/>
                  <a:pt x="7000" y="6575"/>
                </a:cubicBezTo>
                <a:cubicBezTo>
                  <a:pt x="11673" y="2192"/>
                  <a:pt x="18073" y="0"/>
                  <a:pt x="26200" y="0"/>
                </a:cubicBezTo>
                <a:cubicBezTo>
                  <a:pt x="29332" y="0"/>
                  <a:pt x="32331" y="298"/>
                  <a:pt x="35200" y="894"/>
                </a:cubicBezTo>
                <a:cubicBezTo>
                  <a:pt x="38075" y="1484"/>
                  <a:pt x="40785" y="2361"/>
                  <a:pt x="43331" y="3526"/>
                </a:cubicBezTo>
                <a:lnTo>
                  <a:pt x="43331" y="13333"/>
                </a:lnTo>
                <a:cubicBezTo>
                  <a:pt x="40705" y="11836"/>
                  <a:pt x="38092" y="10718"/>
                  <a:pt x="35493" y="9980"/>
                </a:cubicBezTo>
                <a:cubicBezTo>
                  <a:pt x="32894" y="9235"/>
                  <a:pt x="30288" y="8862"/>
                  <a:pt x="27675" y="8862"/>
                </a:cubicBezTo>
                <a:cubicBezTo>
                  <a:pt x="22840" y="8862"/>
                  <a:pt x="19113" y="10224"/>
                  <a:pt x="16494" y="12947"/>
                </a:cubicBezTo>
                <a:cubicBezTo>
                  <a:pt x="13875" y="15664"/>
                  <a:pt x="12565" y="19553"/>
                  <a:pt x="12565" y="24614"/>
                </a:cubicBezTo>
                <a:cubicBezTo>
                  <a:pt x="12565" y="29628"/>
                  <a:pt x="13828" y="33504"/>
                  <a:pt x="16353" y="36240"/>
                </a:cubicBezTo>
                <a:cubicBezTo>
                  <a:pt x="18878" y="38971"/>
                  <a:pt x="22463" y="40336"/>
                  <a:pt x="27110" y="40336"/>
                </a:cubicBezTo>
                <a:cubicBezTo>
                  <a:pt x="28376" y="40336"/>
                  <a:pt x="29550" y="40258"/>
                  <a:pt x="30635" y="40102"/>
                </a:cubicBezTo>
                <a:cubicBezTo>
                  <a:pt x="31719" y="39940"/>
                  <a:pt x="32692" y="39689"/>
                  <a:pt x="33553" y="39350"/>
                </a:cubicBezTo>
                <a:lnTo>
                  <a:pt x="33553" y="30143"/>
                </a:lnTo>
                <a:lnTo>
                  <a:pt x="26130" y="30143"/>
                </a:lnTo>
                <a:lnTo>
                  <a:pt x="26130" y="21942"/>
                </a:lnTo>
                <a:lnTo>
                  <a:pt x="45068" y="21942"/>
                </a:lnTo>
                <a:lnTo>
                  <a:pt x="45068" y="44747"/>
                </a:lnTo>
                <a:close/>
                <a:moveTo>
                  <a:pt x="77299" y="8862"/>
                </a:moveTo>
                <a:cubicBezTo>
                  <a:pt x="73596" y="8862"/>
                  <a:pt x="70724" y="10237"/>
                  <a:pt x="68684" y="12988"/>
                </a:cubicBezTo>
                <a:cubicBezTo>
                  <a:pt x="66644" y="15739"/>
                  <a:pt x="65623" y="19614"/>
                  <a:pt x="65623" y="24614"/>
                </a:cubicBezTo>
                <a:cubicBezTo>
                  <a:pt x="65623" y="29587"/>
                  <a:pt x="66644" y="33453"/>
                  <a:pt x="68684" y="36210"/>
                </a:cubicBezTo>
                <a:cubicBezTo>
                  <a:pt x="70724" y="38961"/>
                  <a:pt x="73596" y="40336"/>
                  <a:pt x="77299" y="40336"/>
                </a:cubicBezTo>
                <a:cubicBezTo>
                  <a:pt x="81023" y="40336"/>
                  <a:pt x="83905" y="38961"/>
                  <a:pt x="85945" y="36210"/>
                </a:cubicBezTo>
                <a:cubicBezTo>
                  <a:pt x="87986" y="33452"/>
                  <a:pt x="89006" y="29587"/>
                  <a:pt x="89006" y="24614"/>
                </a:cubicBezTo>
                <a:cubicBezTo>
                  <a:pt x="89006" y="19614"/>
                  <a:pt x="87986" y="15739"/>
                  <a:pt x="85945" y="12988"/>
                </a:cubicBezTo>
                <a:cubicBezTo>
                  <a:pt x="83905" y="10237"/>
                  <a:pt x="81023" y="8862"/>
                  <a:pt x="77299" y="8862"/>
                </a:cubicBezTo>
                <a:close/>
                <a:moveTo>
                  <a:pt x="77299" y="0"/>
                </a:moveTo>
                <a:cubicBezTo>
                  <a:pt x="84875" y="0"/>
                  <a:pt x="90807" y="2181"/>
                  <a:pt x="95096" y="6545"/>
                </a:cubicBezTo>
                <a:cubicBezTo>
                  <a:pt x="99392" y="10901"/>
                  <a:pt x="101540" y="16925"/>
                  <a:pt x="101540" y="24614"/>
                </a:cubicBezTo>
                <a:cubicBezTo>
                  <a:pt x="101540" y="32277"/>
                  <a:pt x="99392" y="38290"/>
                  <a:pt x="95096" y="42653"/>
                </a:cubicBezTo>
                <a:cubicBezTo>
                  <a:pt x="90807" y="47016"/>
                  <a:pt x="84875" y="49198"/>
                  <a:pt x="77299" y="49198"/>
                </a:cubicBezTo>
                <a:cubicBezTo>
                  <a:pt x="69744" y="49198"/>
                  <a:pt x="63816" y="47016"/>
                  <a:pt x="59513" y="42653"/>
                </a:cubicBezTo>
                <a:cubicBezTo>
                  <a:pt x="55210" y="38290"/>
                  <a:pt x="53059" y="32277"/>
                  <a:pt x="53059" y="24614"/>
                </a:cubicBezTo>
                <a:cubicBezTo>
                  <a:pt x="53059" y="16925"/>
                  <a:pt x="55210" y="10901"/>
                  <a:pt x="59513" y="6545"/>
                </a:cubicBezTo>
                <a:cubicBezTo>
                  <a:pt x="63815" y="2181"/>
                  <a:pt x="69744" y="0"/>
                  <a:pt x="77299" y="0"/>
                </a:cubicBezTo>
                <a:close/>
                <a:moveTo>
                  <a:pt x="112021" y="12703"/>
                </a:moveTo>
                <a:lnTo>
                  <a:pt x="123414" y="12703"/>
                </a:lnTo>
                <a:lnTo>
                  <a:pt x="123414" y="24990"/>
                </a:lnTo>
                <a:lnTo>
                  <a:pt x="112021" y="24990"/>
                </a:lnTo>
                <a:lnTo>
                  <a:pt x="112021" y="12703"/>
                </a:lnTo>
                <a:close/>
                <a:moveTo>
                  <a:pt x="112021" y="35987"/>
                </a:moveTo>
                <a:lnTo>
                  <a:pt x="123414" y="35987"/>
                </a:lnTo>
                <a:lnTo>
                  <a:pt x="123414" y="48273"/>
                </a:lnTo>
                <a:lnTo>
                  <a:pt x="112021" y="48273"/>
                </a:lnTo>
                <a:lnTo>
                  <a:pt x="112021" y="35987"/>
                </a:lnTo>
                <a:close/>
                <a:moveTo>
                  <a:pt x="173950" y="45672"/>
                </a:moveTo>
                <a:cubicBezTo>
                  <a:pt x="171714" y="46837"/>
                  <a:pt x="169388" y="47714"/>
                  <a:pt x="166970" y="48304"/>
                </a:cubicBezTo>
                <a:cubicBezTo>
                  <a:pt x="164553" y="48900"/>
                  <a:pt x="162028" y="49198"/>
                  <a:pt x="159395" y="49198"/>
                </a:cubicBezTo>
                <a:cubicBezTo>
                  <a:pt x="151544" y="49198"/>
                  <a:pt x="145325" y="46989"/>
                  <a:pt x="140740" y="42572"/>
                </a:cubicBezTo>
                <a:cubicBezTo>
                  <a:pt x="136154" y="38155"/>
                  <a:pt x="133862" y="32169"/>
                  <a:pt x="133862" y="24614"/>
                </a:cubicBezTo>
                <a:cubicBezTo>
                  <a:pt x="133862" y="17033"/>
                  <a:pt x="136154" y="11037"/>
                  <a:pt x="140740" y="6626"/>
                </a:cubicBezTo>
                <a:cubicBezTo>
                  <a:pt x="145325" y="2209"/>
                  <a:pt x="151544" y="0"/>
                  <a:pt x="159395" y="0"/>
                </a:cubicBezTo>
                <a:cubicBezTo>
                  <a:pt x="162028" y="0"/>
                  <a:pt x="164553" y="298"/>
                  <a:pt x="166970" y="894"/>
                </a:cubicBezTo>
                <a:cubicBezTo>
                  <a:pt x="169388" y="1484"/>
                  <a:pt x="171714" y="2361"/>
                  <a:pt x="173950" y="3526"/>
                </a:cubicBezTo>
                <a:lnTo>
                  <a:pt x="173950" y="13333"/>
                </a:lnTo>
                <a:cubicBezTo>
                  <a:pt x="171694" y="11788"/>
                  <a:pt x="169472" y="10658"/>
                  <a:pt x="167284" y="9939"/>
                </a:cubicBezTo>
                <a:cubicBezTo>
                  <a:pt x="165095" y="9221"/>
                  <a:pt x="162792" y="8862"/>
                  <a:pt x="160375" y="8862"/>
                </a:cubicBezTo>
                <a:cubicBezTo>
                  <a:pt x="156039" y="8862"/>
                  <a:pt x="152628" y="10261"/>
                  <a:pt x="150143" y="13059"/>
                </a:cubicBezTo>
                <a:cubicBezTo>
                  <a:pt x="147665" y="15851"/>
                  <a:pt x="146426" y="19702"/>
                  <a:pt x="146426" y="24614"/>
                </a:cubicBezTo>
                <a:cubicBezTo>
                  <a:pt x="146426" y="29506"/>
                  <a:pt x="147665" y="33351"/>
                  <a:pt x="150143" y="36149"/>
                </a:cubicBezTo>
                <a:cubicBezTo>
                  <a:pt x="152628" y="38940"/>
                  <a:pt x="156039" y="40336"/>
                  <a:pt x="160375" y="40336"/>
                </a:cubicBezTo>
                <a:cubicBezTo>
                  <a:pt x="162792" y="40336"/>
                  <a:pt x="165095" y="39977"/>
                  <a:pt x="167284" y="39259"/>
                </a:cubicBezTo>
                <a:cubicBezTo>
                  <a:pt x="169472" y="38534"/>
                  <a:pt x="171694" y="37399"/>
                  <a:pt x="173950" y="35854"/>
                </a:cubicBezTo>
                <a:lnTo>
                  <a:pt x="173950" y="45672"/>
                </a:lnTo>
                <a:close/>
                <a:moveTo>
                  <a:pt x="221390" y="45672"/>
                </a:moveTo>
                <a:cubicBezTo>
                  <a:pt x="219154" y="46837"/>
                  <a:pt x="216828" y="47714"/>
                  <a:pt x="214411" y="48304"/>
                </a:cubicBezTo>
                <a:cubicBezTo>
                  <a:pt x="211993" y="48900"/>
                  <a:pt x="209468" y="49198"/>
                  <a:pt x="206835" y="49198"/>
                </a:cubicBezTo>
                <a:cubicBezTo>
                  <a:pt x="198984" y="49198"/>
                  <a:pt x="192765" y="46989"/>
                  <a:pt x="188180" y="42572"/>
                </a:cubicBezTo>
                <a:cubicBezTo>
                  <a:pt x="183594" y="38155"/>
                  <a:pt x="181302" y="32169"/>
                  <a:pt x="181302" y="24614"/>
                </a:cubicBezTo>
                <a:cubicBezTo>
                  <a:pt x="181302" y="17033"/>
                  <a:pt x="183594" y="11037"/>
                  <a:pt x="188180" y="6626"/>
                </a:cubicBezTo>
                <a:cubicBezTo>
                  <a:pt x="192765" y="2209"/>
                  <a:pt x="198984" y="0"/>
                  <a:pt x="206835" y="0"/>
                </a:cubicBezTo>
                <a:cubicBezTo>
                  <a:pt x="209468" y="0"/>
                  <a:pt x="211993" y="298"/>
                  <a:pt x="214411" y="894"/>
                </a:cubicBezTo>
                <a:cubicBezTo>
                  <a:pt x="216828" y="1484"/>
                  <a:pt x="219154" y="2361"/>
                  <a:pt x="221390" y="3526"/>
                </a:cubicBezTo>
                <a:lnTo>
                  <a:pt x="221390" y="13333"/>
                </a:lnTo>
                <a:cubicBezTo>
                  <a:pt x="219134" y="11788"/>
                  <a:pt x="216912" y="10658"/>
                  <a:pt x="214724" y="9939"/>
                </a:cubicBezTo>
                <a:cubicBezTo>
                  <a:pt x="212535" y="9221"/>
                  <a:pt x="210232" y="8862"/>
                  <a:pt x="207815" y="8862"/>
                </a:cubicBezTo>
                <a:cubicBezTo>
                  <a:pt x="203479" y="8862"/>
                  <a:pt x="200068" y="10261"/>
                  <a:pt x="197583" y="13059"/>
                </a:cubicBezTo>
                <a:cubicBezTo>
                  <a:pt x="195106" y="15851"/>
                  <a:pt x="193866" y="19702"/>
                  <a:pt x="193866" y="24614"/>
                </a:cubicBezTo>
                <a:cubicBezTo>
                  <a:pt x="193866" y="29506"/>
                  <a:pt x="195105" y="33351"/>
                  <a:pt x="197583" y="36149"/>
                </a:cubicBezTo>
                <a:cubicBezTo>
                  <a:pt x="200068" y="38940"/>
                  <a:pt x="203479" y="40336"/>
                  <a:pt x="207815" y="40336"/>
                </a:cubicBezTo>
                <a:cubicBezTo>
                  <a:pt x="210232" y="40336"/>
                  <a:pt x="212535" y="39977"/>
                  <a:pt x="214724" y="39259"/>
                </a:cubicBezTo>
                <a:cubicBezTo>
                  <a:pt x="216912" y="38534"/>
                  <a:pt x="219134" y="37399"/>
                  <a:pt x="221390" y="35854"/>
                </a:cubicBezTo>
                <a:lnTo>
                  <a:pt x="221390" y="45672"/>
                </a:lnTo>
                <a:close/>
              </a:path>
            </a:pathLst>
          </a:custGeom>
          <a:solidFill>
            <a:srgbClr val="4E86A8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06" name="Freeform 405">
            <a:extLst>
              <a:ext uri="{FF2B5EF4-FFF2-40B4-BE49-F238E27FC236}">
                <a16:creationId xmlns:a16="http://schemas.microsoft.com/office/drawing/2014/main" id="{1476D215-2E43-066B-4F58-F0AF9699D639}"/>
              </a:ext>
            </a:extLst>
          </p:cNvPr>
          <p:cNvSpPr/>
          <p:nvPr/>
        </p:nvSpPr>
        <p:spPr>
          <a:xfrm>
            <a:off x="2007535" y="5772665"/>
            <a:ext cx="189658" cy="49197"/>
          </a:xfrm>
          <a:custGeom>
            <a:avLst/>
            <a:gdLst>
              <a:gd name="connsiteX0" fmla="*/ 0 w 189658"/>
              <a:gd name="connsiteY0" fmla="*/ 854 h 49197"/>
              <a:gd name="connsiteX1" fmla="*/ 12151 w 189658"/>
              <a:gd name="connsiteY1" fmla="*/ 854 h 49197"/>
              <a:gd name="connsiteX2" fmla="*/ 12151 w 189658"/>
              <a:gd name="connsiteY2" fmla="*/ 18161 h 49197"/>
              <a:gd name="connsiteX3" fmla="*/ 29665 w 189658"/>
              <a:gd name="connsiteY3" fmla="*/ 854 h 49197"/>
              <a:gd name="connsiteX4" fmla="*/ 43775 w 189658"/>
              <a:gd name="connsiteY4" fmla="*/ 854 h 49197"/>
              <a:gd name="connsiteX5" fmla="*/ 21080 w 189658"/>
              <a:gd name="connsiteY5" fmla="*/ 23314 h 49197"/>
              <a:gd name="connsiteX6" fmla="*/ 46108 w 189658"/>
              <a:gd name="connsiteY6" fmla="*/ 48273 h 49197"/>
              <a:gd name="connsiteX7" fmla="*/ 30897 w 189658"/>
              <a:gd name="connsiteY7" fmla="*/ 48273 h 49197"/>
              <a:gd name="connsiteX8" fmla="*/ 12151 w 189658"/>
              <a:gd name="connsiteY8" fmla="*/ 29594 h 49197"/>
              <a:gd name="connsiteX9" fmla="*/ 12151 w 189658"/>
              <a:gd name="connsiteY9" fmla="*/ 48273 h 49197"/>
              <a:gd name="connsiteX10" fmla="*/ 0 w 189658"/>
              <a:gd name="connsiteY10" fmla="*/ 48273 h 49197"/>
              <a:gd name="connsiteX11" fmla="*/ 0 w 189658"/>
              <a:gd name="connsiteY11" fmla="*/ 854 h 49197"/>
              <a:gd name="connsiteX12" fmla="*/ 50092 w 189658"/>
              <a:gd name="connsiteY12" fmla="*/ 854 h 49197"/>
              <a:gd name="connsiteX13" fmla="*/ 82877 w 189658"/>
              <a:gd name="connsiteY13" fmla="*/ 854 h 49197"/>
              <a:gd name="connsiteX14" fmla="*/ 82877 w 189658"/>
              <a:gd name="connsiteY14" fmla="*/ 10102 h 49197"/>
              <a:gd name="connsiteX15" fmla="*/ 62242 w 189658"/>
              <a:gd name="connsiteY15" fmla="*/ 10102 h 49197"/>
              <a:gd name="connsiteX16" fmla="*/ 62242 w 189658"/>
              <a:gd name="connsiteY16" fmla="*/ 18923 h 49197"/>
              <a:gd name="connsiteX17" fmla="*/ 81655 w 189658"/>
              <a:gd name="connsiteY17" fmla="*/ 18923 h 49197"/>
              <a:gd name="connsiteX18" fmla="*/ 81655 w 189658"/>
              <a:gd name="connsiteY18" fmla="*/ 28171 h 49197"/>
              <a:gd name="connsiteX19" fmla="*/ 62242 w 189658"/>
              <a:gd name="connsiteY19" fmla="*/ 28171 h 49197"/>
              <a:gd name="connsiteX20" fmla="*/ 62242 w 189658"/>
              <a:gd name="connsiteY20" fmla="*/ 39035 h 49197"/>
              <a:gd name="connsiteX21" fmla="*/ 83574 w 189658"/>
              <a:gd name="connsiteY21" fmla="*/ 39035 h 49197"/>
              <a:gd name="connsiteX22" fmla="*/ 83574 w 189658"/>
              <a:gd name="connsiteY22" fmla="*/ 48273 h 49197"/>
              <a:gd name="connsiteX23" fmla="*/ 50092 w 189658"/>
              <a:gd name="connsiteY23" fmla="*/ 48273 h 49197"/>
              <a:gd name="connsiteX24" fmla="*/ 50092 w 189658"/>
              <a:gd name="connsiteY24" fmla="*/ 854 h 49197"/>
              <a:gd name="connsiteX25" fmla="*/ 136600 w 189658"/>
              <a:gd name="connsiteY25" fmla="*/ 44747 h 49197"/>
              <a:gd name="connsiteX26" fmla="*/ 127166 w 189658"/>
              <a:gd name="connsiteY26" fmla="*/ 48090 h 49197"/>
              <a:gd name="connsiteX27" fmla="*/ 117066 w 189658"/>
              <a:gd name="connsiteY27" fmla="*/ 49198 h 49197"/>
              <a:gd name="connsiteX28" fmla="*/ 98410 w 189658"/>
              <a:gd name="connsiteY28" fmla="*/ 42572 h 49197"/>
              <a:gd name="connsiteX29" fmla="*/ 91532 w 189658"/>
              <a:gd name="connsiteY29" fmla="*/ 24614 h 49197"/>
              <a:gd name="connsiteX30" fmla="*/ 98532 w 189658"/>
              <a:gd name="connsiteY30" fmla="*/ 6575 h 49197"/>
              <a:gd name="connsiteX31" fmla="*/ 117732 w 189658"/>
              <a:gd name="connsiteY31" fmla="*/ 0 h 49197"/>
              <a:gd name="connsiteX32" fmla="*/ 126732 w 189658"/>
              <a:gd name="connsiteY32" fmla="*/ 894 h 49197"/>
              <a:gd name="connsiteX33" fmla="*/ 134863 w 189658"/>
              <a:gd name="connsiteY33" fmla="*/ 3526 h 49197"/>
              <a:gd name="connsiteX34" fmla="*/ 134863 w 189658"/>
              <a:gd name="connsiteY34" fmla="*/ 13333 h 49197"/>
              <a:gd name="connsiteX35" fmla="*/ 127025 w 189658"/>
              <a:gd name="connsiteY35" fmla="*/ 9980 h 49197"/>
              <a:gd name="connsiteX36" fmla="*/ 119207 w 189658"/>
              <a:gd name="connsiteY36" fmla="*/ 8862 h 49197"/>
              <a:gd name="connsiteX37" fmla="*/ 108026 w 189658"/>
              <a:gd name="connsiteY37" fmla="*/ 12947 h 49197"/>
              <a:gd name="connsiteX38" fmla="*/ 104097 w 189658"/>
              <a:gd name="connsiteY38" fmla="*/ 24614 h 49197"/>
              <a:gd name="connsiteX39" fmla="*/ 107885 w 189658"/>
              <a:gd name="connsiteY39" fmla="*/ 36240 h 49197"/>
              <a:gd name="connsiteX40" fmla="*/ 118641 w 189658"/>
              <a:gd name="connsiteY40" fmla="*/ 40336 h 49197"/>
              <a:gd name="connsiteX41" fmla="*/ 122166 w 189658"/>
              <a:gd name="connsiteY41" fmla="*/ 40102 h 49197"/>
              <a:gd name="connsiteX42" fmla="*/ 125086 w 189658"/>
              <a:gd name="connsiteY42" fmla="*/ 39350 h 49197"/>
              <a:gd name="connsiteX43" fmla="*/ 125086 w 189658"/>
              <a:gd name="connsiteY43" fmla="*/ 30143 h 49197"/>
              <a:gd name="connsiteX44" fmla="*/ 117662 w 189658"/>
              <a:gd name="connsiteY44" fmla="*/ 30143 h 49197"/>
              <a:gd name="connsiteX45" fmla="*/ 117662 w 189658"/>
              <a:gd name="connsiteY45" fmla="*/ 21942 h 49197"/>
              <a:gd name="connsiteX46" fmla="*/ 136600 w 189658"/>
              <a:gd name="connsiteY46" fmla="*/ 21942 h 49197"/>
              <a:gd name="connsiteX47" fmla="*/ 136600 w 189658"/>
              <a:gd name="connsiteY47" fmla="*/ 44747 h 49197"/>
              <a:gd name="connsiteX48" fmla="*/ 189658 w 189658"/>
              <a:gd name="connsiteY48" fmla="*/ 44747 h 49197"/>
              <a:gd name="connsiteX49" fmla="*/ 180224 w 189658"/>
              <a:gd name="connsiteY49" fmla="*/ 48090 h 49197"/>
              <a:gd name="connsiteX50" fmla="*/ 170124 w 189658"/>
              <a:gd name="connsiteY50" fmla="*/ 49198 h 49197"/>
              <a:gd name="connsiteX51" fmla="*/ 151469 w 189658"/>
              <a:gd name="connsiteY51" fmla="*/ 42572 h 49197"/>
              <a:gd name="connsiteX52" fmla="*/ 144591 w 189658"/>
              <a:gd name="connsiteY52" fmla="*/ 24614 h 49197"/>
              <a:gd name="connsiteX53" fmla="*/ 151590 w 189658"/>
              <a:gd name="connsiteY53" fmla="*/ 6575 h 49197"/>
              <a:gd name="connsiteX54" fmla="*/ 170791 w 189658"/>
              <a:gd name="connsiteY54" fmla="*/ 0 h 49197"/>
              <a:gd name="connsiteX55" fmla="*/ 179790 w 189658"/>
              <a:gd name="connsiteY55" fmla="*/ 894 h 49197"/>
              <a:gd name="connsiteX56" fmla="*/ 187921 w 189658"/>
              <a:gd name="connsiteY56" fmla="*/ 3526 h 49197"/>
              <a:gd name="connsiteX57" fmla="*/ 187921 w 189658"/>
              <a:gd name="connsiteY57" fmla="*/ 13333 h 49197"/>
              <a:gd name="connsiteX58" fmla="*/ 180083 w 189658"/>
              <a:gd name="connsiteY58" fmla="*/ 9980 h 49197"/>
              <a:gd name="connsiteX59" fmla="*/ 172265 w 189658"/>
              <a:gd name="connsiteY59" fmla="*/ 8862 h 49197"/>
              <a:gd name="connsiteX60" fmla="*/ 161084 w 189658"/>
              <a:gd name="connsiteY60" fmla="*/ 12947 h 49197"/>
              <a:gd name="connsiteX61" fmla="*/ 157155 w 189658"/>
              <a:gd name="connsiteY61" fmla="*/ 24614 h 49197"/>
              <a:gd name="connsiteX62" fmla="*/ 160943 w 189658"/>
              <a:gd name="connsiteY62" fmla="*/ 36240 h 49197"/>
              <a:gd name="connsiteX63" fmla="*/ 171700 w 189658"/>
              <a:gd name="connsiteY63" fmla="*/ 40336 h 49197"/>
              <a:gd name="connsiteX64" fmla="*/ 175225 w 189658"/>
              <a:gd name="connsiteY64" fmla="*/ 40102 h 49197"/>
              <a:gd name="connsiteX65" fmla="*/ 178144 w 189658"/>
              <a:gd name="connsiteY65" fmla="*/ 39350 h 49197"/>
              <a:gd name="connsiteX66" fmla="*/ 178144 w 189658"/>
              <a:gd name="connsiteY66" fmla="*/ 30143 h 49197"/>
              <a:gd name="connsiteX67" fmla="*/ 170720 w 189658"/>
              <a:gd name="connsiteY67" fmla="*/ 30143 h 49197"/>
              <a:gd name="connsiteX68" fmla="*/ 170720 w 189658"/>
              <a:gd name="connsiteY68" fmla="*/ 21942 h 49197"/>
              <a:gd name="connsiteX69" fmla="*/ 189658 w 189658"/>
              <a:gd name="connsiteY69" fmla="*/ 21942 h 49197"/>
              <a:gd name="connsiteX70" fmla="*/ 189658 w 189658"/>
              <a:gd name="connsiteY70" fmla="*/ 44747 h 49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189658" h="49197">
                <a:moveTo>
                  <a:pt x="0" y="854"/>
                </a:moveTo>
                <a:lnTo>
                  <a:pt x="12151" y="854"/>
                </a:lnTo>
                <a:lnTo>
                  <a:pt x="12151" y="18161"/>
                </a:lnTo>
                <a:lnTo>
                  <a:pt x="29665" y="854"/>
                </a:lnTo>
                <a:lnTo>
                  <a:pt x="43775" y="854"/>
                </a:lnTo>
                <a:lnTo>
                  <a:pt x="21080" y="23314"/>
                </a:lnTo>
                <a:lnTo>
                  <a:pt x="46108" y="48273"/>
                </a:lnTo>
                <a:lnTo>
                  <a:pt x="30897" y="48273"/>
                </a:lnTo>
                <a:lnTo>
                  <a:pt x="12151" y="29594"/>
                </a:lnTo>
                <a:lnTo>
                  <a:pt x="12151" y="48273"/>
                </a:lnTo>
                <a:lnTo>
                  <a:pt x="0" y="48273"/>
                </a:lnTo>
                <a:lnTo>
                  <a:pt x="0" y="854"/>
                </a:lnTo>
                <a:close/>
                <a:moveTo>
                  <a:pt x="50092" y="854"/>
                </a:moveTo>
                <a:lnTo>
                  <a:pt x="82877" y="854"/>
                </a:lnTo>
                <a:lnTo>
                  <a:pt x="82877" y="10102"/>
                </a:lnTo>
                <a:lnTo>
                  <a:pt x="62242" y="10102"/>
                </a:lnTo>
                <a:lnTo>
                  <a:pt x="62242" y="18923"/>
                </a:lnTo>
                <a:lnTo>
                  <a:pt x="81655" y="18923"/>
                </a:lnTo>
                <a:lnTo>
                  <a:pt x="81655" y="28171"/>
                </a:lnTo>
                <a:lnTo>
                  <a:pt x="62242" y="28171"/>
                </a:lnTo>
                <a:lnTo>
                  <a:pt x="62242" y="39035"/>
                </a:lnTo>
                <a:lnTo>
                  <a:pt x="83574" y="39035"/>
                </a:lnTo>
                <a:lnTo>
                  <a:pt x="83574" y="48273"/>
                </a:lnTo>
                <a:lnTo>
                  <a:pt x="50092" y="48273"/>
                </a:lnTo>
                <a:lnTo>
                  <a:pt x="50092" y="854"/>
                </a:lnTo>
                <a:close/>
                <a:moveTo>
                  <a:pt x="136600" y="44747"/>
                </a:moveTo>
                <a:cubicBezTo>
                  <a:pt x="133570" y="46231"/>
                  <a:pt x="130425" y="47345"/>
                  <a:pt x="127166" y="48090"/>
                </a:cubicBezTo>
                <a:cubicBezTo>
                  <a:pt x="123907" y="48829"/>
                  <a:pt x="120540" y="49198"/>
                  <a:pt x="117066" y="49198"/>
                </a:cubicBezTo>
                <a:cubicBezTo>
                  <a:pt x="109214" y="49198"/>
                  <a:pt x="102996" y="46989"/>
                  <a:pt x="98410" y="42572"/>
                </a:cubicBezTo>
                <a:cubicBezTo>
                  <a:pt x="93825" y="38155"/>
                  <a:pt x="91532" y="32169"/>
                  <a:pt x="91532" y="24614"/>
                </a:cubicBezTo>
                <a:cubicBezTo>
                  <a:pt x="91532" y="16972"/>
                  <a:pt x="93865" y="10959"/>
                  <a:pt x="98532" y="6575"/>
                </a:cubicBezTo>
                <a:cubicBezTo>
                  <a:pt x="103205" y="2192"/>
                  <a:pt x="109605" y="0"/>
                  <a:pt x="117732" y="0"/>
                </a:cubicBezTo>
                <a:cubicBezTo>
                  <a:pt x="120863" y="0"/>
                  <a:pt x="123863" y="298"/>
                  <a:pt x="126732" y="894"/>
                </a:cubicBezTo>
                <a:cubicBezTo>
                  <a:pt x="129607" y="1484"/>
                  <a:pt x="132317" y="2361"/>
                  <a:pt x="134863" y="3526"/>
                </a:cubicBezTo>
                <a:lnTo>
                  <a:pt x="134863" y="13333"/>
                </a:lnTo>
                <a:cubicBezTo>
                  <a:pt x="132236" y="11836"/>
                  <a:pt x="129624" y="10718"/>
                  <a:pt x="127025" y="9980"/>
                </a:cubicBezTo>
                <a:cubicBezTo>
                  <a:pt x="124426" y="9235"/>
                  <a:pt x="121820" y="8862"/>
                  <a:pt x="119207" y="8862"/>
                </a:cubicBezTo>
                <a:cubicBezTo>
                  <a:pt x="114372" y="8862"/>
                  <a:pt x="110645" y="10224"/>
                  <a:pt x="108026" y="12947"/>
                </a:cubicBezTo>
                <a:cubicBezTo>
                  <a:pt x="105407" y="15664"/>
                  <a:pt x="104097" y="19553"/>
                  <a:pt x="104097" y="24614"/>
                </a:cubicBezTo>
                <a:cubicBezTo>
                  <a:pt x="104097" y="29628"/>
                  <a:pt x="105359" y="33504"/>
                  <a:pt x="107885" y="36240"/>
                </a:cubicBezTo>
                <a:cubicBezTo>
                  <a:pt x="110410" y="38971"/>
                  <a:pt x="113995" y="40336"/>
                  <a:pt x="118641" y="40336"/>
                </a:cubicBezTo>
                <a:cubicBezTo>
                  <a:pt x="119907" y="40336"/>
                  <a:pt x="121082" y="40258"/>
                  <a:pt x="122166" y="40102"/>
                </a:cubicBezTo>
                <a:cubicBezTo>
                  <a:pt x="123250" y="39940"/>
                  <a:pt x="124224" y="39689"/>
                  <a:pt x="125086" y="39350"/>
                </a:cubicBezTo>
                <a:lnTo>
                  <a:pt x="125086" y="30143"/>
                </a:lnTo>
                <a:lnTo>
                  <a:pt x="117662" y="30143"/>
                </a:lnTo>
                <a:lnTo>
                  <a:pt x="117662" y="21942"/>
                </a:lnTo>
                <a:lnTo>
                  <a:pt x="136600" y="21942"/>
                </a:lnTo>
                <a:lnTo>
                  <a:pt x="136600" y="44747"/>
                </a:lnTo>
                <a:close/>
                <a:moveTo>
                  <a:pt x="189658" y="44747"/>
                </a:moveTo>
                <a:cubicBezTo>
                  <a:pt x="186628" y="46231"/>
                  <a:pt x="183484" y="47345"/>
                  <a:pt x="180224" y="48090"/>
                </a:cubicBezTo>
                <a:cubicBezTo>
                  <a:pt x="176966" y="48829"/>
                  <a:pt x="173599" y="49198"/>
                  <a:pt x="170124" y="49198"/>
                </a:cubicBezTo>
                <a:cubicBezTo>
                  <a:pt x="162273" y="49198"/>
                  <a:pt x="156054" y="46989"/>
                  <a:pt x="151469" y="42572"/>
                </a:cubicBezTo>
                <a:cubicBezTo>
                  <a:pt x="146883" y="38155"/>
                  <a:pt x="144591" y="32169"/>
                  <a:pt x="144591" y="24614"/>
                </a:cubicBezTo>
                <a:cubicBezTo>
                  <a:pt x="144591" y="16972"/>
                  <a:pt x="146924" y="10959"/>
                  <a:pt x="151590" y="6575"/>
                </a:cubicBezTo>
                <a:cubicBezTo>
                  <a:pt x="156263" y="2192"/>
                  <a:pt x="162663" y="0"/>
                  <a:pt x="170791" y="0"/>
                </a:cubicBezTo>
                <a:cubicBezTo>
                  <a:pt x="173922" y="0"/>
                  <a:pt x="176922" y="298"/>
                  <a:pt x="179790" y="894"/>
                </a:cubicBezTo>
                <a:cubicBezTo>
                  <a:pt x="182666" y="1484"/>
                  <a:pt x="185376" y="2361"/>
                  <a:pt x="187921" y="3526"/>
                </a:cubicBezTo>
                <a:lnTo>
                  <a:pt x="187921" y="13333"/>
                </a:lnTo>
                <a:cubicBezTo>
                  <a:pt x="185295" y="11836"/>
                  <a:pt x="182682" y="10718"/>
                  <a:pt x="180083" y="9980"/>
                </a:cubicBezTo>
                <a:cubicBezTo>
                  <a:pt x="177484" y="9235"/>
                  <a:pt x="174878" y="8862"/>
                  <a:pt x="172265" y="8862"/>
                </a:cubicBezTo>
                <a:cubicBezTo>
                  <a:pt x="167431" y="8862"/>
                  <a:pt x="163704" y="10224"/>
                  <a:pt x="161084" y="12947"/>
                </a:cubicBezTo>
                <a:cubicBezTo>
                  <a:pt x="158465" y="15664"/>
                  <a:pt x="157155" y="19553"/>
                  <a:pt x="157155" y="24614"/>
                </a:cubicBezTo>
                <a:cubicBezTo>
                  <a:pt x="157155" y="29628"/>
                  <a:pt x="158418" y="33504"/>
                  <a:pt x="160943" y="36240"/>
                </a:cubicBezTo>
                <a:cubicBezTo>
                  <a:pt x="163468" y="38971"/>
                  <a:pt x="167054" y="40336"/>
                  <a:pt x="171700" y="40336"/>
                </a:cubicBezTo>
                <a:cubicBezTo>
                  <a:pt x="172966" y="40336"/>
                  <a:pt x="174141" y="40258"/>
                  <a:pt x="175225" y="40102"/>
                </a:cubicBezTo>
                <a:cubicBezTo>
                  <a:pt x="176309" y="39940"/>
                  <a:pt x="177282" y="39689"/>
                  <a:pt x="178144" y="39350"/>
                </a:cubicBezTo>
                <a:lnTo>
                  <a:pt x="178144" y="30143"/>
                </a:lnTo>
                <a:lnTo>
                  <a:pt x="170720" y="30143"/>
                </a:lnTo>
                <a:lnTo>
                  <a:pt x="170720" y="21942"/>
                </a:lnTo>
                <a:lnTo>
                  <a:pt x="189658" y="21942"/>
                </a:lnTo>
                <a:lnTo>
                  <a:pt x="189658" y="44747"/>
                </a:lnTo>
                <a:close/>
              </a:path>
            </a:pathLst>
          </a:custGeom>
          <a:solidFill>
            <a:srgbClr val="C58A2C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07" name="Freeform 406">
            <a:extLst>
              <a:ext uri="{FF2B5EF4-FFF2-40B4-BE49-F238E27FC236}">
                <a16:creationId xmlns:a16="http://schemas.microsoft.com/office/drawing/2014/main" id="{1C4A6DBF-4614-C4E4-F73E-2CE6C058345A}"/>
              </a:ext>
            </a:extLst>
          </p:cNvPr>
          <p:cNvSpPr/>
          <p:nvPr/>
        </p:nvSpPr>
        <p:spPr>
          <a:xfrm>
            <a:off x="2390001" y="5772665"/>
            <a:ext cx="181333" cy="49197"/>
          </a:xfrm>
          <a:custGeom>
            <a:avLst/>
            <a:gdLst>
              <a:gd name="connsiteX0" fmla="*/ 17261 w 181333"/>
              <a:gd name="connsiteY0" fmla="*/ 21881 h 49197"/>
              <a:gd name="connsiteX1" fmla="*/ 22736 w 181333"/>
              <a:gd name="connsiteY1" fmla="*/ 20458 h 49197"/>
              <a:gd name="connsiteX2" fmla="*/ 24392 w 181333"/>
              <a:gd name="connsiteY2" fmla="*/ 15753 h 49197"/>
              <a:gd name="connsiteX3" fmla="*/ 22736 w 181333"/>
              <a:gd name="connsiteY3" fmla="*/ 11118 h 49197"/>
              <a:gd name="connsiteX4" fmla="*/ 17261 w 181333"/>
              <a:gd name="connsiteY4" fmla="*/ 9715 h 49197"/>
              <a:gd name="connsiteX5" fmla="*/ 12151 w 181333"/>
              <a:gd name="connsiteY5" fmla="*/ 9715 h 49197"/>
              <a:gd name="connsiteX6" fmla="*/ 12151 w 181333"/>
              <a:gd name="connsiteY6" fmla="*/ 21881 h 49197"/>
              <a:gd name="connsiteX7" fmla="*/ 17261 w 181333"/>
              <a:gd name="connsiteY7" fmla="*/ 21881 h 49197"/>
              <a:gd name="connsiteX8" fmla="*/ 12151 w 181333"/>
              <a:gd name="connsiteY8" fmla="*/ 30326 h 49197"/>
              <a:gd name="connsiteX9" fmla="*/ 12151 w 181333"/>
              <a:gd name="connsiteY9" fmla="*/ 48273 h 49197"/>
              <a:gd name="connsiteX10" fmla="*/ 0 w 181333"/>
              <a:gd name="connsiteY10" fmla="*/ 48273 h 49197"/>
              <a:gd name="connsiteX11" fmla="*/ 0 w 181333"/>
              <a:gd name="connsiteY11" fmla="*/ 854 h 49197"/>
              <a:gd name="connsiteX12" fmla="*/ 18554 w 181333"/>
              <a:gd name="connsiteY12" fmla="*/ 854 h 49197"/>
              <a:gd name="connsiteX13" fmla="*/ 32200 w 181333"/>
              <a:gd name="connsiteY13" fmla="*/ 4004 h 49197"/>
              <a:gd name="connsiteX14" fmla="*/ 36543 w 181333"/>
              <a:gd name="connsiteY14" fmla="*/ 13943 h 49197"/>
              <a:gd name="connsiteX15" fmla="*/ 34280 w 181333"/>
              <a:gd name="connsiteY15" fmla="*/ 21657 h 49197"/>
              <a:gd name="connsiteX16" fmla="*/ 27483 w 181333"/>
              <a:gd name="connsiteY16" fmla="*/ 26108 h 49197"/>
              <a:gd name="connsiteX17" fmla="*/ 31947 w 181333"/>
              <a:gd name="connsiteY17" fmla="*/ 28700 h 49197"/>
              <a:gd name="connsiteX18" fmla="*/ 35947 w 181333"/>
              <a:gd name="connsiteY18" fmla="*/ 34808 h 49197"/>
              <a:gd name="connsiteX19" fmla="*/ 42543 w 181333"/>
              <a:gd name="connsiteY19" fmla="*/ 48273 h 49197"/>
              <a:gd name="connsiteX20" fmla="*/ 29604 w 181333"/>
              <a:gd name="connsiteY20" fmla="*/ 48273 h 49197"/>
              <a:gd name="connsiteX21" fmla="*/ 23857 w 181333"/>
              <a:gd name="connsiteY21" fmla="*/ 36494 h 49197"/>
              <a:gd name="connsiteX22" fmla="*/ 20332 w 181333"/>
              <a:gd name="connsiteY22" fmla="*/ 31637 h 49197"/>
              <a:gd name="connsiteX23" fmla="*/ 15585 w 181333"/>
              <a:gd name="connsiteY23" fmla="*/ 30326 h 49197"/>
              <a:gd name="connsiteX24" fmla="*/ 12151 w 181333"/>
              <a:gd name="connsiteY24" fmla="*/ 30326 h 49197"/>
              <a:gd name="connsiteX25" fmla="*/ 49776 w 181333"/>
              <a:gd name="connsiteY25" fmla="*/ 854 h 49197"/>
              <a:gd name="connsiteX26" fmla="*/ 82561 w 181333"/>
              <a:gd name="connsiteY26" fmla="*/ 854 h 49197"/>
              <a:gd name="connsiteX27" fmla="*/ 82561 w 181333"/>
              <a:gd name="connsiteY27" fmla="*/ 10102 h 49197"/>
              <a:gd name="connsiteX28" fmla="*/ 61927 w 181333"/>
              <a:gd name="connsiteY28" fmla="*/ 10102 h 49197"/>
              <a:gd name="connsiteX29" fmla="*/ 61927 w 181333"/>
              <a:gd name="connsiteY29" fmla="*/ 18923 h 49197"/>
              <a:gd name="connsiteX30" fmla="*/ 81339 w 181333"/>
              <a:gd name="connsiteY30" fmla="*/ 18923 h 49197"/>
              <a:gd name="connsiteX31" fmla="*/ 81339 w 181333"/>
              <a:gd name="connsiteY31" fmla="*/ 28171 h 49197"/>
              <a:gd name="connsiteX32" fmla="*/ 61927 w 181333"/>
              <a:gd name="connsiteY32" fmla="*/ 28171 h 49197"/>
              <a:gd name="connsiteX33" fmla="*/ 61927 w 181333"/>
              <a:gd name="connsiteY33" fmla="*/ 39035 h 49197"/>
              <a:gd name="connsiteX34" fmla="*/ 83258 w 181333"/>
              <a:gd name="connsiteY34" fmla="*/ 39035 h 49197"/>
              <a:gd name="connsiteX35" fmla="*/ 83258 w 181333"/>
              <a:gd name="connsiteY35" fmla="*/ 48273 h 49197"/>
              <a:gd name="connsiteX36" fmla="*/ 49776 w 181333"/>
              <a:gd name="connsiteY36" fmla="*/ 48273 h 49197"/>
              <a:gd name="connsiteX37" fmla="*/ 49776 w 181333"/>
              <a:gd name="connsiteY37" fmla="*/ 854 h 49197"/>
              <a:gd name="connsiteX38" fmla="*/ 122527 w 181333"/>
              <a:gd name="connsiteY38" fmla="*/ 39635 h 49197"/>
              <a:gd name="connsiteX39" fmla="*/ 103529 w 181333"/>
              <a:gd name="connsiteY39" fmla="*/ 39635 h 49197"/>
              <a:gd name="connsiteX40" fmla="*/ 100529 w 181333"/>
              <a:gd name="connsiteY40" fmla="*/ 48273 h 49197"/>
              <a:gd name="connsiteX41" fmla="*/ 88307 w 181333"/>
              <a:gd name="connsiteY41" fmla="*/ 48273 h 49197"/>
              <a:gd name="connsiteX42" fmla="*/ 105761 w 181333"/>
              <a:gd name="connsiteY42" fmla="*/ 854 h 49197"/>
              <a:gd name="connsiteX43" fmla="*/ 120255 w 181333"/>
              <a:gd name="connsiteY43" fmla="*/ 854 h 49197"/>
              <a:gd name="connsiteX44" fmla="*/ 137708 w 181333"/>
              <a:gd name="connsiteY44" fmla="*/ 48273 h 49197"/>
              <a:gd name="connsiteX45" fmla="*/ 125497 w 181333"/>
              <a:gd name="connsiteY45" fmla="*/ 48273 h 49197"/>
              <a:gd name="connsiteX46" fmla="*/ 122527 w 181333"/>
              <a:gd name="connsiteY46" fmla="*/ 39635 h 49197"/>
              <a:gd name="connsiteX47" fmla="*/ 106559 w 181333"/>
              <a:gd name="connsiteY47" fmla="*/ 30834 h 49197"/>
              <a:gd name="connsiteX48" fmla="*/ 119467 w 181333"/>
              <a:gd name="connsiteY48" fmla="*/ 30834 h 49197"/>
              <a:gd name="connsiteX49" fmla="*/ 113023 w 181333"/>
              <a:gd name="connsiteY49" fmla="*/ 11971 h 49197"/>
              <a:gd name="connsiteX50" fmla="*/ 106559 w 181333"/>
              <a:gd name="connsiteY50" fmla="*/ 30834 h 49197"/>
              <a:gd name="connsiteX51" fmla="*/ 181333 w 181333"/>
              <a:gd name="connsiteY51" fmla="*/ 45672 h 49197"/>
              <a:gd name="connsiteX52" fmla="*/ 174354 w 181333"/>
              <a:gd name="connsiteY52" fmla="*/ 48304 h 49197"/>
              <a:gd name="connsiteX53" fmla="*/ 166778 w 181333"/>
              <a:gd name="connsiteY53" fmla="*/ 49198 h 49197"/>
              <a:gd name="connsiteX54" fmla="*/ 148123 w 181333"/>
              <a:gd name="connsiteY54" fmla="*/ 42572 h 49197"/>
              <a:gd name="connsiteX55" fmla="*/ 141245 w 181333"/>
              <a:gd name="connsiteY55" fmla="*/ 24614 h 49197"/>
              <a:gd name="connsiteX56" fmla="*/ 148123 w 181333"/>
              <a:gd name="connsiteY56" fmla="*/ 6626 h 49197"/>
              <a:gd name="connsiteX57" fmla="*/ 166778 w 181333"/>
              <a:gd name="connsiteY57" fmla="*/ 0 h 49197"/>
              <a:gd name="connsiteX58" fmla="*/ 174354 w 181333"/>
              <a:gd name="connsiteY58" fmla="*/ 894 h 49197"/>
              <a:gd name="connsiteX59" fmla="*/ 181333 w 181333"/>
              <a:gd name="connsiteY59" fmla="*/ 3526 h 49197"/>
              <a:gd name="connsiteX60" fmla="*/ 181333 w 181333"/>
              <a:gd name="connsiteY60" fmla="*/ 13333 h 49197"/>
              <a:gd name="connsiteX61" fmla="*/ 174667 w 181333"/>
              <a:gd name="connsiteY61" fmla="*/ 9939 h 49197"/>
              <a:gd name="connsiteX62" fmla="*/ 167758 w 181333"/>
              <a:gd name="connsiteY62" fmla="*/ 8862 h 49197"/>
              <a:gd name="connsiteX63" fmla="*/ 157526 w 181333"/>
              <a:gd name="connsiteY63" fmla="*/ 13059 h 49197"/>
              <a:gd name="connsiteX64" fmla="*/ 153809 w 181333"/>
              <a:gd name="connsiteY64" fmla="*/ 24614 h 49197"/>
              <a:gd name="connsiteX65" fmla="*/ 157526 w 181333"/>
              <a:gd name="connsiteY65" fmla="*/ 36149 h 49197"/>
              <a:gd name="connsiteX66" fmla="*/ 167758 w 181333"/>
              <a:gd name="connsiteY66" fmla="*/ 40336 h 49197"/>
              <a:gd name="connsiteX67" fmla="*/ 174667 w 181333"/>
              <a:gd name="connsiteY67" fmla="*/ 39259 h 49197"/>
              <a:gd name="connsiteX68" fmla="*/ 181333 w 181333"/>
              <a:gd name="connsiteY68" fmla="*/ 35854 h 49197"/>
              <a:gd name="connsiteX69" fmla="*/ 181333 w 181333"/>
              <a:gd name="connsiteY69" fmla="*/ 45672 h 49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81333" h="49197">
                <a:moveTo>
                  <a:pt x="17261" y="21881"/>
                </a:moveTo>
                <a:cubicBezTo>
                  <a:pt x="19807" y="21881"/>
                  <a:pt x="21631" y="21406"/>
                  <a:pt x="22736" y="20458"/>
                </a:cubicBezTo>
                <a:cubicBezTo>
                  <a:pt x="23840" y="19503"/>
                  <a:pt x="24392" y="17934"/>
                  <a:pt x="24392" y="15753"/>
                </a:cubicBezTo>
                <a:cubicBezTo>
                  <a:pt x="24392" y="13591"/>
                  <a:pt x="23840" y="12046"/>
                  <a:pt x="22736" y="11118"/>
                </a:cubicBezTo>
                <a:cubicBezTo>
                  <a:pt x="21632" y="10183"/>
                  <a:pt x="19807" y="9715"/>
                  <a:pt x="17261" y="9715"/>
                </a:cubicBezTo>
                <a:lnTo>
                  <a:pt x="12151" y="9715"/>
                </a:lnTo>
                <a:lnTo>
                  <a:pt x="12151" y="21881"/>
                </a:lnTo>
                <a:lnTo>
                  <a:pt x="17261" y="21881"/>
                </a:lnTo>
                <a:close/>
                <a:moveTo>
                  <a:pt x="12151" y="30326"/>
                </a:moveTo>
                <a:lnTo>
                  <a:pt x="12151" y="48273"/>
                </a:lnTo>
                <a:lnTo>
                  <a:pt x="0" y="48273"/>
                </a:lnTo>
                <a:lnTo>
                  <a:pt x="0" y="854"/>
                </a:lnTo>
                <a:lnTo>
                  <a:pt x="18554" y="854"/>
                </a:lnTo>
                <a:cubicBezTo>
                  <a:pt x="24763" y="854"/>
                  <a:pt x="29311" y="1904"/>
                  <a:pt x="32200" y="4004"/>
                </a:cubicBezTo>
                <a:cubicBezTo>
                  <a:pt x="35095" y="6098"/>
                  <a:pt x="36543" y="9411"/>
                  <a:pt x="36543" y="13943"/>
                </a:cubicBezTo>
                <a:cubicBezTo>
                  <a:pt x="36543" y="17073"/>
                  <a:pt x="35789" y="19644"/>
                  <a:pt x="34280" y="21657"/>
                </a:cubicBezTo>
                <a:cubicBezTo>
                  <a:pt x="32779" y="23669"/>
                  <a:pt x="30513" y="25153"/>
                  <a:pt x="27483" y="26108"/>
                </a:cubicBezTo>
                <a:cubicBezTo>
                  <a:pt x="29146" y="26488"/>
                  <a:pt x="30634" y="27351"/>
                  <a:pt x="31947" y="28700"/>
                </a:cubicBezTo>
                <a:cubicBezTo>
                  <a:pt x="33267" y="30041"/>
                  <a:pt x="34600" y="32077"/>
                  <a:pt x="35947" y="34808"/>
                </a:cubicBezTo>
                <a:lnTo>
                  <a:pt x="42543" y="48273"/>
                </a:lnTo>
                <a:lnTo>
                  <a:pt x="29604" y="48273"/>
                </a:lnTo>
                <a:lnTo>
                  <a:pt x="23857" y="36494"/>
                </a:lnTo>
                <a:cubicBezTo>
                  <a:pt x="22699" y="34123"/>
                  <a:pt x="21524" y="32504"/>
                  <a:pt x="20332" y="31637"/>
                </a:cubicBezTo>
                <a:cubicBezTo>
                  <a:pt x="19147" y="30763"/>
                  <a:pt x="17564" y="30326"/>
                  <a:pt x="15585" y="30326"/>
                </a:cubicBezTo>
                <a:lnTo>
                  <a:pt x="12151" y="30326"/>
                </a:lnTo>
                <a:close/>
                <a:moveTo>
                  <a:pt x="49776" y="854"/>
                </a:moveTo>
                <a:lnTo>
                  <a:pt x="82561" y="854"/>
                </a:lnTo>
                <a:lnTo>
                  <a:pt x="82561" y="10102"/>
                </a:lnTo>
                <a:lnTo>
                  <a:pt x="61927" y="10102"/>
                </a:lnTo>
                <a:lnTo>
                  <a:pt x="61927" y="18923"/>
                </a:lnTo>
                <a:lnTo>
                  <a:pt x="81339" y="18923"/>
                </a:lnTo>
                <a:lnTo>
                  <a:pt x="81339" y="28171"/>
                </a:lnTo>
                <a:lnTo>
                  <a:pt x="61927" y="28171"/>
                </a:lnTo>
                <a:lnTo>
                  <a:pt x="61927" y="39035"/>
                </a:lnTo>
                <a:lnTo>
                  <a:pt x="83258" y="39035"/>
                </a:lnTo>
                <a:lnTo>
                  <a:pt x="83258" y="48273"/>
                </a:lnTo>
                <a:lnTo>
                  <a:pt x="49776" y="48273"/>
                </a:lnTo>
                <a:lnTo>
                  <a:pt x="49776" y="854"/>
                </a:lnTo>
                <a:close/>
                <a:moveTo>
                  <a:pt x="122527" y="39635"/>
                </a:moveTo>
                <a:lnTo>
                  <a:pt x="103529" y="39635"/>
                </a:lnTo>
                <a:lnTo>
                  <a:pt x="100529" y="48273"/>
                </a:lnTo>
                <a:lnTo>
                  <a:pt x="88307" y="48273"/>
                </a:lnTo>
                <a:lnTo>
                  <a:pt x="105761" y="854"/>
                </a:lnTo>
                <a:lnTo>
                  <a:pt x="120255" y="854"/>
                </a:lnTo>
                <a:lnTo>
                  <a:pt x="137708" y="48273"/>
                </a:lnTo>
                <a:lnTo>
                  <a:pt x="125497" y="48273"/>
                </a:lnTo>
                <a:lnTo>
                  <a:pt x="122527" y="39635"/>
                </a:lnTo>
                <a:close/>
                <a:moveTo>
                  <a:pt x="106559" y="30834"/>
                </a:moveTo>
                <a:lnTo>
                  <a:pt x="119467" y="30834"/>
                </a:lnTo>
                <a:lnTo>
                  <a:pt x="113023" y="11971"/>
                </a:lnTo>
                <a:lnTo>
                  <a:pt x="106559" y="30834"/>
                </a:lnTo>
                <a:close/>
                <a:moveTo>
                  <a:pt x="181333" y="45672"/>
                </a:moveTo>
                <a:cubicBezTo>
                  <a:pt x="179097" y="46837"/>
                  <a:pt x="176771" y="47714"/>
                  <a:pt x="174354" y="48304"/>
                </a:cubicBezTo>
                <a:cubicBezTo>
                  <a:pt x="171936" y="48900"/>
                  <a:pt x="169411" y="49198"/>
                  <a:pt x="166778" y="49198"/>
                </a:cubicBezTo>
                <a:cubicBezTo>
                  <a:pt x="158927" y="49198"/>
                  <a:pt x="152709" y="46989"/>
                  <a:pt x="148123" y="42572"/>
                </a:cubicBezTo>
                <a:cubicBezTo>
                  <a:pt x="143537" y="38155"/>
                  <a:pt x="141245" y="32169"/>
                  <a:pt x="141245" y="24614"/>
                </a:cubicBezTo>
                <a:cubicBezTo>
                  <a:pt x="141245" y="17033"/>
                  <a:pt x="143538" y="11037"/>
                  <a:pt x="148123" y="6626"/>
                </a:cubicBezTo>
                <a:cubicBezTo>
                  <a:pt x="152709" y="2209"/>
                  <a:pt x="158927" y="0"/>
                  <a:pt x="166778" y="0"/>
                </a:cubicBezTo>
                <a:cubicBezTo>
                  <a:pt x="169411" y="0"/>
                  <a:pt x="171936" y="298"/>
                  <a:pt x="174354" y="894"/>
                </a:cubicBezTo>
                <a:cubicBezTo>
                  <a:pt x="176771" y="1484"/>
                  <a:pt x="179097" y="2361"/>
                  <a:pt x="181333" y="3526"/>
                </a:cubicBezTo>
                <a:lnTo>
                  <a:pt x="181333" y="13333"/>
                </a:lnTo>
                <a:cubicBezTo>
                  <a:pt x="179077" y="11788"/>
                  <a:pt x="176855" y="10658"/>
                  <a:pt x="174667" y="9939"/>
                </a:cubicBezTo>
                <a:cubicBezTo>
                  <a:pt x="172478" y="9221"/>
                  <a:pt x="170175" y="8862"/>
                  <a:pt x="167758" y="8862"/>
                </a:cubicBezTo>
                <a:cubicBezTo>
                  <a:pt x="163422" y="8862"/>
                  <a:pt x="160011" y="10261"/>
                  <a:pt x="157526" y="13059"/>
                </a:cubicBezTo>
                <a:cubicBezTo>
                  <a:pt x="155048" y="15851"/>
                  <a:pt x="153809" y="19702"/>
                  <a:pt x="153809" y="24614"/>
                </a:cubicBezTo>
                <a:cubicBezTo>
                  <a:pt x="153809" y="29506"/>
                  <a:pt x="155048" y="33351"/>
                  <a:pt x="157526" y="36149"/>
                </a:cubicBezTo>
                <a:cubicBezTo>
                  <a:pt x="160011" y="38940"/>
                  <a:pt x="163422" y="40336"/>
                  <a:pt x="167758" y="40336"/>
                </a:cubicBezTo>
                <a:cubicBezTo>
                  <a:pt x="170175" y="40336"/>
                  <a:pt x="172478" y="39977"/>
                  <a:pt x="174667" y="39259"/>
                </a:cubicBezTo>
                <a:cubicBezTo>
                  <a:pt x="176855" y="38534"/>
                  <a:pt x="179077" y="37399"/>
                  <a:pt x="181333" y="35854"/>
                </a:cubicBezTo>
                <a:lnTo>
                  <a:pt x="181333" y="45672"/>
                </a:lnTo>
                <a:close/>
              </a:path>
            </a:pathLst>
          </a:custGeom>
          <a:solidFill>
            <a:srgbClr val="C55F53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389" name="Freeform 388">
            <a:extLst>
              <a:ext uri="{FF2B5EF4-FFF2-40B4-BE49-F238E27FC236}">
                <a16:creationId xmlns:a16="http://schemas.microsoft.com/office/drawing/2014/main" id="{EF8B7BED-2B71-B0EA-C2FB-728301C10F10}"/>
              </a:ext>
            </a:extLst>
          </p:cNvPr>
          <p:cNvSpPr/>
          <p:nvPr/>
        </p:nvSpPr>
        <p:spPr>
          <a:xfrm>
            <a:off x="589756" y="5138631"/>
            <a:ext cx="86217" cy="15863"/>
          </a:xfrm>
          <a:custGeom>
            <a:avLst/>
            <a:gdLst>
              <a:gd name="connsiteX0" fmla="*/ 0 w 86217"/>
              <a:gd name="connsiteY0" fmla="*/ 0 h 15863"/>
              <a:gd name="connsiteX1" fmla="*/ 86217 w 86217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6217" h="15863">
                <a:moveTo>
                  <a:pt x="0" y="0"/>
                </a:moveTo>
                <a:lnTo>
                  <a:pt x="86217" y="0"/>
                </a:lnTo>
              </a:path>
            </a:pathLst>
          </a:custGeom>
          <a:noFill/>
          <a:ln w="11352" cap="rnd">
            <a:solidFill>
              <a:srgbClr val="4E86A8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390" name="Freeform 389">
            <a:extLst>
              <a:ext uri="{FF2B5EF4-FFF2-40B4-BE49-F238E27FC236}">
                <a16:creationId xmlns:a16="http://schemas.microsoft.com/office/drawing/2014/main" id="{9340A099-0D9E-30F5-30DA-7CF34F707AEF}"/>
              </a:ext>
            </a:extLst>
          </p:cNvPr>
          <p:cNvSpPr/>
          <p:nvPr/>
        </p:nvSpPr>
        <p:spPr>
          <a:xfrm>
            <a:off x="589753" y="5062991"/>
            <a:ext cx="15766" cy="75636"/>
          </a:xfrm>
          <a:custGeom>
            <a:avLst/>
            <a:gdLst>
              <a:gd name="connsiteX0" fmla="*/ 0 w 15766"/>
              <a:gd name="connsiteY0" fmla="*/ 75637 h 75636"/>
              <a:gd name="connsiteX1" fmla="*/ 0 w 15766"/>
              <a:gd name="connsiteY1" fmla="*/ 0 h 75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766" h="75636">
                <a:moveTo>
                  <a:pt x="0" y="75637"/>
                </a:moveTo>
                <a:lnTo>
                  <a:pt x="0" y="0"/>
                </a:lnTo>
              </a:path>
            </a:pathLst>
          </a:custGeom>
          <a:noFill/>
          <a:ln w="11352" cap="rnd">
            <a:solidFill>
              <a:srgbClr val="4E86A8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14" name="Freeform 413">
            <a:extLst>
              <a:ext uri="{FF2B5EF4-FFF2-40B4-BE49-F238E27FC236}">
                <a16:creationId xmlns:a16="http://schemas.microsoft.com/office/drawing/2014/main" id="{894926F5-D89A-1B94-2A5E-1E4205E2B7B3}"/>
              </a:ext>
            </a:extLst>
          </p:cNvPr>
          <p:cNvSpPr/>
          <p:nvPr/>
        </p:nvSpPr>
        <p:spPr>
          <a:xfrm>
            <a:off x="599430" y="5083219"/>
            <a:ext cx="19354" cy="19348"/>
          </a:xfrm>
          <a:custGeom>
            <a:avLst/>
            <a:gdLst>
              <a:gd name="connsiteX0" fmla="*/ 9677 w 19354"/>
              <a:gd name="connsiteY0" fmla="*/ 19349 h 19348"/>
              <a:gd name="connsiteX1" fmla="*/ 16520 w 19354"/>
              <a:gd name="connsiteY1" fmla="*/ 16515 h 19348"/>
              <a:gd name="connsiteX2" fmla="*/ 19355 w 19354"/>
              <a:gd name="connsiteY2" fmla="*/ 9675 h 19348"/>
              <a:gd name="connsiteX3" fmla="*/ 16520 w 19354"/>
              <a:gd name="connsiteY3" fmla="*/ 2834 h 19348"/>
              <a:gd name="connsiteX4" fmla="*/ 9677 w 19354"/>
              <a:gd name="connsiteY4" fmla="*/ 0 h 19348"/>
              <a:gd name="connsiteX5" fmla="*/ 2834 w 19354"/>
              <a:gd name="connsiteY5" fmla="*/ 2834 h 19348"/>
              <a:gd name="connsiteX6" fmla="*/ 0 w 19354"/>
              <a:gd name="connsiteY6" fmla="*/ 9675 h 19348"/>
              <a:gd name="connsiteX7" fmla="*/ 2834 w 19354"/>
              <a:gd name="connsiteY7" fmla="*/ 16515 h 19348"/>
              <a:gd name="connsiteX8" fmla="*/ 9677 w 19354"/>
              <a:gd name="connsiteY8" fmla="*/ 19349 h 1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354" h="19348">
                <a:moveTo>
                  <a:pt x="9677" y="19349"/>
                </a:moveTo>
                <a:cubicBezTo>
                  <a:pt x="12244" y="19349"/>
                  <a:pt x="14706" y="18330"/>
                  <a:pt x="16520" y="16515"/>
                </a:cubicBezTo>
                <a:cubicBezTo>
                  <a:pt x="18335" y="14701"/>
                  <a:pt x="19355" y="12240"/>
                  <a:pt x="19355" y="9675"/>
                </a:cubicBezTo>
                <a:cubicBezTo>
                  <a:pt x="19355" y="7109"/>
                  <a:pt x="18335" y="4648"/>
                  <a:pt x="16520" y="2834"/>
                </a:cubicBezTo>
                <a:cubicBezTo>
                  <a:pt x="14706" y="1020"/>
                  <a:pt x="12244" y="0"/>
                  <a:pt x="9677" y="0"/>
                </a:cubicBezTo>
                <a:cubicBezTo>
                  <a:pt x="7111" y="0"/>
                  <a:pt x="4649" y="1020"/>
                  <a:pt x="2834" y="2834"/>
                </a:cubicBezTo>
                <a:cubicBezTo>
                  <a:pt x="1020" y="4648"/>
                  <a:pt x="0" y="7109"/>
                  <a:pt x="0" y="9675"/>
                </a:cubicBezTo>
                <a:cubicBezTo>
                  <a:pt x="0" y="12240"/>
                  <a:pt x="1020" y="14701"/>
                  <a:pt x="2834" y="16515"/>
                </a:cubicBezTo>
                <a:cubicBezTo>
                  <a:pt x="4649" y="18330"/>
                  <a:pt x="7111" y="19349"/>
                  <a:pt x="9677" y="19349"/>
                </a:cubicBezTo>
                <a:close/>
              </a:path>
            </a:pathLst>
          </a:custGeom>
          <a:solidFill>
            <a:srgbClr val="4E86A8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15" name="Freeform 414">
            <a:extLst>
              <a:ext uri="{FF2B5EF4-FFF2-40B4-BE49-F238E27FC236}">
                <a16:creationId xmlns:a16="http://schemas.microsoft.com/office/drawing/2014/main" id="{BEB4180F-A1F0-993D-F9B8-A2EEF2903419}"/>
              </a:ext>
            </a:extLst>
          </p:cNvPr>
          <p:cNvSpPr/>
          <p:nvPr/>
        </p:nvSpPr>
        <p:spPr>
          <a:xfrm>
            <a:off x="629342" y="5065630"/>
            <a:ext cx="19354" cy="19348"/>
          </a:xfrm>
          <a:custGeom>
            <a:avLst/>
            <a:gdLst>
              <a:gd name="connsiteX0" fmla="*/ 9677 w 19354"/>
              <a:gd name="connsiteY0" fmla="*/ 19349 h 19348"/>
              <a:gd name="connsiteX1" fmla="*/ 16520 w 19354"/>
              <a:gd name="connsiteY1" fmla="*/ 16515 h 19348"/>
              <a:gd name="connsiteX2" fmla="*/ 19355 w 19354"/>
              <a:gd name="connsiteY2" fmla="*/ 9675 h 19348"/>
              <a:gd name="connsiteX3" fmla="*/ 16520 w 19354"/>
              <a:gd name="connsiteY3" fmla="*/ 2834 h 19348"/>
              <a:gd name="connsiteX4" fmla="*/ 9677 w 19354"/>
              <a:gd name="connsiteY4" fmla="*/ 0 h 19348"/>
              <a:gd name="connsiteX5" fmla="*/ 2834 w 19354"/>
              <a:gd name="connsiteY5" fmla="*/ 2834 h 19348"/>
              <a:gd name="connsiteX6" fmla="*/ 0 w 19354"/>
              <a:gd name="connsiteY6" fmla="*/ 9675 h 19348"/>
              <a:gd name="connsiteX7" fmla="*/ 2834 w 19354"/>
              <a:gd name="connsiteY7" fmla="*/ 16515 h 19348"/>
              <a:gd name="connsiteX8" fmla="*/ 9677 w 19354"/>
              <a:gd name="connsiteY8" fmla="*/ 19349 h 1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354" h="19348">
                <a:moveTo>
                  <a:pt x="9677" y="19349"/>
                </a:moveTo>
                <a:cubicBezTo>
                  <a:pt x="12244" y="19349"/>
                  <a:pt x="14706" y="18330"/>
                  <a:pt x="16520" y="16515"/>
                </a:cubicBezTo>
                <a:cubicBezTo>
                  <a:pt x="18335" y="14701"/>
                  <a:pt x="19355" y="12240"/>
                  <a:pt x="19355" y="9675"/>
                </a:cubicBezTo>
                <a:cubicBezTo>
                  <a:pt x="19355" y="7109"/>
                  <a:pt x="18335" y="4648"/>
                  <a:pt x="16520" y="2834"/>
                </a:cubicBezTo>
                <a:cubicBezTo>
                  <a:pt x="14706" y="1019"/>
                  <a:pt x="12244" y="0"/>
                  <a:pt x="9677" y="0"/>
                </a:cubicBezTo>
                <a:cubicBezTo>
                  <a:pt x="7111" y="0"/>
                  <a:pt x="4649" y="1019"/>
                  <a:pt x="2834" y="2834"/>
                </a:cubicBezTo>
                <a:cubicBezTo>
                  <a:pt x="1020" y="4648"/>
                  <a:pt x="0" y="7109"/>
                  <a:pt x="0" y="9675"/>
                </a:cubicBezTo>
                <a:cubicBezTo>
                  <a:pt x="0" y="12240"/>
                  <a:pt x="1020" y="14701"/>
                  <a:pt x="2834" y="16515"/>
                </a:cubicBezTo>
                <a:cubicBezTo>
                  <a:pt x="4649" y="18330"/>
                  <a:pt x="7111" y="19349"/>
                  <a:pt x="9677" y="19349"/>
                </a:cubicBezTo>
                <a:close/>
              </a:path>
            </a:pathLst>
          </a:custGeom>
          <a:solidFill>
            <a:srgbClr val="4E86A8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16" name="Freeform 415">
            <a:extLst>
              <a:ext uri="{FF2B5EF4-FFF2-40B4-BE49-F238E27FC236}">
                <a16:creationId xmlns:a16="http://schemas.microsoft.com/office/drawing/2014/main" id="{1147BD4A-9C8C-6040-FE28-EF6C7622954C}"/>
              </a:ext>
            </a:extLst>
          </p:cNvPr>
          <p:cNvSpPr/>
          <p:nvPr/>
        </p:nvSpPr>
        <p:spPr>
          <a:xfrm>
            <a:off x="656615" y="5095533"/>
            <a:ext cx="19354" cy="19348"/>
          </a:xfrm>
          <a:custGeom>
            <a:avLst/>
            <a:gdLst>
              <a:gd name="connsiteX0" fmla="*/ 9677 w 19354"/>
              <a:gd name="connsiteY0" fmla="*/ 19349 h 19348"/>
              <a:gd name="connsiteX1" fmla="*/ 16520 w 19354"/>
              <a:gd name="connsiteY1" fmla="*/ 16515 h 19348"/>
              <a:gd name="connsiteX2" fmla="*/ 19355 w 19354"/>
              <a:gd name="connsiteY2" fmla="*/ 9674 h 19348"/>
              <a:gd name="connsiteX3" fmla="*/ 16520 w 19354"/>
              <a:gd name="connsiteY3" fmla="*/ 2834 h 19348"/>
              <a:gd name="connsiteX4" fmla="*/ 9677 w 19354"/>
              <a:gd name="connsiteY4" fmla="*/ 0 h 19348"/>
              <a:gd name="connsiteX5" fmla="*/ 2834 w 19354"/>
              <a:gd name="connsiteY5" fmla="*/ 2834 h 19348"/>
              <a:gd name="connsiteX6" fmla="*/ 0 w 19354"/>
              <a:gd name="connsiteY6" fmla="*/ 9674 h 19348"/>
              <a:gd name="connsiteX7" fmla="*/ 2834 w 19354"/>
              <a:gd name="connsiteY7" fmla="*/ 16515 h 19348"/>
              <a:gd name="connsiteX8" fmla="*/ 9677 w 19354"/>
              <a:gd name="connsiteY8" fmla="*/ 19349 h 1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354" h="19348">
                <a:moveTo>
                  <a:pt x="9677" y="19349"/>
                </a:moveTo>
                <a:cubicBezTo>
                  <a:pt x="12244" y="19349"/>
                  <a:pt x="14706" y="18330"/>
                  <a:pt x="16520" y="16515"/>
                </a:cubicBezTo>
                <a:cubicBezTo>
                  <a:pt x="18335" y="14701"/>
                  <a:pt x="19355" y="12240"/>
                  <a:pt x="19355" y="9674"/>
                </a:cubicBezTo>
                <a:cubicBezTo>
                  <a:pt x="19355" y="7109"/>
                  <a:pt x="18335" y="4648"/>
                  <a:pt x="16520" y="2834"/>
                </a:cubicBezTo>
                <a:cubicBezTo>
                  <a:pt x="14706" y="1019"/>
                  <a:pt x="12244" y="0"/>
                  <a:pt x="9677" y="0"/>
                </a:cubicBezTo>
                <a:cubicBezTo>
                  <a:pt x="7111" y="0"/>
                  <a:pt x="4649" y="1019"/>
                  <a:pt x="2834" y="2834"/>
                </a:cubicBezTo>
                <a:cubicBezTo>
                  <a:pt x="1020" y="4648"/>
                  <a:pt x="0" y="7109"/>
                  <a:pt x="0" y="9674"/>
                </a:cubicBezTo>
                <a:cubicBezTo>
                  <a:pt x="0" y="12240"/>
                  <a:pt x="1020" y="14701"/>
                  <a:pt x="2834" y="16515"/>
                </a:cubicBezTo>
                <a:cubicBezTo>
                  <a:pt x="4649" y="18330"/>
                  <a:pt x="7111" y="19349"/>
                  <a:pt x="9677" y="19349"/>
                </a:cubicBezTo>
                <a:close/>
              </a:path>
            </a:pathLst>
          </a:custGeom>
          <a:solidFill>
            <a:srgbClr val="4E86A8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17" name="Freeform 416">
            <a:extLst>
              <a:ext uri="{FF2B5EF4-FFF2-40B4-BE49-F238E27FC236}">
                <a16:creationId xmlns:a16="http://schemas.microsoft.com/office/drawing/2014/main" id="{9285B38E-A2B8-E6EB-3CC2-4E4AFCC8FE6B}"/>
              </a:ext>
            </a:extLst>
          </p:cNvPr>
          <p:cNvSpPr/>
          <p:nvPr/>
        </p:nvSpPr>
        <p:spPr>
          <a:xfrm>
            <a:off x="2026410" y="5067389"/>
            <a:ext cx="12316" cy="12312"/>
          </a:xfrm>
          <a:custGeom>
            <a:avLst/>
            <a:gdLst>
              <a:gd name="connsiteX0" fmla="*/ 6158 w 12316"/>
              <a:gd name="connsiteY0" fmla="*/ 12313 h 12312"/>
              <a:gd name="connsiteX1" fmla="*/ 10513 w 12316"/>
              <a:gd name="connsiteY1" fmla="*/ 10510 h 12312"/>
              <a:gd name="connsiteX2" fmla="*/ 12317 w 12316"/>
              <a:gd name="connsiteY2" fmla="*/ 6156 h 12312"/>
              <a:gd name="connsiteX3" fmla="*/ 10513 w 12316"/>
              <a:gd name="connsiteY3" fmla="*/ 1803 h 12312"/>
              <a:gd name="connsiteX4" fmla="*/ 6158 w 12316"/>
              <a:gd name="connsiteY4" fmla="*/ 0 h 12312"/>
              <a:gd name="connsiteX5" fmla="*/ 1804 w 12316"/>
              <a:gd name="connsiteY5" fmla="*/ 1803 h 12312"/>
              <a:gd name="connsiteX6" fmla="*/ 0 w 12316"/>
              <a:gd name="connsiteY6" fmla="*/ 6156 h 12312"/>
              <a:gd name="connsiteX7" fmla="*/ 1804 w 12316"/>
              <a:gd name="connsiteY7" fmla="*/ 10510 h 12312"/>
              <a:gd name="connsiteX8" fmla="*/ 6158 w 12316"/>
              <a:gd name="connsiteY8" fmla="*/ 12313 h 12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316" h="12312">
                <a:moveTo>
                  <a:pt x="6158" y="12313"/>
                </a:moveTo>
                <a:cubicBezTo>
                  <a:pt x="7792" y="12313"/>
                  <a:pt x="9358" y="11664"/>
                  <a:pt x="10513" y="10510"/>
                </a:cubicBezTo>
                <a:cubicBezTo>
                  <a:pt x="11668" y="9355"/>
                  <a:pt x="12317" y="7789"/>
                  <a:pt x="12317" y="6156"/>
                </a:cubicBezTo>
                <a:cubicBezTo>
                  <a:pt x="12317" y="4524"/>
                  <a:pt x="11668" y="2958"/>
                  <a:pt x="10513" y="1803"/>
                </a:cubicBezTo>
                <a:cubicBezTo>
                  <a:pt x="9358" y="649"/>
                  <a:pt x="7792" y="0"/>
                  <a:pt x="6158" y="0"/>
                </a:cubicBezTo>
                <a:cubicBezTo>
                  <a:pt x="4525" y="0"/>
                  <a:pt x="2959" y="649"/>
                  <a:pt x="1804" y="1803"/>
                </a:cubicBezTo>
                <a:cubicBezTo>
                  <a:pt x="649" y="2958"/>
                  <a:pt x="0" y="4524"/>
                  <a:pt x="0" y="6156"/>
                </a:cubicBezTo>
                <a:cubicBezTo>
                  <a:pt x="0" y="7789"/>
                  <a:pt x="649" y="9355"/>
                  <a:pt x="1804" y="10510"/>
                </a:cubicBezTo>
                <a:cubicBezTo>
                  <a:pt x="2959" y="11664"/>
                  <a:pt x="4525" y="12313"/>
                  <a:pt x="6158" y="12313"/>
                </a:cubicBezTo>
                <a:close/>
              </a:path>
            </a:pathLst>
          </a:custGeom>
          <a:solidFill>
            <a:srgbClr val="3A8A69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18" name="Freeform 417">
            <a:extLst>
              <a:ext uri="{FF2B5EF4-FFF2-40B4-BE49-F238E27FC236}">
                <a16:creationId xmlns:a16="http://schemas.microsoft.com/office/drawing/2014/main" id="{08F9A19D-0026-EADE-E9B2-F97CE57C6732}"/>
              </a:ext>
            </a:extLst>
          </p:cNvPr>
          <p:cNvSpPr/>
          <p:nvPr/>
        </p:nvSpPr>
        <p:spPr>
          <a:xfrm>
            <a:off x="2079197" y="5097294"/>
            <a:ext cx="12316" cy="12313"/>
          </a:xfrm>
          <a:custGeom>
            <a:avLst/>
            <a:gdLst>
              <a:gd name="connsiteX0" fmla="*/ 6158 w 12316"/>
              <a:gd name="connsiteY0" fmla="*/ 12313 h 12313"/>
              <a:gd name="connsiteX1" fmla="*/ 10513 w 12316"/>
              <a:gd name="connsiteY1" fmla="*/ 10510 h 12313"/>
              <a:gd name="connsiteX2" fmla="*/ 12317 w 12316"/>
              <a:gd name="connsiteY2" fmla="*/ 6157 h 12313"/>
              <a:gd name="connsiteX3" fmla="*/ 10513 w 12316"/>
              <a:gd name="connsiteY3" fmla="*/ 1803 h 12313"/>
              <a:gd name="connsiteX4" fmla="*/ 6158 w 12316"/>
              <a:gd name="connsiteY4" fmla="*/ 0 h 12313"/>
              <a:gd name="connsiteX5" fmla="*/ 1804 w 12316"/>
              <a:gd name="connsiteY5" fmla="*/ 1803 h 12313"/>
              <a:gd name="connsiteX6" fmla="*/ 0 w 12316"/>
              <a:gd name="connsiteY6" fmla="*/ 6157 h 12313"/>
              <a:gd name="connsiteX7" fmla="*/ 1804 w 12316"/>
              <a:gd name="connsiteY7" fmla="*/ 10510 h 12313"/>
              <a:gd name="connsiteX8" fmla="*/ 6158 w 12316"/>
              <a:gd name="connsiteY8" fmla="*/ 12313 h 12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316" h="12313">
                <a:moveTo>
                  <a:pt x="6158" y="12313"/>
                </a:moveTo>
                <a:cubicBezTo>
                  <a:pt x="7792" y="12313"/>
                  <a:pt x="9358" y="11664"/>
                  <a:pt x="10513" y="10510"/>
                </a:cubicBezTo>
                <a:cubicBezTo>
                  <a:pt x="11668" y="9355"/>
                  <a:pt x="12317" y="7789"/>
                  <a:pt x="12317" y="6157"/>
                </a:cubicBezTo>
                <a:cubicBezTo>
                  <a:pt x="12317" y="4524"/>
                  <a:pt x="11668" y="2958"/>
                  <a:pt x="10513" y="1803"/>
                </a:cubicBezTo>
                <a:cubicBezTo>
                  <a:pt x="9358" y="649"/>
                  <a:pt x="7792" y="0"/>
                  <a:pt x="6158" y="0"/>
                </a:cubicBezTo>
                <a:cubicBezTo>
                  <a:pt x="4525" y="0"/>
                  <a:pt x="2959" y="649"/>
                  <a:pt x="1804" y="1803"/>
                </a:cubicBezTo>
                <a:cubicBezTo>
                  <a:pt x="649" y="2958"/>
                  <a:pt x="0" y="4524"/>
                  <a:pt x="0" y="6157"/>
                </a:cubicBezTo>
                <a:cubicBezTo>
                  <a:pt x="0" y="7789"/>
                  <a:pt x="649" y="9355"/>
                  <a:pt x="1804" y="10510"/>
                </a:cubicBezTo>
                <a:cubicBezTo>
                  <a:pt x="2959" y="11664"/>
                  <a:pt x="4525" y="12313"/>
                  <a:pt x="6158" y="12313"/>
                </a:cubicBezTo>
                <a:close/>
              </a:path>
            </a:pathLst>
          </a:custGeom>
          <a:solidFill>
            <a:srgbClr val="3A8A69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19" name="Freeform 418">
            <a:extLst>
              <a:ext uri="{FF2B5EF4-FFF2-40B4-BE49-F238E27FC236}">
                <a16:creationId xmlns:a16="http://schemas.microsoft.com/office/drawing/2014/main" id="{52EE9885-558A-5EC3-EBA9-22CCF3356115}"/>
              </a:ext>
            </a:extLst>
          </p:cNvPr>
          <p:cNvSpPr/>
          <p:nvPr/>
        </p:nvSpPr>
        <p:spPr>
          <a:xfrm>
            <a:off x="2026410" y="5127194"/>
            <a:ext cx="12316" cy="12312"/>
          </a:xfrm>
          <a:custGeom>
            <a:avLst/>
            <a:gdLst>
              <a:gd name="connsiteX0" fmla="*/ 6158 w 12316"/>
              <a:gd name="connsiteY0" fmla="*/ 12313 h 12312"/>
              <a:gd name="connsiteX1" fmla="*/ 10513 w 12316"/>
              <a:gd name="connsiteY1" fmla="*/ 10510 h 12312"/>
              <a:gd name="connsiteX2" fmla="*/ 12317 w 12316"/>
              <a:gd name="connsiteY2" fmla="*/ 6157 h 12312"/>
              <a:gd name="connsiteX3" fmla="*/ 10513 w 12316"/>
              <a:gd name="connsiteY3" fmla="*/ 1803 h 12312"/>
              <a:gd name="connsiteX4" fmla="*/ 6158 w 12316"/>
              <a:gd name="connsiteY4" fmla="*/ 0 h 12312"/>
              <a:gd name="connsiteX5" fmla="*/ 1804 w 12316"/>
              <a:gd name="connsiteY5" fmla="*/ 1803 h 12312"/>
              <a:gd name="connsiteX6" fmla="*/ 0 w 12316"/>
              <a:gd name="connsiteY6" fmla="*/ 6157 h 12312"/>
              <a:gd name="connsiteX7" fmla="*/ 1804 w 12316"/>
              <a:gd name="connsiteY7" fmla="*/ 10510 h 12312"/>
              <a:gd name="connsiteX8" fmla="*/ 6158 w 12316"/>
              <a:gd name="connsiteY8" fmla="*/ 12313 h 12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316" h="12312">
                <a:moveTo>
                  <a:pt x="6158" y="12313"/>
                </a:moveTo>
                <a:cubicBezTo>
                  <a:pt x="7792" y="12313"/>
                  <a:pt x="9358" y="11664"/>
                  <a:pt x="10513" y="10510"/>
                </a:cubicBezTo>
                <a:cubicBezTo>
                  <a:pt x="11668" y="9355"/>
                  <a:pt x="12317" y="7789"/>
                  <a:pt x="12317" y="6157"/>
                </a:cubicBezTo>
                <a:cubicBezTo>
                  <a:pt x="12317" y="4524"/>
                  <a:pt x="11668" y="2958"/>
                  <a:pt x="10513" y="1803"/>
                </a:cubicBezTo>
                <a:cubicBezTo>
                  <a:pt x="9358" y="649"/>
                  <a:pt x="7792" y="0"/>
                  <a:pt x="6158" y="0"/>
                </a:cubicBezTo>
                <a:cubicBezTo>
                  <a:pt x="4525" y="0"/>
                  <a:pt x="2959" y="649"/>
                  <a:pt x="1804" y="1803"/>
                </a:cubicBezTo>
                <a:cubicBezTo>
                  <a:pt x="649" y="2958"/>
                  <a:pt x="0" y="4524"/>
                  <a:pt x="0" y="6157"/>
                </a:cubicBezTo>
                <a:cubicBezTo>
                  <a:pt x="0" y="7789"/>
                  <a:pt x="649" y="9355"/>
                  <a:pt x="1804" y="10510"/>
                </a:cubicBezTo>
                <a:cubicBezTo>
                  <a:pt x="2959" y="11664"/>
                  <a:pt x="4525" y="12313"/>
                  <a:pt x="6158" y="12313"/>
                </a:cubicBezTo>
                <a:close/>
              </a:path>
            </a:pathLst>
          </a:custGeom>
          <a:solidFill>
            <a:srgbClr val="3A8A69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20" name="Freeform 419">
            <a:extLst>
              <a:ext uri="{FF2B5EF4-FFF2-40B4-BE49-F238E27FC236}">
                <a16:creationId xmlns:a16="http://schemas.microsoft.com/office/drawing/2014/main" id="{4ACF6BA1-18AD-AE79-B2F4-1F61A05712FD}"/>
              </a:ext>
            </a:extLst>
          </p:cNvPr>
          <p:cNvSpPr/>
          <p:nvPr/>
        </p:nvSpPr>
        <p:spPr>
          <a:xfrm>
            <a:off x="2013217" y="5271434"/>
            <a:ext cx="24633" cy="24625"/>
          </a:xfrm>
          <a:custGeom>
            <a:avLst/>
            <a:gdLst>
              <a:gd name="connsiteX0" fmla="*/ 12317 w 24633"/>
              <a:gd name="connsiteY0" fmla="*/ 24626 h 24625"/>
              <a:gd name="connsiteX1" fmla="*/ 21026 w 24633"/>
              <a:gd name="connsiteY1" fmla="*/ 21019 h 24625"/>
              <a:gd name="connsiteX2" fmla="*/ 24634 w 24633"/>
              <a:gd name="connsiteY2" fmla="*/ 12313 h 24625"/>
              <a:gd name="connsiteX3" fmla="*/ 21026 w 24633"/>
              <a:gd name="connsiteY3" fmla="*/ 3606 h 24625"/>
              <a:gd name="connsiteX4" fmla="*/ 12317 w 24633"/>
              <a:gd name="connsiteY4" fmla="*/ 0 h 24625"/>
              <a:gd name="connsiteX5" fmla="*/ 3608 w 24633"/>
              <a:gd name="connsiteY5" fmla="*/ 3606 h 24625"/>
              <a:gd name="connsiteX6" fmla="*/ 0 w 24633"/>
              <a:gd name="connsiteY6" fmla="*/ 12313 h 24625"/>
              <a:gd name="connsiteX7" fmla="*/ 3608 w 24633"/>
              <a:gd name="connsiteY7" fmla="*/ 21019 h 24625"/>
              <a:gd name="connsiteX8" fmla="*/ 12317 w 24633"/>
              <a:gd name="connsiteY8" fmla="*/ 24626 h 24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633" h="24625">
                <a:moveTo>
                  <a:pt x="12317" y="24626"/>
                </a:moveTo>
                <a:cubicBezTo>
                  <a:pt x="15583" y="24626"/>
                  <a:pt x="18716" y="23329"/>
                  <a:pt x="21026" y="21019"/>
                </a:cubicBezTo>
                <a:cubicBezTo>
                  <a:pt x="23336" y="18711"/>
                  <a:pt x="24634" y="15578"/>
                  <a:pt x="24634" y="12313"/>
                </a:cubicBezTo>
                <a:cubicBezTo>
                  <a:pt x="24634" y="9047"/>
                  <a:pt x="23336" y="5916"/>
                  <a:pt x="21026" y="3606"/>
                </a:cubicBezTo>
                <a:cubicBezTo>
                  <a:pt x="18716" y="1297"/>
                  <a:pt x="15583" y="0"/>
                  <a:pt x="12317" y="0"/>
                </a:cubicBezTo>
                <a:cubicBezTo>
                  <a:pt x="9050" y="0"/>
                  <a:pt x="5917" y="1297"/>
                  <a:pt x="3608" y="3606"/>
                </a:cubicBezTo>
                <a:cubicBezTo>
                  <a:pt x="1298" y="5916"/>
                  <a:pt x="0" y="9047"/>
                  <a:pt x="0" y="12313"/>
                </a:cubicBezTo>
                <a:cubicBezTo>
                  <a:pt x="0" y="15578"/>
                  <a:pt x="1298" y="18711"/>
                  <a:pt x="3608" y="21019"/>
                </a:cubicBezTo>
                <a:cubicBezTo>
                  <a:pt x="5917" y="23329"/>
                  <a:pt x="9050" y="24626"/>
                  <a:pt x="12317" y="24626"/>
                </a:cubicBezTo>
                <a:close/>
              </a:path>
            </a:pathLst>
          </a:custGeom>
          <a:solidFill>
            <a:srgbClr val="FFFFFF"/>
          </a:solidFill>
          <a:ln w="12298" cap="flat">
            <a:solidFill>
              <a:srgbClr val="606A90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21" name="Freeform 420">
            <a:extLst>
              <a:ext uri="{FF2B5EF4-FFF2-40B4-BE49-F238E27FC236}">
                <a16:creationId xmlns:a16="http://schemas.microsoft.com/office/drawing/2014/main" id="{E9820745-EBA0-99D9-5303-EFCB14A3EFD1}"/>
              </a:ext>
            </a:extLst>
          </p:cNvPr>
          <p:cNvSpPr/>
          <p:nvPr/>
        </p:nvSpPr>
        <p:spPr>
          <a:xfrm>
            <a:off x="2083598" y="5274952"/>
            <a:ext cx="24633" cy="24625"/>
          </a:xfrm>
          <a:custGeom>
            <a:avLst/>
            <a:gdLst>
              <a:gd name="connsiteX0" fmla="*/ 12317 w 24633"/>
              <a:gd name="connsiteY0" fmla="*/ 24626 h 24625"/>
              <a:gd name="connsiteX1" fmla="*/ 21026 w 24633"/>
              <a:gd name="connsiteY1" fmla="*/ 21019 h 24625"/>
              <a:gd name="connsiteX2" fmla="*/ 24634 w 24633"/>
              <a:gd name="connsiteY2" fmla="*/ 12313 h 24625"/>
              <a:gd name="connsiteX3" fmla="*/ 21026 w 24633"/>
              <a:gd name="connsiteY3" fmla="*/ 3606 h 24625"/>
              <a:gd name="connsiteX4" fmla="*/ 12317 w 24633"/>
              <a:gd name="connsiteY4" fmla="*/ 0 h 24625"/>
              <a:gd name="connsiteX5" fmla="*/ 3607 w 24633"/>
              <a:gd name="connsiteY5" fmla="*/ 3606 h 24625"/>
              <a:gd name="connsiteX6" fmla="*/ 0 w 24633"/>
              <a:gd name="connsiteY6" fmla="*/ 12313 h 24625"/>
              <a:gd name="connsiteX7" fmla="*/ 3607 w 24633"/>
              <a:gd name="connsiteY7" fmla="*/ 21019 h 24625"/>
              <a:gd name="connsiteX8" fmla="*/ 12317 w 24633"/>
              <a:gd name="connsiteY8" fmla="*/ 24626 h 24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633" h="24625">
                <a:moveTo>
                  <a:pt x="12317" y="24626"/>
                </a:moveTo>
                <a:cubicBezTo>
                  <a:pt x="15583" y="24626"/>
                  <a:pt x="18716" y="23328"/>
                  <a:pt x="21026" y="21019"/>
                </a:cubicBezTo>
                <a:cubicBezTo>
                  <a:pt x="23336" y="18710"/>
                  <a:pt x="24634" y="15578"/>
                  <a:pt x="24634" y="12313"/>
                </a:cubicBezTo>
                <a:cubicBezTo>
                  <a:pt x="24634" y="9047"/>
                  <a:pt x="23336" y="5915"/>
                  <a:pt x="21026" y="3606"/>
                </a:cubicBezTo>
                <a:cubicBezTo>
                  <a:pt x="18716" y="1297"/>
                  <a:pt x="15583" y="0"/>
                  <a:pt x="12317" y="0"/>
                </a:cubicBezTo>
                <a:cubicBezTo>
                  <a:pt x="9050" y="0"/>
                  <a:pt x="5917" y="1297"/>
                  <a:pt x="3607" y="3606"/>
                </a:cubicBezTo>
                <a:cubicBezTo>
                  <a:pt x="1298" y="5915"/>
                  <a:pt x="0" y="9047"/>
                  <a:pt x="0" y="12313"/>
                </a:cubicBezTo>
                <a:cubicBezTo>
                  <a:pt x="0" y="15578"/>
                  <a:pt x="1298" y="18710"/>
                  <a:pt x="3607" y="21019"/>
                </a:cubicBezTo>
                <a:cubicBezTo>
                  <a:pt x="5917" y="23328"/>
                  <a:pt x="9050" y="24626"/>
                  <a:pt x="12317" y="24626"/>
                </a:cubicBezTo>
                <a:close/>
              </a:path>
            </a:pathLst>
          </a:custGeom>
          <a:solidFill>
            <a:srgbClr val="FFFFFF"/>
          </a:solidFill>
          <a:ln w="12298" cap="flat">
            <a:solidFill>
              <a:srgbClr val="606A90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22" name="Freeform 421">
            <a:extLst>
              <a:ext uri="{FF2B5EF4-FFF2-40B4-BE49-F238E27FC236}">
                <a16:creationId xmlns:a16="http://schemas.microsoft.com/office/drawing/2014/main" id="{E75A116A-29B0-D30D-2825-C6EDF886601B}"/>
              </a:ext>
            </a:extLst>
          </p:cNvPr>
          <p:cNvSpPr/>
          <p:nvPr/>
        </p:nvSpPr>
        <p:spPr>
          <a:xfrm>
            <a:off x="2051927" y="5329477"/>
            <a:ext cx="24633" cy="24626"/>
          </a:xfrm>
          <a:custGeom>
            <a:avLst/>
            <a:gdLst>
              <a:gd name="connsiteX0" fmla="*/ 12317 w 24633"/>
              <a:gd name="connsiteY0" fmla="*/ 24626 h 24626"/>
              <a:gd name="connsiteX1" fmla="*/ 21026 w 24633"/>
              <a:gd name="connsiteY1" fmla="*/ 21020 h 24626"/>
              <a:gd name="connsiteX2" fmla="*/ 24634 w 24633"/>
              <a:gd name="connsiteY2" fmla="*/ 12313 h 24626"/>
              <a:gd name="connsiteX3" fmla="*/ 21026 w 24633"/>
              <a:gd name="connsiteY3" fmla="*/ 3607 h 24626"/>
              <a:gd name="connsiteX4" fmla="*/ 12317 w 24633"/>
              <a:gd name="connsiteY4" fmla="*/ 0 h 24626"/>
              <a:gd name="connsiteX5" fmla="*/ 3608 w 24633"/>
              <a:gd name="connsiteY5" fmla="*/ 3607 h 24626"/>
              <a:gd name="connsiteX6" fmla="*/ 0 w 24633"/>
              <a:gd name="connsiteY6" fmla="*/ 12313 h 24626"/>
              <a:gd name="connsiteX7" fmla="*/ 3608 w 24633"/>
              <a:gd name="connsiteY7" fmla="*/ 21020 h 24626"/>
              <a:gd name="connsiteX8" fmla="*/ 12317 w 24633"/>
              <a:gd name="connsiteY8" fmla="*/ 24626 h 24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633" h="24626">
                <a:moveTo>
                  <a:pt x="12317" y="24626"/>
                </a:moveTo>
                <a:cubicBezTo>
                  <a:pt x="15583" y="24626"/>
                  <a:pt x="18716" y="23329"/>
                  <a:pt x="21026" y="21020"/>
                </a:cubicBezTo>
                <a:cubicBezTo>
                  <a:pt x="23336" y="18711"/>
                  <a:pt x="24634" y="15579"/>
                  <a:pt x="24634" y="12313"/>
                </a:cubicBezTo>
                <a:cubicBezTo>
                  <a:pt x="24634" y="9048"/>
                  <a:pt x="23336" y="5916"/>
                  <a:pt x="21026" y="3607"/>
                </a:cubicBezTo>
                <a:cubicBezTo>
                  <a:pt x="18716" y="1297"/>
                  <a:pt x="15583" y="0"/>
                  <a:pt x="12317" y="0"/>
                </a:cubicBezTo>
                <a:cubicBezTo>
                  <a:pt x="9050" y="0"/>
                  <a:pt x="5917" y="1297"/>
                  <a:pt x="3608" y="3607"/>
                </a:cubicBezTo>
                <a:cubicBezTo>
                  <a:pt x="1298" y="5916"/>
                  <a:pt x="0" y="9048"/>
                  <a:pt x="0" y="12313"/>
                </a:cubicBezTo>
                <a:cubicBezTo>
                  <a:pt x="0" y="15579"/>
                  <a:pt x="1298" y="18711"/>
                  <a:pt x="3608" y="21020"/>
                </a:cubicBezTo>
                <a:cubicBezTo>
                  <a:pt x="5917" y="23329"/>
                  <a:pt x="9050" y="24626"/>
                  <a:pt x="12317" y="24626"/>
                </a:cubicBezTo>
                <a:close/>
              </a:path>
            </a:pathLst>
          </a:custGeom>
          <a:solidFill>
            <a:srgbClr val="FFFFFF"/>
          </a:solidFill>
          <a:ln w="12298" cap="flat">
            <a:solidFill>
              <a:srgbClr val="606A90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23" name="TextBox 422">
            <a:extLst>
              <a:ext uri="{FF2B5EF4-FFF2-40B4-BE49-F238E27FC236}">
                <a16:creationId xmlns:a16="http://schemas.microsoft.com/office/drawing/2014/main" id="{404BB3E5-0979-39D0-6125-FDA1B387ADD0}"/>
              </a:ext>
            </a:extLst>
          </p:cNvPr>
          <p:cNvSpPr txBox="1"/>
          <p:nvPr/>
        </p:nvSpPr>
        <p:spPr>
          <a:xfrm>
            <a:off x="424811" y="3870815"/>
            <a:ext cx="2806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Input and initial hypothesis generation</a:t>
            </a:r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7FAA2CE4-C8B0-BFA4-FA76-2DD44BBE4D96}"/>
              </a:ext>
            </a:extLst>
          </p:cNvPr>
          <p:cNvSpPr txBox="1"/>
          <p:nvPr/>
        </p:nvSpPr>
        <p:spPr>
          <a:xfrm>
            <a:off x="180205" y="3824905"/>
            <a:ext cx="309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B</a:t>
            </a:r>
          </a:p>
        </p:txBody>
      </p:sp>
      <p:sp>
        <p:nvSpPr>
          <p:cNvPr id="432" name="Freeform 431">
            <a:extLst>
              <a:ext uri="{FF2B5EF4-FFF2-40B4-BE49-F238E27FC236}">
                <a16:creationId xmlns:a16="http://schemas.microsoft.com/office/drawing/2014/main" id="{ABE84EF6-B3FA-5665-EE4F-95213CE18CDB}"/>
              </a:ext>
            </a:extLst>
          </p:cNvPr>
          <p:cNvSpPr/>
          <p:nvPr/>
        </p:nvSpPr>
        <p:spPr>
          <a:xfrm>
            <a:off x="1372191" y="4588058"/>
            <a:ext cx="82698" cy="82672"/>
          </a:xfrm>
          <a:custGeom>
            <a:avLst/>
            <a:gdLst>
              <a:gd name="connsiteX0" fmla="*/ 41349 w 82698"/>
              <a:gd name="connsiteY0" fmla="*/ 82672 h 82672"/>
              <a:gd name="connsiteX1" fmla="*/ 70587 w 82698"/>
              <a:gd name="connsiteY1" fmla="*/ 70565 h 82672"/>
              <a:gd name="connsiteX2" fmla="*/ 82698 w 82698"/>
              <a:gd name="connsiteY2" fmla="*/ 41336 h 82672"/>
              <a:gd name="connsiteX3" fmla="*/ 70587 w 82698"/>
              <a:gd name="connsiteY3" fmla="*/ 12107 h 82672"/>
              <a:gd name="connsiteX4" fmla="*/ 41349 w 82698"/>
              <a:gd name="connsiteY4" fmla="*/ 0 h 82672"/>
              <a:gd name="connsiteX5" fmla="*/ 12111 w 82698"/>
              <a:gd name="connsiteY5" fmla="*/ 12107 h 82672"/>
              <a:gd name="connsiteX6" fmla="*/ 0 w 82698"/>
              <a:gd name="connsiteY6" fmla="*/ 41336 h 82672"/>
              <a:gd name="connsiteX7" fmla="*/ 12111 w 82698"/>
              <a:gd name="connsiteY7" fmla="*/ 70565 h 82672"/>
              <a:gd name="connsiteX8" fmla="*/ 41349 w 82698"/>
              <a:gd name="connsiteY8" fmla="*/ 82672 h 82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698" h="82672">
                <a:moveTo>
                  <a:pt x="41349" y="82672"/>
                </a:moveTo>
                <a:cubicBezTo>
                  <a:pt x="52315" y="82672"/>
                  <a:pt x="62833" y="78317"/>
                  <a:pt x="70587" y="70565"/>
                </a:cubicBezTo>
                <a:cubicBezTo>
                  <a:pt x="78341" y="62814"/>
                  <a:pt x="82698" y="52299"/>
                  <a:pt x="82698" y="41336"/>
                </a:cubicBezTo>
                <a:cubicBezTo>
                  <a:pt x="82698" y="30374"/>
                  <a:pt x="78341" y="19859"/>
                  <a:pt x="70587" y="12107"/>
                </a:cubicBezTo>
                <a:cubicBezTo>
                  <a:pt x="62833" y="4355"/>
                  <a:pt x="52315" y="0"/>
                  <a:pt x="41349" y="0"/>
                </a:cubicBezTo>
                <a:cubicBezTo>
                  <a:pt x="30383" y="0"/>
                  <a:pt x="19865" y="4355"/>
                  <a:pt x="12111" y="12107"/>
                </a:cubicBezTo>
                <a:cubicBezTo>
                  <a:pt x="4357" y="19859"/>
                  <a:pt x="0" y="30374"/>
                  <a:pt x="0" y="41336"/>
                </a:cubicBezTo>
                <a:cubicBezTo>
                  <a:pt x="0" y="52299"/>
                  <a:pt x="4357" y="62814"/>
                  <a:pt x="12111" y="70565"/>
                </a:cubicBezTo>
                <a:cubicBezTo>
                  <a:pt x="19865" y="78317"/>
                  <a:pt x="30383" y="82672"/>
                  <a:pt x="41349" y="82672"/>
                </a:cubicBezTo>
                <a:close/>
              </a:path>
            </a:pathLst>
          </a:custGeom>
          <a:solidFill>
            <a:srgbClr val="F9EFEC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33" name="Freeform 432">
            <a:extLst>
              <a:ext uri="{FF2B5EF4-FFF2-40B4-BE49-F238E27FC236}">
                <a16:creationId xmlns:a16="http://schemas.microsoft.com/office/drawing/2014/main" id="{44AD7EB8-E177-1136-4051-044C3453D734}"/>
              </a:ext>
            </a:extLst>
          </p:cNvPr>
          <p:cNvSpPr/>
          <p:nvPr/>
        </p:nvSpPr>
        <p:spPr>
          <a:xfrm>
            <a:off x="456354" y="4599494"/>
            <a:ext cx="81818" cy="15863"/>
          </a:xfrm>
          <a:custGeom>
            <a:avLst/>
            <a:gdLst>
              <a:gd name="connsiteX0" fmla="*/ 0 w 81818"/>
              <a:gd name="connsiteY0" fmla="*/ 0 h 15863"/>
              <a:gd name="connsiteX1" fmla="*/ 81818 w 81818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1818" h="15863">
                <a:moveTo>
                  <a:pt x="0" y="0"/>
                </a:moveTo>
                <a:lnTo>
                  <a:pt x="81818" y="0"/>
                </a:lnTo>
              </a:path>
            </a:pathLst>
          </a:custGeom>
          <a:noFill/>
          <a:ln w="12298" cap="rnd">
            <a:solidFill>
              <a:srgbClr val="4E86A8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34" name="Freeform 433">
            <a:extLst>
              <a:ext uri="{FF2B5EF4-FFF2-40B4-BE49-F238E27FC236}">
                <a16:creationId xmlns:a16="http://schemas.microsoft.com/office/drawing/2014/main" id="{57E806F9-4971-3446-8643-7327C77EB224}"/>
              </a:ext>
            </a:extLst>
          </p:cNvPr>
          <p:cNvSpPr/>
          <p:nvPr/>
        </p:nvSpPr>
        <p:spPr>
          <a:xfrm>
            <a:off x="456354" y="4629397"/>
            <a:ext cx="81818" cy="15863"/>
          </a:xfrm>
          <a:custGeom>
            <a:avLst/>
            <a:gdLst>
              <a:gd name="connsiteX0" fmla="*/ 0 w 81818"/>
              <a:gd name="connsiteY0" fmla="*/ 0 h 15863"/>
              <a:gd name="connsiteX1" fmla="*/ 81818 w 81818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1818" h="15863">
                <a:moveTo>
                  <a:pt x="0" y="0"/>
                </a:moveTo>
                <a:lnTo>
                  <a:pt x="81818" y="0"/>
                </a:lnTo>
              </a:path>
            </a:pathLst>
          </a:custGeom>
          <a:noFill/>
          <a:ln w="12298" cap="rnd">
            <a:solidFill>
              <a:srgbClr val="4E86A8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35" name="Freeform 434">
            <a:extLst>
              <a:ext uri="{FF2B5EF4-FFF2-40B4-BE49-F238E27FC236}">
                <a16:creationId xmlns:a16="http://schemas.microsoft.com/office/drawing/2014/main" id="{332F1C18-850C-A088-FBE4-9F9A8BDED57A}"/>
              </a:ext>
            </a:extLst>
          </p:cNvPr>
          <p:cNvSpPr/>
          <p:nvPr/>
        </p:nvSpPr>
        <p:spPr>
          <a:xfrm>
            <a:off x="456354" y="4636998"/>
            <a:ext cx="81818" cy="15863"/>
          </a:xfrm>
          <a:custGeom>
            <a:avLst/>
            <a:gdLst>
              <a:gd name="connsiteX0" fmla="*/ 0 w 81818"/>
              <a:gd name="connsiteY0" fmla="*/ 0 h 15863"/>
              <a:gd name="connsiteX1" fmla="*/ 81818 w 81818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1818" h="15863">
                <a:moveTo>
                  <a:pt x="0" y="0"/>
                </a:moveTo>
                <a:lnTo>
                  <a:pt x="81818" y="0"/>
                </a:lnTo>
              </a:path>
            </a:pathLst>
          </a:custGeom>
          <a:noFill/>
          <a:ln w="12298" cap="rnd">
            <a:solidFill>
              <a:srgbClr val="4E86A8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36" name="Freeform 435">
            <a:extLst>
              <a:ext uri="{FF2B5EF4-FFF2-40B4-BE49-F238E27FC236}">
                <a16:creationId xmlns:a16="http://schemas.microsoft.com/office/drawing/2014/main" id="{9EF85EBB-8B3A-453C-80C6-2F401D7BECEA}"/>
              </a:ext>
            </a:extLst>
          </p:cNvPr>
          <p:cNvSpPr/>
          <p:nvPr/>
        </p:nvSpPr>
        <p:spPr>
          <a:xfrm>
            <a:off x="1171719" y="4582718"/>
            <a:ext cx="78950" cy="79577"/>
          </a:xfrm>
          <a:custGeom>
            <a:avLst/>
            <a:gdLst>
              <a:gd name="connsiteX0" fmla="*/ 46807 w 78950"/>
              <a:gd name="connsiteY0" fmla="*/ 0 h 79577"/>
              <a:gd name="connsiteX1" fmla="*/ 46807 w 78950"/>
              <a:gd name="connsiteY1" fmla="*/ 32481 h 79577"/>
              <a:gd name="connsiteX2" fmla="*/ 78950 w 78950"/>
              <a:gd name="connsiteY2" fmla="*/ 32481 h 79577"/>
              <a:gd name="connsiteX3" fmla="*/ 78950 w 78950"/>
              <a:gd name="connsiteY3" fmla="*/ 47096 h 79577"/>
              <a:gd name="connsiteX4" fmla="*/ 46807 w 78950"/>
              <a:gd name="connsiteY4" fmla="*/ 47096 h 79577"/>
              <a:gd name="connsiteX5" fmla="*/ 46807 w 78950"/>
              <a:gd name="connsiteY5" fmla="*/ 79577 h 79577"/>
              <a:gd name="connsiteX6" fmla="*/ 32144 w 78950"/>
              <a:gd name="connsiteY6" fmla="*/ 79577 h 79577"/>
              <a:gd name="connsiteX7" fmla="*/ 32144 w 78950"/>
              <a:gd name="connsiteY7" fmla="*/ 47096 h 79577"/>
              <a:gd name="connsiteX8" fmla="*/ 0 w 78950"/>
              <a:gd name="connsiteY8" fmla="*/ 47096 h 79577"/>
              <a:gd name="connsiteX9" fmla="*/ 0 w 78950"/>
              <a:gd name="connsiteY9" fmla="*/ 32481 h 79577"/>
              <a:gd name="connsiteX10" fmla="*/ 32144 w 78950"/>
              <a:gd name="connsiteY10" fmla="*/ 32481 h 79577"/>
              <a:gd name="connsiteX11" fmla="*/ 32144 w 78950"/>
              <a:gd name="connsiteY11" fmla="*/ 0 h 79577"/>
              <a:gd name="connsiteX12" fmla="*/ 46807 w 78950"/>
              <a:gd name="connsiteY12" fmla="*/ 0 h 7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8950" h="79577">
                <a:moveTo>
                  <a:pt x="46807" y="0"/>
                </a:moveTo>
                <a:lnTo>
                  <a:pt x="46807" y="32481"/>
                </a:lnTo>
                <a:lnTo>
                  <a:pt x="78950" y="32481"/>
                </a:lnTo>
                <a:lnTo>
                  <a:pt x="78950" y="47096"/>
                </a:lnTo>
                <a:lnTo>
                  <a:pt x="46807" y="47096"/>
                </a:lnTo>
                <a:lnTo>
                  <a:pt x="46807" y="79577"/>
                </a:lnTo>
                <a:lnTo>
                  <a:pt x="32144" y="79577"/>
                </a:lnTo>
                <a:lnTo>
                  <a:pt x="32144" y="47096"/>
                </a:lnTo>
                <a:lnTo>
                  <a:pt x="0" y="47096"/>
                </a:lnTo>
                <a:lnTo>
                  <a:pt x="0" y="32481"/>
                </a:lnTo>
                <a:lnTo>
                  <a:pt x="32144" y="32481"/>
                </a:lnTo>
                <a:lnTo>
                  <a:pt x="32144" y="0"/>
                </a:lnTo>
                <a:lnTo>
                  <a:pt x="46807" y="0"/>
                </a:lnTo>
                <a:close/>
              </a:path>
            </a:pathLst>
          </a:custGeom>
          <a:solidFill>
            <a:srgbClr val="5F6368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37" name="Freeform 436">
            <a:extLst>
              <a:ext uri="{FF2B5EF4-FFF2-40B4-BE49-F238E27FC236}">
                <a16:creationId xmlns:a16="http://schemas.microsoft.com/office/drawing/2014/main" id="{AF038B9F-0CFA-8597-6CC4-A5337010D8A6}"/>
              </a:ext>
            </a:extLst>
          </p:cNvPr>
          <p:cNvSpPr/>
          <p:nvPr/>
        </p:nvSpPr>
        <p:spPr>
          <a:xfrm>
            <a:off x="1383628" y="4629397"/>
            <a:ext cx="59824" cy="15863"/>
          </a:xfrm>
          <a:custGeom>
            <a:avLst/>
            <a:gdLst>
              <a:gd name="connsiteX0" fmla="*/ 0 w 59824"/>
              <a:gd name="connsiteY0" fmla="*/ 0 h 15863"/>
              <a:gd name="connsiteX1" fmla="*/ 59824 w 59824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9824" h="15863">
                <a:moveTo>
                  <a:pt x="0" y="0"/>
                </a:moveTo>
                <a:lnTo>
                  <a:pt x="59824" y="0"/>
                </a:lnTo>
              </a:path>
            </a:pathLst>
          </a:custGeom>
          <a:noFill/>
          <a:ln w="18131" cap="rnd">
            <a:solidFill>
              <a:srgbClr val="C55F53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38" name="Freeform 437">
            <a:extLst>
              <a:ext uri="{FF2B5EF4-FFF2-40B4-BE49-F238E27FC236}">
                <a16:creationId xmlns:a16="http://schemas.microsoft.com/office/drawing/2014/main" id="{7A82E800-350C-2584-AF63-6AF701A6BDDB}"/>
              </a:ext>
            </a:extLst>
          </p:cNvPr>
          <p:cNvSpPr/>
          <p:nvPr/>
        </p:nvSpPr>
        <p:spPr>
          <a:xfrm>
            <a:off x="1413540" y="4599494"/>
            <a:ext cx="15766" cy="59805"/>
          </a:xfrm>
          <a:custGeom>
            <a:avLst/>
            <a:gdLst>
              <a:gd name="connsiteX0" fmla="*/ 0 w 15766"/>
              <a:gd name="connsiteY0" fmla="*/ 59805 h 59805"/>
              <a:gd name="connsiteX1" fmla="*/ 0 w 15766"/>
              <a:gd name="connsiteY1" fmla="*/ 0 h 59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766" h="59805">
                <a:moveTo>
                  <a:pt x="0" y="59805"/>
                </a:moveTo>
                <a:lnTo>
                  <a:pt x="0" y="0"/>
                </a:lnTo>
              </a:path>
            </a:pathLst>
          </a:custGeom>
          <a:noFill/>
          <a:ln w="18131" cap="rnd">
            <a:solidFill>
              <a:srgbClr val="C55F53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42" name="Freeform 441">
            <a:extLst>
              <a:ext uri="{FF2B5EF4-FFF2-40B4-BE49-F238E27FC236}">
                <a16:creationId xmlns:a16="http://schemas.microsoft.com/office/drawing/2014/main" id="{481421EE-C2AB-E1E2-31FD-9B6DADF5C964}"/>
              </a:ext>
            </a:extLst>
          </p:cNvPr>
          <p:cNvSpPr/>
          <p:nvPr/>
        </p:nvSpPr>
        <p:spPr>
          <a:xfrm>
            <a:off x="464272" y="4593335"/>
            <a:ext cx="12316" cy="12312"/>
          </a:xfrm>
          <a:custGeom>
            <a:avLst/>
            <a:gdLst>
              <a:gd name="connsiteX0" fmla="*/ 6158 w 12316"/>
              <a:gd name="connsiteY0" fmla="*/ 12313 h 12312"/>
              <a:gd name="connsiteX1" fmla="*/ 10513 w 12316"/>
              <a:gd name="connsiteY1" fmla="*/ 10510 h 12312"/>
              <a:gd name="connsiteX2" fmla="*/ 12317 w 12316"/>
              <a:gd name="connsiteY2" fmla="*/ 6156 h 12312"/>
              <a:gd name="connsiteX3" fmla="*/ 10513 w 12316"/>
              <a:gd name="connsiteY3" fmla="*/ 1803 h 12312"/>
              <a:gd name="connsiteX4" fmla="*/ 6158 w 12316"/>
              <a:gd name="connsiteY4" fmla="*/ 0 h 12312"/>
              <a:gd name="connsiteX5" fmla="*/ 1804 w 12316"/>
              <a:gd name="connsiteY5" fmla="*/ 1803 h 12312"/>
              <a:gd name="connsiteX6" fmla="*/ 0 w 12316"/>
              <a:gd name="connsiteY6" fmla="*/ 6156 h 12312"/>
              <a:gd name="connsiteX7" fmla="*/ 1804 w 12316"/>
              <a:gd name="connsiteY7" fmla="*/ 10510 h 12312"/>
              <a:gd name="connsiteX8" fmla="*/ 6158 w 12316"/>
              <a:gd name="connsiteY8" fmla="*/ 12313 h 12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316" h="12312">
                <a:moveTo>
                  <a:pt x="6158" y="12313"/>
                </a:moveTo>
                <a:cubicBezTo>
                  <a:pt x="7792" y="12313"/>
                  <a:pt x="9358" y="11664"/>
                  <a:pt x="10513" y="10510"/>
                </a:cubicBezTo>
                <a:cubicBezTo>
                  <a:pt x="11668" y="9355"/>
                  <a:pt x="12317" y="7789"/>
                  <a:pt x="12317" y="6156"/>
                </a:cubicBezTo>
                <a:cubicBezTo>
                  <a:pt x="12317" y="4524"/>
                  <a:pt x="11668" y="2958"/>
                  <a:pt x="10513" y="1803"/>
                </a:cubicBezTo>
                <a:cubicBezTo>
                  <a:pt x="9358" y="648"/>
                  <a:pt x="7792" y="0"/>
                  <a:pt x="6158" y="0"/>
                </a:cubicBezTo>
                <a:cubicBezTo>
                  <a:pt x="4525" y="0"/>
                  <a:pt x="2959" y="648"/>
                  <a:pt x="1804" y="1803"/>
                </a:cubicBezTo>
                <a:cubicBezTo>
                  <a:pt x="649" y="2958"/>
                  <a:pt x="0" y="4524"/>
                  <a:pt x="0" y="6156"/>
                </a:cubicBezTo>
                <a:cubicBezTo>
                  <a:pt x="0" y="7789"/>
                  <a:pt x="649" y="9355"/>
                  <a:pt x="1804" y="10510"/>
                </a:cubicBezTo>
                <a:cubicBezTo>
                  <a:pt x="2959" y="11664"/>
                  <a:pt x="4525" y="12313"/>
                  <a:pt x="6158" y="12313"/>
                </a:cubicBezTo>
                <a:close/>
              </a:path>
            </a:pathLst>
          </a:custGeom>
          <a:solidFill>
            <a:srgbClr val="4E86A8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43" name="Freeform 442">
            <a:extLst>
              <a:ext uri="{FF2B5EF4-FFF2-40B4-BE49-F238E27FC236}">
                <a16:creationId xmlns:a16="http://schemas.microsoft.com/office/drawing/2014/main" id="{E191AB80-8F03-C93C-4A2F-614A73F72568}"/>
              </a:ext>
            </a:extLst>
          </p:cNvPr>
          <p:cNvSpPr/>
          <p:nvPr/>
        </p:nvSpPr>
        <p:spPr>
          <a:xfrm>
            <a:off x="517058" y="4623240"/>
            <a:ext cx="12316" cy="12313"/>
          </a:xfrm>
          <a:custGeom>
            <a:avLst/>
            <a:gdLst>
              <a:gd name="connsiteX0" fmla="*/ 6158 w 12316"/>
              <a:gd name="connsiteY0" fmla="*/ 12313 h 12313"/>
              <a:gd name="connsiteX1" fmla="*/ 10513 w 12316"/>
              <a:gd name="connsiteY1" fmla="*/ 10510 h 12313"/>
              <a:gd name="connsiteX2" fmla="*/ 12317 w 12316"/>
              <a:gd name="connsiteY2" fmla="*/ 6156 h 12313"/>
              <a:gd name="connsiteX3" fmla="*/ 10513 w 12316"/>
              <a:gd name="connsiteY3" fmla="*/ 1803 h 12313"/>
              <a:gd name="connsiteX4" fmla="*/ 6158 w 12316"/>
              <a:gd name="connsiteY4" fmla="*/ 0 h 12313"/>
              <a:gd name="connsiteX5" fmla="*/ 1804 w 12316"/>
              <a:gd name="connsiteY5" fmla="*/ 1803 h 12313"/>
              <a:gd name="connsiteX6" fmla="*/ 0 w 12316"/>
              <a:gd name="connsiteY6" fmla="*/ 6156 h 12313"/>
              <a:gd name="connsiteX7" fmla="*/ 1804 w 12316"/>
              <a:gd name="connsiteY7" fmla="*/ 10510 h 12313"/>
              <a:gd name="connsiteX8" fmla="*/ 6158 w 12316"/>
              <a:gd name="connsiteY8" fmla="*/ 12313 h 12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316" h="12313">
                <a:moveTo>
                  <a:pt x="6158" y="12313"/>
                </a:moveTo>
                <a:cubicBezTo>
                  <a:pt x="7792" y="12313"/>
                  <a:pt x="9358" y="11664"/>
                  <a:pt x="10513" y="10510"/>
                </a:cubicBezTo>
                <a:cubicBezTo>
                  <a:pt x="11668" y="9355"/>
                  <a:pt x="12317" y="7789"/>
                  <a:pt x="12317" y="6156"/>
                </a:cubicBezTo>
                <a:cubicBezTo>
                  <a:pt x="12317" y="4524"/>
                  <a:pt x="11668" y="2958"/>
                  <a:pt x="10513" y="1803"/>
                </a:cubicBezTo>
                <a:cubicBezTo>
                  <a:pt x="9358" y="649"/>
                  <a:pt x="7792" y="0"/>
                  <a:pt x="6158" y="0"/>
                </a:cubicBezTo>
                <a:cubicBezTo>
                  <a:pt x="4525" y="0"/>
                  <a:pt x="2959" y="649"/>
                  <a:pt x="1804" y="1803"/>
                </a:cubicBezTo>
                <a:cubicBezTo>
                  <a:pt x="649" y="2958"/>
                  <a:pt x="0" y="4524"/>
                  <a:pt x="0" y="6156"/>
                </a:cubicBezTo>
                <a:cubicBezTo>
                  <a:pt x="0" y="7789"/>
                  <a:pt x="649" y="9355"/>
                  <a:pt x="1804" y="10510"/>
                </a:cubicBezTo>
                <a:cubicBezTo>
                  <a:pt x="2959" y="11664"/>
                  <a:pt x="4525" y="12313"/>
                  <a:pt x="6158" y="12313"/>
                </a:cubicBezTo>
                <a:close/>
              </a:path>
            </a:pathLst>
          </a:custGeom>
          <a:solidFill>
            <a:srgbClr val="4E86A8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44" name="Freeform 443">
            <a:extLst>
              <a:ext uri="{FF2B5EF4-FFF2-40B4-BE49-F238E27FC236}">
                <a16:creationId xmlns:a16="http://schemas.microsoft.com/office/drawing/2014/main" id="{1560FB15-3489-EC66-8639-1D669DE81F37}"/>
              </a:ext>
            </a:extLst>
          </p:cNvPr>
          <p:cNvSpPr/>
          <p:nvPr/>
        </p:nvSpPr>
        <p:spPr>
          <a:xfrm>
            <a:off x="464272" y="4630838"/>
            <a:ext cx="12316" cy="12312"/>
          </a:xfrm>
          <a:custGeom>
            <a:avLst/>
            <a:gdLst>
              <a:gd name="connsiteX0" fmla="*/ 6158 w 12316"/>
              <a:gd name="connsiteY0" fmla="*/ 12313 h 12312"/>
              <a:gd name="connsiteX1" fmla="*/ 10513 w 12316"/>
              <a:gd name="connsiteY1" fmla="*/ 10510 h 12312"/>
              <a:gd name="connsiteX2" fmla="*/ 12317 w 12316"/>
              <a:gd name="connsiteY2" fmla="*/ 6156 h 12312"/>
              <a:gd name="connsiteX3" fmla="*/ 10513 w 12316"/>
              <a:gd name="connsiteY3" fmla="*/ 1803 h 12312"/>
              <a:gd name="connsiteX4" fmla="*/ 6158 w 12316"/>
              <a:gd name="connsiteY4" fmla="*/ 0 h 12312"/>
              <a:gd name="connsiteX5" fmla="*/ 1804 w 12316"/>
              <a:gd name="connsiteY5" fmla="*/ 1803 h 12312"/>
              <a:gd name="connsiteX6" fmla="*/ 0 w 12316"/>
              <a:gd name="connsiteY6" fmla="*/ 6156 h 12312"/>
              <a:gd name="connsiteX7" fmla="*/ 1804 w 12316"/>
              <a:gd name="connsiteY7" fmla="*/ 10510 h 12312"/>
              <a:gd name="connsiteX8" fmla="*/ 6158 w 12316"/>
              <a:gd name="connsiteY8" fmla="*/ 12313 h 12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316" h="12312">
                <a:moveTo>
                  <a:pt x="6158" y="12313"/>
                </a:moveTo>
                <a:cubicBezTo>
                  <a:pt x="7792" y="12313"/>
                  <a:pt x="9358" y="11664"/>
                  <a:pt x="10513" y="10510"/>
                </a:cubicBezTo>
                <a:cubicBezTo>
                  <a:pt x="11668" y="9355"/>
                  <a:pt x="12317" y="7789"/>
                  <a:pt x="12317" y="6156"/>
                </a:cubicBezTo>
                <a:cubicBezTo>
                  <a:pt x="12317" y="4524"/>
                  <a:pt x="11668" y="2958"/>
                  <a:pt x="10513" y="1803"/>
                </a:cubicBezTo>
                <a:cubicBezTo>
                  <a:pt x="9358" y="649"/>
                  <a:pt x="7792" y="0"/>
                  <a:pt x="6158" y="0"/>
                </a:cubicBezTo>
                <a:cubicBezTo>
                  <a:pt x="4525" y="0"/>
                  <a:pt x="2959" y="649"/>
                  <a:pt x="1804" y="1803"/>
                </a:cubicBezTo>
                <a:cubicBezTo>
                  <a:pt x="649" y="2958"/>
                  <a:pt x="0" y="4524"/>
                  <a:pt x="0" y="6156"/>
                </a:cubicBezTo>
                <a:cubicBezTo>
                  <a:pt x="0" y="7789"/>
                  <a:pt x="649" y="9355"/>
                  <a:pt x="1804" y="10510"/>
                </a:cubicBezTo>
                <a:cubicBezTo>
                  <a:pt x="2959" y="11664"/>
                  <a:pt x="4525" y="12313"/>
                  <a:pt x="6158" y="12313"/>
                </a:cubicBezTo>
                <a:close/>
              </a:path>
            </a:pathLst>
          </a:custGeom>
          <a:solidFill>
            <a:srgbClr val="4E86A8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33DD695-936B-1040-5391-65918EE2C149}"/>
              </a:ext>
            </a:extLst>
          </p:cNvPr>
          <p:cNvGrpSpPr/>
          <p:nvPr/>
        </p:nvGrpSpPr>
        <p:grpSpPr>
          <a:xfrm>
            <a:off x="2456945" y="4595097"/>
            <a:ext cx="95015" cy="82671"/>
            <a:chOff x="2464564" y="4093229"/>
            <a:chExt cx="95015" cy="82671"/>
          </a:xfrm>
        </p:grpSpPr>
        <p:sp>
          <p:nvSpPr>
            <p:cNvPr id="439" name="Freeform 438">
              <a:extLst>
                <a:ext uri="{FF2B5EF4-FFF2-40B4-BE49-F238E27FC236}">
                  <a16:creationId xmlns:a16="http://schemas.microsoft.com/office/drawing/2014/main" id="{B039494B-31BD-8299-02AB-C0EE22D5EC4E}"/>
                </a:ext>
              </a:extLst>
            </p:cNvPr>
            <p:cNvSpPr/>
            <p:nvPr/>
          </p:nvSpPr>
          <p:spPr>
            <a:xfrm>
              <a:off x="2476881" y="4105542"/>
              <a:ext cx="70381" cy="3517"/>
            </a:xfrm>
            <a:custGeom>
              <a:avLst/>
              <a:gdLst>
                <a:gd name="connsiteX0" fmla="*/ 0 w 70381"/>
                <a:gd name="connsiteY0" fmla="*/ 0 h 3517"/>
                <a:gd name="connsiteX1" fmla="*/ 70381 w 70381"/>
                <a:gd name="connsiteY1" fmla="*/ 3518 h 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381" h="3517">
                  <a:moveTo>
                    <a:pt x="0" y="0"/>
                  </a:moveTo>
                  <a:lnTo>
                    <a:pt x="70381" y="3518"/>
                  </a:lnTo>
                </a:path>
              </a:pathLst>
            </a:custGeom>
            <a:noFill/>
            <a:ln w="10721" cap="sq">
              <a:solidFill>
                <a:srgbClr val="C58A2C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CN"/>
            </a:p>
          </p:txBody>
        </p:sp>
        <p:sp>
          <p:nvSpPr>
            <p:cNvPr id="440" name="Freeform 439">
              <a:extLst>
                <a:ext uri="{FF2B5EF4-FFF2-40B4-BE49-F238E27FC236}">
                  <a16:creationId xmlns:a16="http://schemas.microsoft.com/office/drawing/2014/main" id="{15003B15-224D-58CD-BE5C-833EF4501689}"/>
                </a:ext>
              </a:extLst>
            </p:cNvPr>
            <p:cNvSpPr/>
            <p:nvPr/>
          </p:nvSpPr>
          <p:spPr>
            <a:xfrm>
              <a:off x="2515591" y="4109058"/>
              <a:ext cx="31671" cy="54528"/>
            </a:xfrm>
            <a:custGeom>
              <a:avLst/>
              <a:gdLst>
                <a:gd name="connsiteX0" fmla="*/ 31671 w 31671"/>
                <a:gd name="connsiteY0" fmla="*/ 0 h 54528"/>
                <a:gd name="connsiteX1" fmla="*/ 0 w 31671"/>
                <a:gd name="connsiteY1" fmla="*/ 54528 h 5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671" h="54528">
                  <a:moveTo>
                    <a:pt x="31671" y="0"/>
                  </a:moveTo>
                  <a:lnTo>
                    <a:pt x="0" y="54528"/>
                  </a:lnTo>
                </a:path>
              </a:pathLst>
            </a:custGeom>
            <a:noFill/>
            <a:ln w="10721" cap="sq">
              <a:solidFill>
                <a:srgbClr val="C58A2C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CN"/>
            </a:p>
          </p:txBody>
        </p:sp>
        <p:sp>
          <p:nvSpPr>
            <p:cNvPr id="441" name="Freeform 440">
              <a:extLst>
                <a:ext uri="{FF2B5EF4-FFF2-40B4-BE49-F238E27FC236}">
                  <a16:creationId xmlns:a16="http://schemas.microsoft.com/office/drawing/2014/main" id="{E147293A-9311-3F51-CF38-DE39823892E0}"/>
                </a:ext>
              </a:extLst>
            </p:cNvPr>
            <p:cNvSpPr/>
            <p:nvPr/>
          </p:nvSpPr>
          <p:spPr>
            <a:xfrm>
              <a:off x="2476881" y="4105540"/>
              <a:ext cx="38709" cy="58046"/>
            </a:xfrm>
            <a:custGeom>
              <a:avLst/>
              <a:gdLst>
                <a:gd name="connsiteX0" fmla="*/ 38710 w 38709"/>
                <a:gd name="connsiteY0" fmla="*/ 58046 h 58046"/>
                <a:gd name="connsiteX1" fmla="*/ 0 w 38709"/>
                <a:gd name="connsiteY1" fmla="*/ 0 h 58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709" h="58046">
                  <a:moveTo>
                    <a:pt x="38710" y="58046"/>
                  </a:moveTo>
                  <a:lnTo>
                    <a:pt x="0" y="0"/>
                  </a:lnTo>
                </a:path>
              </a:pathLst>
            </a:custGeom>
            <a:noFill/>
            <a:ln w="10721" cap="sq">
              <a:solidFill>
                <a:srgbClr val="C58A2C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CN"/>
            </a:p>
          </p:txBody>
        </p:sp>
        <p:sp>
          <p:nvSpPr>
            <p:cNvPr id="445" name="Freeform 444">
              <a:extLst>
                <a:ext uri="{FF2B5EF4-FFF2-40B4-BE49-F238E27FC236}">
                  <a16:creationId xmlns:a16="http://schemas.microsoft.com/office/drawing/2014/main" id="{883076F8-2DF5-115F-0BDA-5FC789DC1275}"/>
                </a:ext>
              </a:extLst>
            </p:cNvPr>
            <p:cNvSpPr/>
            <p:nvPr/>
          </p:nvSpPr>
          <p:spPr>
            <a:xfrm>
              <a:off x="2464564" y="4093229"/>
              <a:ext cx="24633" cy="24625"/>
            </a:xfrm>
            <a:custGeom>
              <a:avLst/>
              <a:gdLst>
                <a:gd name="connsiteX0" fmla="*/ 12317 w 24633"/>
                <a:gd name="connsiteY0" fmla="*/ 24626 h 24625"/>
                <a:gd name="connsiteX1" fmla="*/ 21026 w 24633"/>
                <a:gd name="connsiteY1" fmla="*/ 21020 h 24625"/>
                <a:gd name="connsiteX2" fmla="*/ 24633 w 24633"/>
                <a:gd name="connsiteY2" fmla="*/ 12313 h 24625"/>
                <a:gd name="connsiteX3" fmla="*/ 21026 w 24633"/>
                <a:gd name="connsiteY3" fmla="*/ 3607 h 24625"/>
                <a:gd name="connsiteX4" fmla="*/ 12317 w 24633"/>
                <a:gd name="connsiteY4" fmla="*/ 0 h 24625"/>
                <a:gd name="connsiteX5" fmla="*/ 3607 w 24633"/>
                <a:gd name="connsiteY5" fmla="*/ 3607 h 24625"/>
                <a:gd name="connsiteX6" fmla="*/ 0 w 24633"/>
                <a:gd name="connsiteY6" fmla="*/ 12313 h 24625"/>
                <a:gd name="connsiteX7" fmla="*/ 3607 w 24633"/>
                <a:gd name="connsiteY7" fmla="*/ 21020 h 24625"/>
                <a:gd name="connsiteX8" fmla="*/ 12317 w 24633"/>
                <a:gd name="connsiteY8" fmla="*/ 24626 h 24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633" h="24625">
                  <a:moveTo>
                    <a:pt x="12317" y="24626"/>
                  </a:moveTo>
                  <a:cubicBezTo>
                    <a:pt x="15583" y="24626"/>
                    <a:pt x="18716" y="23328"/>
                    <a:pt x="21026" y="21020"/>
                  </a:cubicBezTo>
                  <a:cubicBezTo>
                    <a:pt x="23336" y="18711"/>
                    <a:pt x="24633" y="15578"/>
                    <a:pt x="24633" y="12313"/>
                  </a:cubicBezTo>
                  <a:cubicBezTo>
                    <a:pt x="24633" y="9048"/>
                    <a:pt x="23336" y="5915"/>
                    <a:pt x="21026" y="3607"/>
                  </a:cubicBezTo>
                  <a:cubicBezTo>
                    <a:pt x="18716" y="1297"/>
                    <a:pt x="15583" y="0"/>
                    <a:pt x="12317" y="0"/>
                  </a:cubicBezTo>
                  <a:cubicBezTo>
                    <a:pt x="9050" y="0"/>
                    <a:pt x="5917" y="1297"/>
                    <a:pt x="3607" y="3607"/>
                  </a:cubicBezTo>
                  <a:cubicBezTo>
                    <a:pt x="1298" y="5915"/>
                    <a:pt x="0" y="9048"/>
                    <a:pt x="0" y="12313"/>
                  </a:cubicBezTo>
                  <a:cubicBezTo>
                    <a:pt x="0" y="15578"/>
                    <a:pt x="1298" y="18711"/>
                    <a:pt x="3607" y="21020"/>
                  </a:cubicBezTo>
                  <a:cubicBezTo>
                    <a:pt x="5917" y="23328"/>
                    <a:pt x="9050" y="24626"/>
                    <a:pt x="12317" y="24626"/>
                  </a:cubicBezTo>
                  <a:close/>
                </a:path>
              </a:pathLst>
            </a:custGeom>
            <a:solidFill>
              <a:srgbClr val="FFFFFF"/>
            </a:solidFill>
            <a:ln w="12298" cap="flat">
              <a:solidFill>
                <a:srgbClr val="C58A2C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CN"/>
            </a:p>
          </p:txBody>
        </p:sp>
        <p:sp>
          <p:nvSpPr>
            <p:cNvPr id="446" name="Freeform 445">
              <a:extLst>
                <a:ext uri="{FF2B5EF4-FFF2-40B4-BE49-F238E27FC236}">
                  <a16:creationId xmlns:a16="http://schemas.microsoft.com/office/drawing/2014/main" id="{A8C60FCF-58F6-C3FD-DDD0-E037480F66BC}"/>
                </a:ext>
              </a:extLst>
            </p:cNvPr>
            <p:cNvSpPr/>
            <p:nvPr/>
          </p:nvSpPr>
          <p:spPr>
            <a:xfrm>
              <a:off x="2534946" y="4096747"/>
              <a:ext cx="24633" cy="24625"/>
            </a:xfrm>
            <a:custGeom>
              <a:avLst/>
              <a:gdLst>
                <a:gd name="connsiteX0" fmla="*/ 12317 w 24633"/>
                <a:gd name="connsiteY0" fmla="*/ 24626 h 24625"/>
                <a:gd name="connsiteX1" fmla="*/ 21026 w 24633"/>
                <a:gd name="connsiteY1" fmla="*/ 21020 h 24625"/>
                <a:gd name="connsiteX2" fmla="*/ 24633 w 24633"/>
                <a:gd name="connsiteY2" fmla="*/ 12313 h 24625"/>
                <a:gd name="connsiteX3" fmla="*/ 21026 w 24633"/>
                <a:gd name="connsiteY3" fmla="*/ 3607 h 24625"/>
                <a:gd name="connsiteX4" fmla="*/ 12317 w 24633"/>
                <a:gd name="connsiteY4" fmla="*/ 0 h 24625"/>
                <a:gd name="connsiteX5" fmla="*/ 3607 w 24633"/>
                <a:gd name="connsiteY5" fmla="*/ 3607 h 24625"/>
                <a:gd name="connsiteX6" fmla="*/ 0 w 24633"/>
                <a:gd name="connsiteY6" fmla="*/ 12313 h 24625"/>
                <a:gd name="connsiteX7" fmla="*/ 3607 w 24633"/>
                <a:gd name="connsiteY7" fmla="*/ 21020 h 24625"/>
                <a:gd name="connsiteX8" fmla="*/ 12317 w 24633"/>
                <a:gd name="connsiteY8" fmla="*/ 24626 h 24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633" h="24625">
                  <a:moveTo>
                    <a:pt x="12317" y="24626"/>
                  </a:moveTo>
                  <a:cubicBezTo>
                    <a:pt x="15583" y="24626"/>
                    <a:pt x="18716" y="23329"/>
                    <a:pt x="21026" y="21020"/>
                  </a:cubicBezTo>
                  <a:cubicBezTo>
                    <a:pt x="23336" y="18711"/>
                    <a:pt x="24633" y="15578"/>
                    <a:pt x="24633" y="12313"/>
                  </a:cubicBezTo>
                  <a:cubicBezTo>
                    <a:pt x="24633" y="9048"/>
                    <a:pt x="23336" y="5916"/>
                    <a:pt x="21026" y="3607"/>
                  </a:cubicBezTo>
                  <a:cubicBezTo>
                    <a:pt x="18716" y="1297"/>
                    <a:pt x="15583" y="0"/>
                    <a:pt x="12317" y="0"/>
                  </a:cubicBezTo>
                  <a:cubicBezTo>
                    <a:pt x="9050" y="0"/>
                    <a:pt x="5917" y="1297"/>
                    <a:pt x="3607" y="3607"/>
                  </a:cubicBezTo>
                  <a:cubicBezTo>
                    <a:pt x="1298" y="5916"/>
                    <a:pt x="0" y="9048"/>
                    <a:pt x="0" y="12313"/>
                  </a:cubicBezTo>
                  <a:cubicBezTo>
                    <a:pt x="0" y="15578"/>
                    <a:pt x="1298" y="18711"/>
                    <a:pt x="3607" y="21020"/>
                  </a:cubicBezTo>
                  <a:cubicBezTo>
                    <a:pt x="5917" y="23329"/>
                    <a:pt x="9050" y="24626"/>
                    <a:pt x="12317" y="24626"/>
                  </a:cubicBezTo>
                  <a:close/>
                </a:path>
              </a:pathLst>
            </a:custGeom>
            <a:solidFill>
              <a:srgbClr val="FFFFFF"/>
            </a:solidFill>
            <a:ln w="12298" cap="flat">
              <a:solidFill>
                <a:srgbClr val="C58A2C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CN"/>
            </a:p>
          </p:txBody>
        </p:sp>
        <p:sp>
          <p:nvSpPr>
            <p:cNvPr id="447" name="Freeform 446">
              <a:extLst>
                <a:ext uri="{FF2B5EF4-FFF2-40B4-BE49-F238E27FC236}">
                  <a16:creationId xmlns:a16="http://schemas.microsoft.com/office/drawing/2014/main" id="{3FA4DA2F-8195-493E-6F1A-3B9D83B6031C}"/>
                </a:ext>
              </a:extLst>
            </p:cNvPr>
            <p:cNvSpPr/>
            <p:nvPr/>
          </p:nvSpPr>
          <p:spPr>
            <a:xfrm>
              <a:off x="2503274" y="4151275"/>
              <a:ext cx="24633" cy="24625"/>
            </a:xfrm>
            <a:custGeom>
              <a:avLst/>
              <a:gdLst>
                <a:gd name="connsiteX0" fmla="*/ 12317 w 24633"/>
                <a:gd name="connsiteY0" fmla="*/ 24626 h 24625"/>
                <a:gd name="connsiteX1" fmla="*/ 21026 w 24633"/>
                <a:gd name="connsiteY1" fmla="*/ 21019 h 24625"/>
                <a:gd name="connsiteX2" fmla="*/ 24633 w 24633"/>
                <a:gd name="connsiteY2" fmla="*/ 12313 h 24625"/>
                <a:gd name="connsiteX3" fmla="*/ 21026 w 24633"/>
                <a:gd name="connsiteY3" fmla="*/ 3606 h 24625"/>
                <a:gd name="connsiteX4" fmla="*/ 12317 w 24633"/>
                <a:gd name="connsiteY4" fmla="*/ 0 h 24625"/>
                <a:gd name="connsiteX5" fmla="*/ 3607 w 24633"/>
                <a:gd name="connsiteY5" fmla="*/ 3606 h 24625"/>
                <a:gd name="connsiteX6" fmla="*/ 0 w 24633"/>
                <a:gd name="connsiteY6" fmla="*/ 12313 h 24625"/>
                <a:gd name="connsiteX7" fmla="*/ 3607 w 24633"/>
                <a:gd name="connsiteY7" fmla="*/ 21019 h 24625"/>
                <a:gd name="connsiteX8" fmla="*/ 12317 w 24633"/>
                <a:gd name="connsiteY8" fmla="*/ 24626 h 24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633" h="24625">
                  <a:moveTo>
                    <a:pt x="12317" y="24626"/>
                  </a:moveTo>
                  <a:cubicBezTo>
                    <a:pt x="15583" y="24626"/>
                    <a:pt x="18716" y="23328"/>
                    <a:pt x="21026" y="21019"/>
                  </a:cubicBezTo>
                  <a:cubicBezTo>
                    <a:pt x="23336" y="18711"/>
                    <a:pt x="24633" y="15578"/>
                    <a:pt x="24633" y="12313"/>
                  </a:cubicBezTo>
                  <a:cubicBezTo>
                    <a:pt x="24633" y="9047"/>
                    <a:pt x="23336" y="5915"/>
                    <a:pt x="21026" y="3606"/>
                  </a:cubicBezTo>
                  <a:cubicBezTo>
                    <a:pt x="18716" y="1297"/>
                    <a:pt x="15583" y="0"/>
                    <a:pt x="12317" y="0"/>
                  </a:cubicBezTo>
                  <a:cubicBezTo>
                    <a:pt x="9050" y="0"/>
                    <a:pt x="5917" y="1297"/>
                    <a:pt x="3607" y="3606"/>
                  </a:cubicBezTo>
                  <a:cubicBezTo>
                    <a:pt x="1298" y="5915"/>
                    <a:pt x="0" y="9047"/>
                    <a:pt x="0" y="12313"/>
                  </a:cubicBezTo>
                  <a:cubicBezTo>
                    <a:pt x="0" y="15578"/>
                    <a:pt x="1298" y="18711"/>
                    <a:pt x="3607" y="21019"/>
                  </a:cubicBezTo>
                  <a:cubicBezTo>
                    <a:pt x="5917" y="23328"/>
                    <a:pt x="9050" y="24626"/>
                    <a:pt x="12317" y="24626"/>
                  </a:cubicBezTo>
                  <a:close/>
                </a:path>
              </a:pathLst>
            </a:custGeom>
            <a:solidFill>
              <a:srgbClr val="FFFFFF"/>
            </a:solidFill>
            <a:ln w="12298" cap="flat">
              <a:solidFill>
                <a:srgbClr val="C58A2C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CN"/>
            </a:p>
          </p:txBody>
        </p:sp>
      </p:grpSp>
      <p:sp>
        <p:nvSpPr>
          <p:cNvPr id="448" name="TextBox 447">
            <a:extLst>
              <a:ext uri="{FF2B5EF4-FFF2-40B4-BE49-F238E27FC236}">
                <a16:creationId xmlns:a16="http://schemas.microsoft.com/office/drawing/2014/main" id="{1A1CFA9F-6E8D-E257-D334-B5AA9EB845AA}"/>
              </a:ext>
            </a:extLst>
          </p:cNvPr>
          <p:cNvSpPr txBox="1"/>
          <p:nvPr/>
        </p:nvSpPr>
        <p:spPr>
          <a:xfrm>
            <a:off x="508334" y="4517489"/>
            <a:ext cx="5867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Gene list</a:t>
            </a: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8A0321BD-49CC-4517-5B4D-38586C4ACF00}"/>
              </a:ext>
            </a:extLst>
          </p:cNvPr>
          <p:cNvSpPr txBox="1"/>
          <p:nvPr/>
        </p:nvSpPr>
        <p:spPr>
          <a:xfrm>
            <a:off x="1388123" y="4516861"/>
            <a:ext cx="5867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Disease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09B8161E-C200-ED58-EDFE-D5E813C9DC3D}"/>
              </a:ext>
            </a:extLst>
          </p:cNvPr>
          <p:cNvSpPr txBox="1"/>
          <p:nvPr/>
        </p:nvSpPr>
        <p:spPr>
          <a:xfrm>
            <a:off x="2575103" y="4531739"/>
            <a:ext cx="6323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Context</a:t>
            </a:r>
          </a:p>
        </p:txBody>
      </p:sp>
      <p:cxnSp>
        <p:nvCxnSpPr>
          <p:cNvPr id="451" name="Straight Arrow Connector 450">
            <a:extLst>
              <a:ext uri="{FF2B5EF4-FFF2-40B4-BE49-F238E27FC236}">
                <a16:creationId xmlns:a16="http://schemas.microsoft.com/office/drawing/2014/main" id="{A87D81B5-451E-0FF3-89A7-C9CF502FE6DF}"/>
              </a:ext>
            </a:extLst>
          </p:cNvPr>
          <p:cNvCxnSpPr>
            <a:cxnSpLocks/>
          </p:cNvCxnSpPr>
          <p:nvPr/>
        </p:nvCxnSpPr>
        <p:spPr>
          <a:xfrm>
            <a:off x="2055592" y="4634788"/>
            <a:ext cx="266306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2" name="TextBox 451">
            <a:extLst>
              <a:ext uri="{FF2B5EF4-FFF2-40B4-BE49-F238E27FC236}">
                <a16:creationId xmlns:a16="http://schemas.microsoft.com/office/drawing/2014/main" id="{4E0901BE-8686-3C55-4ECF-9B72852C995D}"/>
              </a:ext>
            </a:extLst>
          </p:cNvPr>
          <p:cNvSpPr txBox="1"/>
          <p:nvPr/>
        </p:nvSpPr>
        <p:spPr>
          <a:xfrm>
            <a:off x="1146982" y="4279181"/>
            <a:ext cx="11258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tx2"/>
                </a:solidFill>
              </a:rPr>
              <a:t>Input</a:t>
            </a: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E1EA8A03-5EA7-4EBE-7037-91FAFBCB9600}"/>
              </a:ext>
            </a:extLst>
          </p:cNvPr>
          <p:cNvSpPr txBox="1"/>
          <p:nvPr/>
        </p:nvSpPr>
        <p:spPr>
          <a:xfrm>
            <a:off x="571507" y="4833737"/>
            <a:ext cx="24755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accent6">
                    <a:lumMod val="75000"/>
                  </a:schemeClr>
                </a:solidFill>
              </a:rPr>
              <a:t>Disease-context-aware hypothesis generation</a:t>
            </a:r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92798FD4-2557-200D-AE53-E94F72DDE3BD}"/>
              </a:ext>
            </a:extLst>
          </p:cNvPr>
          <p:cNvSpPr txBox="1"/>
          <p:nvPr/>
        </p:nvSpPr>
        <p:spPr>
          <a:xfrm>
            <a:off x="1088780" y="5457619"/>
            <a:ext cx="12633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accent2"/>
                </a:solidFill>
              </a:rPr>
              <a:t>Candidate pathways</a:t>
            </a:r>
          </a:p>
        </p:txBody>
      </p:sp>
      <p:sp>
        <p:nvSpPr>
          <p:cNvPr id="459" name="Freeform 458">
            <a:extLst>
              <a:ext uri="{FF2B5EF4-FFF2-40B4-BE49-F238E27FC236}">
                <a16:creationId xmlns:a16="http://schemas.microsoft.com/office/drawing/2014/main" id="{A54F5EAD-159C-156F-9832-09660BEEF7CA}"/>
              </a:ext>
            </a:extLst>
          </p:cNvPr>
          <p:cNvSpPr/>
          <p:nvPr/>
        </p:nvSpPr>
        <p:spPr>
          <a:xfrm>
            <a:off x="113356" y="3830209"/>
            <a:ext cx="3381820" cy="2219840"/>
          </a:xfrm>
          <a:custGeom>
            <a:avLst/>
            <a:gdLst>
              <a:gd name="connsiteX0" fmla="*/ 8798 w 3381820"/>
              <a:gd name="connsiteY0" fmla="*/ 2219841 h 2219840"/>
              <a:gd name="connsiteX1" fmla="*/ 3373023 w 3381820"/>
              <a:gd name="connsiteY1" fmla="*/ 2219841 h 2219840"/>
              <a:gd name="connsiteX2" fmla="*/ 3381821 w 3381820"/>
              <a:gd name="connsiteY2" fmla="*/ 2211046 h 2219840"/>
              <a:gd name="connsiteX3" fmla="*/ 3381821 w 3381820"/>
              <a:gd name="connsiteY3" fmla="*/ 8795 h 2219840"/>
              <a:gd name="connsiteX4" fmla="*/ 3373023 w 3381820"/>
              <a:gd name="connsiteY4" fmla="*/ 0 h 2219840"/>
              <a:gd name="connsiteX5" fmla="*/ 8798 w 3381820"/>
              <a:gd name="connsiteY5" fmla="*/ 0 h 2219840"/>
              <a:gd name="connsiteX6" fmla="*/ 0 w 3381820"/>
              <a:gd name="connsiteY6" fmla="*/ 8795 h 2219840"/>
              <a:gd name="connsiteX7" fmla="*/ 0 w 3381820"/>
              <a:gd name="connsiteY7" fmla="*/ 2211046 h 2219840"/>
              <a:gd name="connsiteX8" fmla="*/ 8798 w 3381820"/>
              <a:gd name="connsiteY8" fmla="*/ 2219841 h 2219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81820" h="2219840">
                <a:moveTo>
                  <a:pt x="8798" y="2219841"/>
                </a:moveTo>
                <a:lnTo>
                  <a:pt x="3373023" y="2219841"/>
                </a:lnTo>
                <a:cubicBezTo>
                  <a:pt x="3378888" y="2219841"/>
                  <a:pt x="3381821" y="2216909"/>
                  <a:pt x="3381821" y="2211046"/>
                </a:cubicBezTo>
                <a:lnTo>
                  <a:pt x="3381821" y="8795"/>
                </a:lnTo>
                <a:cubicBezTo>
                  <a:pt x="3381821" y="2932"/>
                  <a:pt x="3378888" y="0"/>
                  <a:pt x="3373023" y="0"/>
                </a:cubicBezTo>
                <a:lnTo>
                  <a:pt x="8798" y="0"/>
                </a:lnTo>
                <a:cubicBezTo>
                  <a:pt x="2933" y="0"/>
                  <a:pt x="0" y="2932"/>
                  <a:pt x="0" y="8795"/>
                </a:cubicBezTo>
                <a:lnTo>
                  <a:pt x="0" y="2211046"/>
                </a:lnTo>
                <a:cubicBezTo>
                  <a:pt x="0" y="2216909"/>
                  <a:pt x="2933" y="2219841"/>
                  <a:pt x="8798" y="2219841"/>
                </a:cubicBezTo>
                <a:close/>
              </a:path>
            </a:pathLst>
          </a:custGeom>
          <a:noFill/>
          <a:ln w="7883" cap="flat">
            <a:solidFill>
              <a:srgbClr val="5A5A5A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61" name="Freeform 460">
            <a:extLst>
              <a:ext uri="{FF2B5EF4-FFF2-40B4-BE49-F238E27FC236}">
                <a16:creationId xmlns:a16="http://schemas.microsoft.com/office/drawing/2014/main" id="{74DC7842-5892-4BCA-C792-1E4190059634}"/>
              </a:ext>
            </a:extLst>
          </p:cNvPr>
          <p:cNvSpPr/>
          <p:nvPr/>
        </p:nvSpPr>
        <p:spPr>
          <a:xfrm>
            <a:off x="4003043" y="4327182"/>
            <a:ext cx="3311439" cy="654342"/>
          </a:xfrm>
          <a:custGeom>
            <a:avLst/>
            <a:gdLst>
              <a:gd name="connsiteX0" fmla="*/ 8797 w 3311439"/>
              <a:gd name="connsiteY0" fmla="*/ 654343 h 654342"/>
              <a:gd name="connsiteX1" fmla="*/ 3302642 w 3311439"/>
              <a:gd name="connsiteY1" fmla="*/ 654343 h 654342"/>
              <a:gd name="connsiteX2" fmla="*/ 3311439 w 3311439"/>
              <a:gd name="connsiteY2" fmla="*/ 645548 h 654342"/>
              <a:gd name="connsiteX3" fmla="*/ 3311439 w 3311439"/>
              <a:gd name="connsiteY3" fmla="*/ 8795 h 654342"/>
              <a:gd name="connsiteX4" fmla="*/ 3302642 w 3311439"/>
              <a:gd name="connsiteY4" fmla="*/ 0 h 654342"/>
              <a:gd name="connsiteX5" fmla="*/ 8797 w 3311439"/>
              <a:gd name="connsiteY5" fmla="*/ 0 h 654342"/>
              <a:gd name="connsiteX6" fmla="*/ 0 w 3311439"/>
              <a:gd name="connsiteY6" fmla="*/ 8795 h 654342"/>
              <a:gd name="connsiteX7" fmla="*/ 0 w 3311439"/>
              <a:gd name="connsiteY7" fmla="*/ 645548 h 654342"/>
              <a:gd name="connsiteX8" fmla="*/ 8797 w 3311439"/>
              <a:gd name="connsiteY8" fmla="*/ 654343 h 654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11439" h="654342">
                <a:moveTo>
                  <a:pt x="8797" y="654343"/>
                </a:moveTo>
                <a:lnTo>
                  <a:pt x="3302642" y="654343"/>
                </a:lnTo>
                <a:cubicBezTo>
                  <a:pt x="3308507" y="654343"/>
                  <a:pt x="3311439" y="651411"/>
                  <a:pt x="3311439" y="645548"/>
                </a:cubicBezTo>
                <a:lnTo>
                  <a:pt x="3311439" y="8795"/>
                </a:lnTo>
                <a:cubicBezTo>
                  <a:pt x="3311439" y="2932"/>
                  <a:pt x="3308507" y="0"/>
                  <a:pt x="3302642" y="0"/>
                </a:cubicBezTo>
                <a:lnTo>
                  <a:pt x="8797" y="0"/>
                </a:lnTo>
                <a:cubicBezTo>
                  <a:pt x="2933" y="0"/>
                  <a:pt x="0" y="2932"/>
                  <a:pt x="0" y="8795"/>
                </a:cubicBezTo>
                <a:lnTo>
                  <a:pt x="0" y="645548"/>
                </a:lnTo>
                <a:cubicBezTo>
                  <a:pt x="0" y="651411"/>
                  <a:pt x="2933" y="654343"/>
                  <a:pt x="8797" y="654343"/>
                </a:cubicBezTo>
                <a:close/>
              </a:path>
            </a:pathLst>
          </a:custGeom>
          <a:solidFill>
            <a:srgbClr val="EEF7F2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 dirty="0"/>
          </a:p>
        </p:txBody>
      </p:sp>
      <p:sp>
        <p:nvSpPr>
          <p:cNvPr id="462" name="Freeform 461">
            <a:extLst>
              <a:ext uri="{FF2B5EF4-FFF2-40B4-BE49-F238E27FC236}">
                <a16:creationId xmlns:a16="http://schemas.microsoft.com/office/drawing/2014/main" id="{DB07570F-5A85-7F36-9A4D-671F71575D96}"/>
              </a:ext>
            </a:extLst>
          </p:cNvPr>
          <p:cNvSpPr/>
          <p:nvPr/>
        </p:nvSpPr>
        <p:spPr>
          <a:xfrm>
            <a:off x="4010818" y="5028549"/>
            <a:ext cx="3311439" cy="689522"/>
          </a:xfrm>
          <a:custGeom>
            <a:avLst/>
            <a:gdLst>
              <a:gd name="connsiteX0" fmla="*/ 8797 w 3311439"/>
              <a:gd name="connsiteY0" fmla="*/ 689522 h 689522"/>
              <a:gd name="connsiteX1" fmla="*/ 3302642 w 3311439"/>
              <a:gd name="connsiteY1" fmla="*/ 689522 h 689522"/>
              <a:gd name="connsiteX2" fmla="*/ 3311439 w 3311439"/>
              <a:gd name="connsiteY2" fmla="*/ 680728 h 689522"/>
              <a:gd name="connsiteX3" fmla="*/ 3311439 w 3311439"/>
              <a:gd name="connsiteY3" fmla="*/ 8795 h 689522"/>
              <a:gd name="connsiteX4" fmla="*/ 3302642 w 3311439"/>
              <a:gd name="connsiteY4" fmla="*/ 0 h 689522"/>
              <a:gd name="connsiteX5" fmla="*/ 8797 w 3311439"/>
              <a:gd name="connsiteY5" fmla="*/ 0 h 689522"/>
              <a:gd name="connsiteX6" fmla="*/ 0 w 3311439"/>
              <a:gd name="connsiteY6" fmla="*/ 8795 h 689522"/>
              <a:gd name="connsiteX7" fmla="*/ 0 w 3311439"/>
              <a:gd name="connsiteY7" fmla="*/ 680728 h 689522"/>
              <a:gd name="connsiteX8" fmla="*/ 8797 w 3311439"/>
              <a:gd name="connsiteY8" fmla="*/ 689522 h 689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11439" h="689522">
                <a:moveTo>
                  <a:pt x="8797" y="689522"/>
                </a:moveTo>
                <a:lnTo>
                  <a:pt x="3302642" y="689522"/>
                </a:lnTo>
                <a:cubicBezTo>
                  <a:pt x="3308507" y="689522"/>
                  <a:pt x="3311439" y="686591"/>
                  <a:pt x="3311439" y="680728"/>
                </a:cubicBezTo>
                <a:lnTo>
                  <a:pt x="3311439" y="8795"/>
                </a:lnTo>
                <a:cubicBezTo>
                  <a:pt x="3311439" y="2932"/>
                  <a:pt x="3308507" y="0"/>
                  <a:pt x="3302642" y="0"/>
                </a:cubicBezTo>
                <a:lnTo>
                  <a:pt x="8797" y="0"/>
                </a:lnTo>
                <a:cubicBezTo>
                  <a:pt x="2933" y="0"/>
                  <a:pt x="0" y="2932"/>
                  <a:pt x="0" y="8795"/>
                </a:cubicBezTo>
                <a:lnTo>
                  <a:pt x="0" y="680728"/>
                </a:lnTo>
                <a:cubicBezTo>
                  <a:pt x="0" y="686591"/>
                  <a:pt x="2933" y="689522"/>
                  <a:pt x="8797" y="689522"/>
                </a:cubicBezTo>
                <a:close/>
              </a:path>
            </a:pathLst>
          </a:custGeom>
          <a:solidFill>
            <a:srgbClr val="F4F4FA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 dirty="0"/>
          </a:p>
        </p:txBody>
      </p:sp>
      <p:sp>
        <p:nvSpPr>
          <p:cNvPr id="463" name="Freeform 462">
            <a:extLst>
              <a:ext uri="{FF2B5EF4-FFF2-40B4-BE49-F238E27FC236}">
                <a16:creationId xmlns:a16="http://schemas.microsoft.com/office/drawing/2014/main" id="{8E9207F5-430F-F541-189E-D5F6E915240C}"/>
              </a:ext>
            </a:extLst>
          </p:cNvPr>
          <p:cNvSpPr/>
          <p:nvPr/>
        </p:nvSpPr>
        <p:spPr>
          <a:xfrm>
            <a:off x="3802652" y="4264664"/>
            <a:ext cx="3677421" cy="15863"/>
          </a:xfrm>
          <a:custGeom>
            <a:avLst/>
            <a:gdLst>
              <a:gd name="connsiteX0" fmla="*/ 0 w 3677421"/>
              <a:gd name="connsiteY0" fmla="*/ 0 h 15863"/>
              <a:gd name="connsiteX1" fmla="*/ 3677422 w 3677421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77421" h="15863">
                <a:moveTo>
                  <a:pt x="0" y="0"/>
                </a:moveTo>
                <a:lnTo>
                  <a:pt x="3677422" y="0"/>
                </a:lnTo>
              </a:path>
            </a:pathLst>
          </a:custGeom>
          <a:noFill/>
          <a:ln w="7095" cap="sq">
            <a:solidFill>
              <a:srgbClr val="5A5A5A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71" name="Freeform 470">
            <a:extLst>
              <a:ext uri="{FF2B5EF4-FFF2-40B4-BE49-F238E27FC236}">
                <a16:creationId xmlns:a16="http://schemas.microsoft.com/office/drawing/2014/main" id="{EF47A58A-3263-7847-1682-C0679E9C6DFF}"/>
              </a:ext>
            </a:extLst>
          </p:cNvPr>
          <p:cNvSpPr/>
          <p:nvPr/>
        </p:nvSpPr>
        <p:spPr>
          <a:xfrm>
            <a:off x="5381828" y="4647241"/>
            <a:ext cx="79178" cy="79154"/>
          </a:xfrm>
          <a:custGeom>
            <a:avLst/>
            <a:gdLst>
              <a:gd name="connsiteX0" fmla="*/ 39590 w 79178"/>
              <a:gd name="connsiteY0" fmla="*/ 79155 h 79154"/>
              <a:gd name="connsiteX1" fmla="*/ 67584 w 79178"/>
              <a:gd name="connsiteY1" fmla="*/ 67563 h 79154"/>
              <a:gd name="connsiteX2" fmla="*/ 79179 w 79178"/>
              <a:gd name="connsiteY2" fmla="*/ 39577 h 79154"/>
              <a:gd name="connsiteX3" fmla="*/ 67584 w 79178"/>
              <a:gd name="connsiteY3" fmla="*/ 11592 h 79154"/>
              <a:gd name="connsiteX4" fmla="*/ 39590 w 79178"/>
              <a:gd name="connsiteY4" fmla="*/ 0 h 79154"/>
              <a:gd name="connsiteX5" fmla="*/ 11595 w 79178"/>
              <a:gd name="connsiteY5" fmla="*/ 11592 h 79154"/>
              <a:gd name="connsiteX6" fmla="*/ 0 w 79178"/>
              <a:gd name="connsiteY6" fmla="*/ 39577 h 79154"/>
              <a:gd name="connsiteX7" fmla="*/ 11595 w 79178"/>
              <a:gd name="connsiteY7" fmla="*/ 67563 h 79154"/>
              <a:gd name="connsiteX8" fmla="*/ 39590 w 79178"/>
              <a:gd name="connsiteY8" fmla="*/ 79155 h 79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178" h="79154">
                <a:moveTo>
                  <a:pt x="39590" y="79155"/>
                </a:moveTo>
                <a:cubicBezTo>
                  <a:pt x="50089" y="79155"/>
                  <a:pt x="60160" y="74984"/>
                  <a:pt x="67584" y="67563"/>
                </a:cubicBezTo>
                <a:cubicBezTo>
                  <a:pt x="75007" y="60141"/>
                  <a:pt x="79179" y="50073"/>
                  <a:pt x="79179" y="39577"/>
                </a:cubicBezTo>
                <a:cubicBezTo>
                  <a:pt x="79179" y="29081"/>
                  <a:pt x="75007" y="19014"/>
                  <a:pt x="67584" y="11592"/>
                </a:cubicBezTo>
                <a:cubicBezTo>
                  <a:pt x="60160" y="4170"/>
                  <a:pt x="50089" y="0"/>
                  <a:pt x="39590" y="0"/>
                </a:cubicBezTo>
                <a:cubicBezTo>
                  <a:pt x="29090" y="0"/>
                  <a:pt x="19019" y="4170"/>
                  <a:pt x="11595" y="11592"/>
                </a:cubicBezTo>
                <a:cubicBezTo>
                  <a:pt x="4172" y="19014"/>
                  <a:pt x="0" y="29081"/>
                  <a:pt x="0" y="39577"/>
                </a:cubicBezTo>
                <a:cubicBezTo>
                  <a:pt x="0" y="50073"/>
                  <a:pt x="4172" y="60141"/>
                  <a:pt x="11595" y="67563"/>
                </a:cubicBezTo>
                <a:cubicBezTo>
                  <a:pt x="19019" y="74984"/>
                  <a:pt x="29090" y="79155"/>
                  <a:pt x="39590" y="79155"/>
                </a:cubicBezTo>
                <a:close/>
              </a:path>
            </a:pathLst>
          </a:custGeom>
          <a:solidFill>
            <a:srgbClr val="FFFFFF"/>
          </a:solidFill>
          <a:ln w="12298" cap="flat">
            <a:solidFill>
              <a:srgbClr val="3A8A69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72" name="Freeform 471">
            <a:extLst>
              <a:ext uri="{FF2B5EF4-FFF2-40B4-BE49-F238E27FC236}">
                <a16:creationId xmlns:a16="http://schemas.microsoft.com/office/drawing/2014/main" id="{924B936D-C14B-A288-FCDD-8A14E141AC43}"/>
              </a:ext>
            </a:extLst>
          </p:cNvPr>
          <p:cNvSpPr/>
          <p:nvPr/>
        </p:nvSpPr>
        <p:spPr>
          <a:xfrm>
            <a:off x="6578310" y="4647241"/>
            <a:ext cx="79178" cy="79154"/>
          </a:xfrm>
          <a:custGeom>
            <a:avLst/>
            <a:gdLst>
              <a:gd name="connsiteX0" fmla="*/ 39589 w 79178"/>
              <a:gd name="connsiteY0" fmla="*/ 79155 h 79154"/>
              <a:gd name="connsiteX1" fmla="*/ 67584 w 79178"/>
              <a:gd name="connsiteY1" fmla="*/ 67563 h 79154"/>
              <a:gd name="connsiteX2" fmla="*/ 79179 w 79178"/>
              <a:gd name="connsiteY2" fmla="*/ 39577 h 79154"/>
              <a:gd name="connsiteX3" fmla="*/ 67584 w 79178"/>
              <a:gd name="connsiteY3" fmla="*/ 11592 h 79154"/>
              <a:gd name="connsiteX4" fmla="*/ 39589 w 79178"/>
              <a:gd name="connsiteY4" fmla="*/ 0 h 79154"/>
              <a:gd name="connsiteX5" fmla="*/ 11595 w 79178"/>
              <a:gd name="connsiteY5" fmla="*/ 11592 h 79154"/>
              <a:gd name="connsiteX6" fmla="*/ 0 w 79178"/>
              <a:gd name="connsiteY6" fmla="*/ 39577 h 79154"/>
              <a:gd name="connsiteX7" fmla="*/ 11595 w 79178"/>
              <a:gd name="connsiteY7" fmla="*/ 67563 h 79154"/>
              <a:gd name="connsiteX8" fmla="*/ 39589 w 79178"/>
              <a:gd name="connsiteY8" fmla="*/ 79155 h 79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178" h="79154">
                <a:moveTo>
                  <a:pt x="39589" y="79155"/>
                </a:moveTo>
                <a:cubicBezTo>
                  <a:pt x="50089" y="79155"/>
                  <a:pt x="60160" y="74984"/>
                  <a:pt x="67584" y="67563"/>
                </a:cubicBezTo>
                <a:cubicBezTo>
                  <a:pt x="75007" y="60141"/>
                  <a:pt x="79179" y="50073"/>
                  <a:pt x="79179" y="39577"/>
                </a:cubicBezTo>
                <a:cubicBezTo>
                  <a:pt x="79179" y="29081"/>
                  <a:pt x="75007" y="19014"/>
                  <a:pt x="67584" y="11592"/>
                </a:cubicBezTo>
                <a:cubicBezTo>
                  <a:pt x="60160" y="4170"/>
                  <a:pt x="50089" y="0"/>
                  <a:pt x="39589" y="0"/>
                </a:cubicBezTo>
                <a:cubicBezTo>
                  <a:pt x="29090" y="0"/>
                  <a:pt x="19019" y="4170"/>
                  <a:pt x="11595" y="11592"/>
                </a:cubicBezTo>
                <a:cubicBezTo>
                  <a:pt x="4172" y="19014"/>
                  <a:pt x="0" y="29081"/>
                  <a:pt x="0" y="39577"/>
                </a:cubicBezTo>
                <a:cubicBezTo>
                  <a:pt x="0" y="50073"/>
                  <a:pt x="4172" y="60141"/>
                  <a:pt x="11595" y="67563"/>
                </a:cubicBezTo>
                <a:cubicBezTo>
                  <a:pt x="19019" y="74984"/>
                  <a:pt x="29090" y="79155"/>
                  <a:pt x="39589" y="79155"/>
                </a:cubicBezTo>
                <a:close/>
              </a:path>
            </a:pathLst>
          </a:custGeom>
          <a:solidFill>
            <a:srgbClr val="FFFFFF"/>
          </a:solidFill>
          <a:ln w="12298" cap="flat">
            <a:solidFill>
              <a:srgbClr val="3A8A69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73" name="Freeform 472">
            <a:extLst>
              <a:ext uri="{FF2B5EF4-FFF2-40B4-BE49-F238E27FC236}">
                <a16:creationId xmlns:a16="http://schemas.microsoft.com/office/drawing/2014/main" id="{77401DBB-2A8D-13EF-B8E5-1499A5B7A839}"/>
              </a:ext>
            </a:extLst>
          </p:cNvPr>
          <p:cNvSpPr/>
          <p:nvPr/>
        </p:nvSpPr>
        <p:spPr>
          <a:xfrm>
            <a:off x="5230551" y="5287485"/>
            <a:ext cx="82697" cy="82672"/>
          </a:xfrm>
          <a:custGeom>
            <a:avLst/>
            <a:gdLst>
              <a:gd name="connsiteX0" fmla="*/ 41349 w 82697"/>
              <a:gd name="connsiteY0" fmla="*/ 82672 h 82672"/>
              <a:gd name="connsiteX1" fmla="*/ 70587 w 82697"/>
              <a:gd name="connsiteY1" fmla="*/ 70565 h 82672"/>
              <a:gd name="connsiteX2" fmla="*/ 82698 w 82697"/>
              <a:gd name="connsiteY2" fmla="*/ 41336 h 82672"/>
              <a:gd name="connsiteX3" fmla="*/ 70587 w 82697"/>
              <a:gd name="connsiteY3" fmla="*/ 12107 h 82672"/>
              <a:gd name="connsiteX4" fmla="*/ 41349 w 82697"/>
              <a:gd name="connsiteY4" fmla="*/ 0 h 82672"/>
              <a:gd name="connsiteX5" fmla="*/ 12111 w 82697"/>
              <a:gd name="connsiteY5" fmla="*/ 12107 h 82672"/>
              <a:gd name="connsiteX6" fmla="*/ 0 w 82697"/>
              <a:gd name="connsiteY6" fmla="*/ 41336 h 82672"/>
              <a:gd name="connsiteX7" fmla="*/ 12111 w 82697"/>
              <a:gd name="connsiteY7" fmla="*/ 70565 h 82672"/>
              <a:gd name="connsiteX8" fmla="*/ 41349 w 82697"/>
              <a:gd name="connsiteY8" fmla="*/ 82672 h 82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697" h="82672">
                <a:moveTo>
                  <a:pt x="41349" y="82672"/>
                </a:moveTo>
                <a:cubicBezTo>
                  <a:pt x="52315" y="82672"/>
                  <a:pt x="62833" y="78317"/>
                  <a:pt x="70587" y="70565"/>
                </a:cubicBezTo>
                <a:cubicBezTo>
                  <a:pt x="78341" y="62814"/>
                  <a:pt x="82698" y="52299"/>
                  <a:pt x="82698" y="41336"/>
                </a:cubicBezTo>
                <a:cubicBezTo>
                  <a:pt x="82698" y="30374"/>
                  <a:pt x="78341" y="19859"/>
                  <a:pt x="70587" y="12107"/>
                </a:cubicBezTo>
                <a:cubicBezTo>
                  <a:pt x="62833" y="4355"/>
                  <a:pt x="52315" y="0"/>
                  <a:pt x="41349" y="0"/>
                </a:cubicBezTo>
                <a:cubicBezTo>
                  <a:pt x="30383" y="0"/>
                  <a:pt x="19865" y="4355"/>
                  <a:pt x="12111" y="12107"/>
                </a:cubicBezTo>
                <a:cubicBezTo>
                  <a:pt x="4357" y="19859"/>
                  <a:pt x="0" y="30374"/>
                  <a:pt x="0" y="41336"/>
                </a:cubicBezTo>
                <a:cubicBezTo>
                  <a:pt x="0" y="52299"/>
                  <a:pt x="4357" y="62814"/>
                  <a:pt x="12111" y="70565"/>
                </a:cubicBezTo>
                <a:cubicBezTo>
                  <a:pt x="19865" y="78317"/>
                  <a:pt x="30383" y="82672"/>
                  <a:pt x="41349" y="82672"/>
                </a:cubicBezTo>
                <a:close/>
              </a:path>
            </a:pathLst>
          </a:custGeom>
          <a:solidFill>
            <a:srgbClr val="F9EFEC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74" name="Freeform 473">
            <a:extLst>
              <a:ext uri="{FF2B5EF4-FFF2-40B4-BE49-F238E27FC236}">
                <a16:creationId xmlns:a16="http://schemas.microsoft.com/office/drawing/2014/main" id="{EE2E2953-842F-6259-1BCB-D511ED7BDA1E}"/>
              </a:ext>
            </a:extLst>
          </p:cNvPr>
          <p:cNvSpPr/>
          <p:nvPr/>
        </p:nvSpPr>
        <p:spPr>
          <a:xfrm>
            <a:off x="4296083" y="5794589"/>
            <a:ext cx="2586512" cy="15863"/>
          </a:xfrm>
          <a:custGeom>
            <a:avLst/>
            <a:gdLst>
              <a:gd name="connsiteX0" fmla="*/ 0 w 2586512"/>
              <a:gd name="connsiteY0" fmla="*/ 0 h 15863"/>
              <a:gd name="connsiteX1" fmla="*/ 2586512 w 2586512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86512" h="15863">
                <a:moveTo>
                  <a:pt x="0" y="0"/>
                </a:moveTo>
                <a:lnTo>
                  <a:pt x="2586512" y="0"/>
                </a:lnTo>
              </a:path>
            </a:pathLst>
          </a:custGeom>
          <a:noFill/>
          <a:ln w="22073" cap="rnd">
            <a:solidFill>
              <a:schemeClr val="accent4">
                <a:lumMod val="75000"/>
              </a:schemeClr>
            </a:solidFill>
            <a:prstDash val="solid"/>
            <a:round/>
          </a:ln>
        </p:spPr>
        <p:txBody>
          <a:bodyPr rtlCol="0" anchor="ctr"/>
          <a:lstStyle/>
          <a:p>
            <a:endParaRPr lang="en-CN">
              <a:highlight>
                <a:srgbClr val="FFFF00"/>
              </a:highlight>
            </a:endParaRPr>
          </a:p>
        </p:txBody>
      </p:sp>
      <p:sp>
        <p:nvSpPr>
          <p:cNvPr id="477" name="Freeform 476">
            <a:extLst>
              <a:ext uri="{FF2B5EF4-FFF2-40B4-BE49-F238E27FC236}">
                <a16:creationId xmlns:a16="http://schemas.microsoft.com/office/drawing/2014/main" id="{07426543-A9D4-DE1D-D61A-AF40FE7031BD}"/>
              </a:ext>
            </a:extLst>
          </p:cNvPr>
          <p:cNvSpPr/>
          <p:nvPr/>
        </p:nvSpPr>
        <p:spPr>
          <a:xfrm>
            <a:off x="4177429" y="4637569"/>
            <a:ext cx="95014" cy="35179"/>
          </a:xfrm>
          <a:custGeom>
            <a:avLst/>
            <a:gdLst>
              <a:gd name="connsiteX0" fmla="*/ 21994 w 95014"/>
              <a:gd name="connsiteY0" fmla="*/ 35180 h 35179"/>
              <a:gd name="connsiteX1" fmla="*/ 73021 w 95014"/>
              <a:gd name="connsiteY1" fmla="*/ 35180 h 35179"/>
              <a:gd name="connsiteX2" fmla="*/ 95015 w 95014"/>
              <a:gd name="connsiteY2" fmla="*/ 13192 h 35179"/>
              <a:gd name="connsiteX3" fmla="*/ 95015 w 95014"/>
              <a:gd name="connsiteY3" fmla="*/ 21987 h 35179"/>
              <a:gd name="connsiteX4" fmla="*/ 73021 w 95014"/>
              <a:gd name="connsiteY4" fmla="*/ 0 h 35179"/>
              <a:gd name="connsiteX5" fmla="*/ 21994 w 95014"/>
              <a:gd name="connsiteY5" fmla="*/ 0 h 35179"/>
              <a:gd name="connsiteX6" fmla="*/ 0 w 95014"/>
              <a:gd name="connsiteY6" fmla="*/ 21987 h 35179"/>
              <a:gd name="connsiteX7" fmla="*/ 0 w 95014"/>
              <a:gd name="connsiteY7" fmla="*/ 13192 h 35179"/>
              <a:gd name="connsiteX8" fmla="*/ 21994 w 95014"/>
              <a:gd name="connsiteY8" fmla="*/ 35180 h 35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5014" h="35179">
                <a:moveTo>
                  <a:pt x="21994" y="35180"/>
                </a:moveTo>
                <a:lnTo>
                  <a:pt x="73021" y="35180"/>
                </a:lnTo>
                <a:cubicBezTo>
                  <a:pt x="87683" y="35180"/>
                  <a:pt x="95015" y="27851"/>
                  <a:pt x="95015" y="13192"/>
                </a:cubicBezTo>
                <a:lnTo>
                  <a:pt x="95015" y="21987"/>
                </a:lnTo>
                <a:cubicBezTo>
                  <a:pt x="95015" y="7329"/>
                  <a:pt x="87683" y="0"/>
                  <a:pt x="73021" y="0"/>
                </a:cubicBezTo>
                <a:lnTo>
                  <a:pt x="21994" y="0"/>
                </a:lnTo>
                <a:cubicBezTo>
                  <a:pt x="7331" y="0"/>
                  <a:pt x="0" y="7329"/>
                  <a:pt x="0" y="21987"/>
                </a:cubicBezTo>
                <a:lnTo>
                  <a:pt x="0" y="13192"/>
                </a:lnTo>
                <a:cubicBezTo>
                  <a:pt x="0" y="27851"/>
                  <a:pt x="7331" y="35180"/>
                  <a:pt x="21994" y="35180"/>
                </a:cubicBezTo>
                <a:close/>
              </a:path>
            </a:pathLst>
          </a:custGeom>
          <a:solidFill>
            <a:srgbClr val="FFFFFF"/>
          </a:solidFill>
          <a:ln w="12298" cap="flat">
            <a:solidFill>
              <a:srgbClr val="3A8A69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78" name="Freeform 477">
            <a:extLst>
              <a:ext uri="{FF2B5EF4-FFF2-40B4-BE49-F238E27FC236}">
                <a16:creationId xmlns:a16="http://schemas.microsoft.com/office/drawing/2014/main" id="{DCC5E0BB-E778-046D-7B3B-E979C6876672}"/>
              </a:ext>
            </a:extLst>
          </p:cNvPr>
          <p:cNvSpPr/>
          <p:nvPr/>
        </p:nvSpPr>
        <p:spPr>
          <a:xfrm>
            <a:off x="4177429" y="4669231"/>
            <a:ext cx="95014" cy="35179"/>
          </a:xfrm>
          <a:custGeom>
            <a:avLst/>
            <a:gdLst>
              <a:gd name="connsiteX0" fmla="*/ 21994 w 95014"/>
              <a:gd name="connsiteY0" fmla="*/ 35180 h 35179"/>
              <a:gd name="connsiteX1" fmla="*/ 73021 w 95014"/>
              <a:gd name="connsiteY1" fmla="*/ 35180 h 35179"/>
              <a:gd name="connsiteX2" fmla="*/ 95015 w 95014"/>
              <a:gd name="connsiteY2" fmla="*/ 13192 h 35179"/>
              <a:gd name="connsiteX3" fmla="*/ 95015 w 95014"/>
              <a:gd name="connsiteY3" fmla="*/ 21987 h 35179"/>
              <a:gd name="connsiteX4" fmla="*/ 73021 w 95014"/>
              <a:gd name="connsiteY4" fmla="*/ 0 h 35179"/>
              <a:gd name="connsiteX5" fmla="*/ 21994 w 95014"/>
              <a:gd name="connsiteY5" fmla="*/ 0 h 35179"/>
              <a:gd name="connsiteX6" fmla="*/ 0 w 95014"/>
              <a:gd name="connsiteY6" fmla="*/ 21987 h 35179"/>
              <a:gd name="connsiteX7" fmla="*/ 0 w 95014"/>
              <a:gd name="connsiteY7" fmla="*/ 13192 h 35179"/>
              <a:gd name="connsiteX8" fmla="*/ 21994 w 95014"/>
              <a:gd name="connsiteY8" fmla="*/ 35180 h 35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5014" h="35179">
                <a:moveTo>
                  <a:pt x="21994" y="35180"/>
                </a:moveTo>
                <a:lnTo>
                  <a:pt x="73021" y="35180"/>
                </a:lnTo>
                <a:cubicBezTo>
                  <a:pt x="87683" y="35180"/>
                  <a:pt x="95015" y="27851"/>
                  <a:pt x="95015" y="13192"/>
                </a:cubicBezTo>
                <a:lnTo>
                  <a:pt x="95015" y="21987"/>
                </a:lnTo>
                <a:cubicBezTo>
                  <a:pt x="95015" y="7329"/>
                  <a:pt x="87683" y="0"/>
                  <a:pt x="73021" y="0"/>
                </a:cubicBezTo>
                <a:lnTo>
                  <a:pt x="21994" y="0"/>
                </a:lnTo>
                <a:cubicBezTo>
                  <a:pt x="7331" y="0"/>
                  <a:pt x="0" y="7329"/>
                  <a:pt x="0" y="21987"/>
                </a:cubicBezTo>
                <a:lnTo>
                  <a:pt x="0" y="13192"/>
                </a:lnTo>
                <a:cubicBezTo>
                  <a:pt x="0" y="27851"/>
                  <a:pt x="7331" y="35180"/>
                  <a:pt x="21994" y="35180"/>
                </a:cubicBezTo>
                <a:close/>
              </a:path>
            </a:pathLst>
          </a:custGeom>
          <a:solidFill>
            <a:srgbClr val="FFFFFF"/>
          </a:solidFill>
          <a:ln w="12298" cap="flat">
            <a:solidFill>
              <a:srgbClr val="3A8A69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79" name="Freeform 478">
            <a:extLst>
              <a:ext uri="{FF2B5EF4-FFF2-40B4-BE49-F238E27FC236}">
                <a16:creationId xmlns:a16="http://schemas.microsoft.com/office/drawing/2014/main" id="{3EBEAAA8-EA21-122D-B1A9-BA64E2C8DF78}"/>
              </a:ext>
            </a:extLst>
          </p:cNvPr>
          <p:cNvSpPr/>
          <p:nvPr/>
        </p:nvSpPr>
        <p:spPr>
          <a:xfrm>
            <a:off x="4177429" y="4700893"/>
            <a:ext cx="95014" cy="35179"/>
          </a:xfrm>
          <a:custGeom>
            <a:avLst/>
            <a:gdLst>
              <a:gd name="connsiteX0" fmla="*/ 21994 w 95014"/>
              <a:gd name="connsiteY0" fmla="*/ 35180 h 35179"/>
              <a:gd name="connsiteX1" fmla="*/ 73021 w 95014"/>
              <a:gd name="connsiteY1" fmla="*/ 35180 h 35179"/>
              <a:gd name="connsiteX2" fmla="*/ 95015 w 95014"/>
              <a:gd name="connsiteY2" fmla="*/ 13192 h 35179"/>
              <a:gd name="connsiteX3" fmla="*/ 95015 w 95014"/>
              <a:gd name="connsiteY3" fmla="*/ 21987 h 35179"/>
              <a:gd name="connsiteX4" fmla="*/ 73021 w 95014"/>
              <a:gd name="connsiteY4" fmla="*/ 0 h 35179"/>
              <a:gd name="connsiteX5" fmla="*/ 21994 w 95014"/>
              <a:gd name="connsiteY5" fmla="*/ 0 h 35179"/>
              <a:gd name="connsiteX6" fmla="*/ 0 w 95014"/>
              <a:gd name="connsiteY6" fmla="*/ 21987 h 35179"/>
              <a:gd name="connsiteX7" fmla="*/ 0 w 95014"/>
              <a:gd name="connsiteY7" fmla="*/ 13192 h 35179"/>
              <a:gd name="connsiteX8" fmla="*/ 21994 w 95014"/>
              <a:gd name="connsiteY8" fmla="*/ 35180 h 35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5014" h="35179">
                <a:moveTo>
                  <a:pt x="21994" y="35180"/>
                </a:moveTo>
                <a:lnTo>
                  <a:pt x="73021" y="35180"/>
                </a:lnTo>
                <a:cubicBezTo>
                  <a:pt x="87683" y="35180"/>
                  <a:pt x="95015" y="27851"/>
                  <a:pt x="95015" y="13192"/>
                </a:cubicBezTo>
                <a:lnTo>
                  <a:pt x="95015" y="21987"/>
                </a:lnTo>
                <a:cubicBezTo>
                  <a:pt x="95015" y="7329"/>
                  <a:pt x="87683" y="0"/>
                  <a:pt x="73021" y="0"/>
                </a:cubicBezTo>
                <a:lnTo>
                  <a:pt x="21994" y="0"/>
                </a:lnTo>
                <a:cubicBezTo>
                  <a:pt x="7331" y="0"/>
                  <a:pt x="0" y="7329"/>
                  <a:pt x="0" y="21987"/>
                </a:cubicBezTo>
                <a:lnTo>
                  <a:pt x="0" y="13192"/>
                </a:lnTo>
                <a:cubicBezTo>
                  <a:pt x="0" y="27850"/>
                  <a:pt x="7331" y="35180"/>
                  <a:pt x="21994" y="35180"/>
                </a:cubicBezTo>
                <a:close/>
              </a:path>
            </a:pathLst>
          </a:custGeom>
          <a:solidFill>
            <a:srgbClr val="FFFFFF"/>
          </a:solidFill>
          <a:ln w="12298" cap="flat">
            <a:solidFill>
              <a:srgbClr val="3A8A69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82" name="Freeform 481">
            <a:extLst>
              <a:ext uri="{FF2B5EF4-FFF2-40B4-BE49-F238E27FC236}">
                <a16:creationId xmlns:a16="http://schemas.microsoft.com/office/drawing/2014/main" id="{961E176F-DF17-8368-8430-40C36DF97DEB}"/>
              </a:ext>
            </a:extLst>
          </p:cNvPr>
          <p:cNvSpPr/>
          <p:nvPr/>
        </p:nvSpPr>
        <p:spPr>
          <a:xfrm>
            <a:off x="5392389" y="4656915"/>
            <a:ext cx="62463" cy="54528"/>
          </a:xfrm>
          <a:custGeom>
            <a:avLst/>
            <a:gdLst>
              <a:gd name="connsiteX0" fmla="*/ 0 w 62463"/>
              <a:gd name="connsiteY0" fmla="*/ 31662 h 54528"/>
              <a:gd name="connsiteX1" fmla="*/ 20234 w 62463"/>
              <a:gd name="connsiteY1" fmla="*/ 54528 h 54528"/>
              <a:gd name="connsiteX2" fmla="*/ 62463 w 62463"/>
              <a:gd name="connsiteY2" fmla="*/ 0 h 5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463" h="54528">
                <a:moveTo>
                  <a:pt x="0" y="31662"/>
                </a:moveTo>
                <a:lnTo>
                  <a:pt x="20234" y="54528"/>
                </a:lnTo>
                <a:lnTo>
                  <a:pt x="62463" y="0"/>
                </a:lnTo>
              </a:path>
            </a:pathLst>
          </a:custGeom>
          <a:noFill/>
          <a:ln w="15766" cap="rnd">
            <a:solidFill>
              <a:srgbClr val="3A8A69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85" name="Freeform 484">
            <a:extLst>
              <a:ext uri="{FF2B5EF4-FFF2-40B4-BE49-F238E27FC236}">
                <a16:creationId xmlns:a16="http://schemas.microsoft.com/office/drawing/2014/main" id="{EA543162-0700-52B2-B3A3-B0F16A21362F}"/>
              </a:ext>
            </a:extLst>
          </p:cNvPr>
          <p:cNvSpPr/>
          <p:nvPr/>
        </p:nvSpPr>
        <p:spPr>
          <a:xfrm>
            <a:off x="6588870" y="4656915"/>
            <a:ext cx="62463" cy="54528"/>
          </a:xfrm>
          <a:custGeom>
            <a:avLst/>
            <a:gdLst>
              <a:gd name="connsiteX0" fmla="*/ 0 w 62463"/>
              <a:gd name="connsiteY0" fmla="*/ 31662 h 54528"/>
              <a:gd name="connsiteX1" fmla="*/ 20235 w 62463"/>
              <a:gd name="connsiteY1" fmla="*/ 54528 h 54528"/>
              <a:gd name="connsiteX2" fmla="*/ 62464 w 62463"/>
              <a:gd name="connsiteY2" fmla="*/ 0 h 5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463" h="54528">
                <a:moveTo>
                  <a:pt x="0" y="31662"/>
                </a:moveTo>
                <a:lnTo>
                  <a:pt x="20235" y="54528"/>
                </a:lnTo>
                <a:lnTo>
                  <a:pt x="62464" y="0"/>
                </a:lnTo>
              </a:path>
            </a:pathLst>
          </a:custGeom>
          <a:noFill/>
          <a:ln w="15766" cap="rnd">
            <a:solidFill>
              <a:srgbClr val="3A8A69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88" name="Freeform 487">
            <a:extLst>
              <a:ext uri="{FF2B5EF4-FFF2-40B4-BE49-F238E27FC236}">
                <a16:creationId xmlns:a16="http://schemas.microsoft.com/office/drawing/2014/main" id="{D82C7DD1-DA86-451B-4ED9-339D6B6436D8}"/>
              </a:ext>
            </a:extLst>
          </p:cNvPr>
          <p:cNvSpPr/>
          <p:nvPr/>
        </p:nvSpPr>
        <p:spPr>
          <a:xfrm>
            <a:off x="4131721" y="5272537"/>
            <a:ext cx="89736" cy="112575"/>
          </a:xfrm>
          <a:custGeom>
            <a:avLst/>
            <a:gdLst>
              <a:gd name="connsiteX0" fmla="*/ 7038 w 89736"/>
              <a:gd name="connsiteY0" fmla="*/ 112575 h 112575"/>
              <a:gd name="connsiteX1" fmla="*/ 82698 w 89736"/>
              <a:gd name="connsiteY1" fmla="*/ 112575 h 112575"/>
              <a:gd name="connsiteX2" fmla="*/ 89736 w 89736"/>
              <a:gd name="connsiteY2" fmla="*/ 105539 h 112575"/>
              <a:gd name="connsiteX3" fmla="*/ 89736 w 89736"/>
              <a:gd name="connsiteY3" fmla="*/ 7036 h 112575"/>
              <a:gd name="connsiteX4" fmla="*/ 82698 w 89736"/>
              <a:gd name="connsiteY4" fmla="*/ 0 h 112575"/>
              <a:gd name="connsiteX5" fmla="*/ 7038 w 89736"/>
              <a:gd name="connsiteY5" fmla="*/ 0 h 112575"/>
              <a:gd name="connsiteX6" fmla="*/ 0 w 89736"/>
              <a:gd name="connsiteY6" fmla="*/ 7036 h 112575"/>
              <a:gd name="connsiteX7" fmla="*/ 0 w 89736"/>
              <a:gd name="connsiteY7" fmla="*/ 105539 h 112575"/>
              <a:gd name="connsiteX8" fmla="*/ 7038 w 89736"/>
              <a:gd name="connsiteY8" fmla="*/ 112575 h 112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9736" h="112575">
                <a:moveTo>
                  <a:pt x="7038" y="112575"/>
                </a:moveTo>
                <a:lnTo>
                  <a:pt x="82698" y="112575"/>
                </a:lnTo>
                <a:cubicBezTo>
                  <a:pt x="87390" y="112575"/>
                  <a:pt x="89736" y="110230"/>
                  <a:pt x="89736" y="105539"/>
                </a:cubicBezTo>
                <a:lnTo>
                  <a:pt x="89736" y="7036"/>
                </a:lnTo>
                <a:cubicBezTo>
                  <a:pt x="89736" y="2345"/>
                  <a:pt x="87390" y="0"/>
                  <a:pt x="82698" y="0"/>
                </a:cubicBezTo>
                <a:lnTo>
                  <a:pt x="7038" y="0"/>
                </a:lnTo>
                <a:cubicBezTo>
                  <a:pt x="2346" y="0"/>
                  <a:pt x="0" y="2345"/>
                  <a:pt x="0" y="7036"/>
                </a:cubicBezTo>
                <a:lnTo>
                  <a:pt x="0" y="105539"/>
                </a:lnTo>
                <a:cubicBezTo>
                  <a:pt x="0" y="110230"/>
                  <a:pt x="2346" y="112575"/>
                  <a:pt x="7038" y="112575"/>
                </a:cubicBezTo>
                <a:close/>
              </a:path>
            </a:pathLst>
          </a:custGeom>
          <a:solidFill>
            <a:srgbClr val="FFFFFF"/>
          </a:solidFill>
          <a:ln w="12298" cap="flat">
            <a:solidFill>
              <a:srgbClr val="4E86A8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90" name="Freeform 489">
            <a:extLst>
              <a:ext uri="{FF2B5EF4-FFF2-40B4-BE49-F238E27FC236}">
                <a16:creationId xmlns:a16="http://schemas.microsoft.com/office/drawing/2014/main" id="{7CD6850D-33D9-24D8-7260-892BB9225161}"/>
              </a:ext>
            </a:extLst>
          </p:cNvPr>
          <p:cNvSpPr/>
          <p:nvPr/>
        </p:nvSpPr>
        <p:spPr>
          <a:xfrm>
            <a:off x="5241985" y="5328825"/>
            <a:ext cx="59824" cy="15863"/>
          </a:xfrm>
          <a:custGeom>
            <a:avLst/>
            <a:gdLst>
              <a:gd name="connsiteX0" fmla="*/ 0 w 59824"/>
              <a:gd name="connsiteY0" fmla="*/ 0 h 15863"/>
              <a:gd name="connsiteX1" fmla="*/ 59824 w 59824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9824" h="15863">
                <a:moveTo>
                  <a:pt x="0" y="0"/>
                </a:moveTo>
                <a:lnTo>
                  <a:pt x="59824" y="0"/>
                </a:lnTo>
              </a:path>
            </a:pathLst>
          </a:custGeom>
          <a:noFill/>
          <a:ln w="18131" cap="rnd">
            <a:solidFill>
              <a:srgbClr val="C55F53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91" name="Freeform 490">
            <a:extLst>
              <a:ext uri="{FF2B5EF4-FFF2-40B4-BE49-F238E27FC236}">
                <a16:creationId xmlns:a16="http://schemas.microsoft.com/office/drawing/2014/main" id="{28F5CAC3-AE1A-EB2B-80E1-3569083D03FB}"/>
              </a:ext>
            </a:extLst>
          </p:cNvPr>
          <p:cNvSpPr/>
          <p:nvPr/>
        </p:nvSpPr>
        <p:spPr>
          <a:xfrm>
            <a:off x="5271897" y="5298922"/>
            <a:ext cx="15766" cy="59805"/>
          </a:xfrm>
          <a:custGeom>
            <a:avLst/>
            <a:gdLst>
              <a:gd name="connsiteX0" fmla="*/ 0 w 15766"/>
              <a:gd name="connsiteY0" fmla="*/ 59806 h 59805"/>
              <a:gd name="connsiteX1" fmla="*/ 0 w 15766"/>
              <a:gd name="connsiteY1" fmla="*/ 0 h 59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766" h="59805">
                <a:moveTo>
                  <a:pt x="0" y="59806"/>
                </a:moveTo>
                <a:lnTo>
                  <a:pt x="0" y="0"/>
                </a:lnTo>
              </a:path>
            </a:pathLst>
          </a:custGeom>
          <a:noFill/>
          <a:ln w="18131" cap="rnd">
            <a:solidFill>
              <a:srgbClr val="C55F53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93" name="Freeform 492">
            <a:extLst>
              <a:ext uri="{FF2B5EF4-FFF2-40B4-BE49-F238E27FC236}">
                <a16:creationId xmlns:a16="http://schemas.microsoft.com/office/drawing/2014/main" id="{6DF69BA8-6522-1039-358F-07579B731EAD}"/>
              </a:ext>
            </a:extLst>
          </p:cNvPr>
          <p:cNvSpPr/>
          <p:nvPr/>
        </p:nvSpPr>
        <p:spPr>
          <a:xfrm>
            <a:off x="6327619" y="5306834"/>
            <a:ext cx="70381" cy="3518"/>
          </a:xfrm>
          <a:custGeom>
            <a:avLst/>
            <a:gdLst>
              <a:gd name="connsiteX0" fmla="*/ 0 w 70381"/>
              <a:gd name="connsiteY0" fmla="*/ 0 h 3518"/>
              <a:gd name="connsiteX1" fmla="*/ 70382 w 70381"/>
              <a:gd name="connsiteY1" fmla="*/ 3518 h 3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0381" h="3518">
                <a:moveTo>
                  <a:pt x="0" y="0"/>
                </a:moveTo>
                <a:lnTo>
                  <a:pt x="70382" y="3518"/>
                </a:lnTo>
              </a:path>
            </a:pathLst>
          </a:custGeom>
          <a:noFill/>
          <a:ln w="10721" cap="sq">
            <a:solidFill>
              <a:srgbClr val="C58A2C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94" name="Freeform 493">
            <a:extLst>
              <a:ext uri="{FF2B5EF4-FFF2-40B4-BE49-F238E27FC236}">
                <a16:creationId xmlns:a16="http://schemas.microsoft.com/office/drawing/2014/main" id="{44E1398A-3876-0D42-2C57-66D2C3629612}"/>
              </a:ext>
            </a:extLst>
          </p:cNvPr>
          <p:cNvSpPr/>
          <p:nvPr/>
        </p:nvSpPr>
        <p:spPr>
          <a:xfrm>
            <a:off x="6366329" y="5310352"/>
            <a:ext cx="31671" cy="54528"/>
          </a:xfrm>
          <a:custGeom>
            <a:avLst/>
            <a:gdLst>
              <a:gd name="connsiteX0" fmla="*/ 31672 w 31671"/>
              <a:gd name="connsiteY0" fmla="*/ 0 h 54528"/>
              <a:gd name="connsiteX1" fmla="*/ 0 w 31671"/>
              <a:gd name="connsiteY1" fmla="*/ 54529 h 5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671" h="54528">
                <a:moveTo>
                  <a:pt x="31672" y="0"/>
                </a:moveTo>
                <a:lnTo>
                  <a:pt x="0" y="54529"/>
                </a:lnTo>
              </a:path>
            </a:pathLst>
          </a:custGeom>
          <a:noFill/>
          <a:ln w="10721" cap="sq">
            <a:solidFill>
              <a:srgbClr val="C58A2C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95" name="Freeform 494">
            <a:extLst>
              <a:ext uri="{FF2B5EF4-FFF2-40B4-BE49-F238E27FC236}">
                <a16:creationId xmlns:a16="http://schemas.microsoft.com/office/drawing/2014/main" id="{AB05ED7B-30E2-D53A-BB7F-F049589EE0D3}"/>
              </a:ext>
            </a:extLst>
          </p:cNvPr>
          <p:cNvSpPr/>
          <p:nvPr/>
        </p:nvSpPr>
        <p:spPr>
          <a:xfrm>
            <a:off x="6327619" y="5306834"/>
            <a:ext cx="38709" cy="58046"/>
          </a:xfrm>
          <a:custGeom>
            <a:avLst/>
            <a:gdLst>
              <a:gd name="connsiteX0" fmla="*/ 38710 w 38709"/>
              <a:gd name="connsiteY0" fmla="*/ 58047 h 58046"/>
              <a:gd name="connsiteX1" fmla="*/ 0 w 38709"/>
              <a:gd name="connsiteY1" fmla="*/ 0 h 58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8709" h="58046">
                <a:moveTo>
                  <a:pt x="38710" y="58047"/>
                </a:moveTo>
                <a:lnTo>
                  <a:pt x="0" y="0"/>
                </a:lnTo>
              </a:path>
            </a:pathLst>
          </a:custGeom>
          <a:noFill/>
          <a:ln w="10721" cap="sq">
            <a:solidFill>
              <a:srgbClr val="C58A2C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97" name="Freeform 496">
            <a:extLst>
              <a:ext uri="{FF2B5EF4-FFF2-40B4-BE49-F238E27FC236}">
                <a16:creationId xmlns:a16="http://schemas.microsoft.com/office/drawing/2014/main" id="{6577BE96-F40C-8886-E7C7-AE2ED8E0271E}"/>
              </a:ext>
            </a:extLst>
          </p:cNvPr>
          <p:cNvSpPr/>
          <p:nvPr/>
        </p:nvSpPr>
        <p:spPr>
          <a:xfrm>
            <a:off x="4135243" y="5610262"/>
            <a:ext cx="86217" cy="15863"/>
          </a:xfrm>
          <a:custGeom>
            <a:avLst/>
            <a:gdLst>
              <a:gd name="connsiteX0" fmla="*/ 0 w 86217"/>
              <a:gd name="connsiteY0" fmla="*/ 0 h 15863"/>
              <a:gd name="connsiteX1" fmla="*/ 86217 w 86217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6217" h="15863">
                <a:moveTo>
                  <a:pt x="0" y="0"/>
                </a:moveTo>
                <a:lnTo>
                  <a:pt x="86217" y="0"/>
                </a:lnTo>
              </a:path>
            </a:pathLst>
          </a:custGeom>
          <a:noFill/>
          <a:ln w="11352" cap="rnd">
            <a:solidFill>
              <a:srgbClr val="3A8A69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498" name="Freeform 497">
            <a:extLst>
              <a:ext uri="{FF2B5EF4-FFF2-40B4-BE49-F238E27FC236}">
                <a16:creationId xmlns:a16="http://schemas.microsoft.com/office/drawing/2014/main" id="{2CD74D50-A9F2-D37F-036E-23DE7C184D86}"/>
              </a:ext>
            </a:extLst>
          </p:cNvPr>
          <p:cNvSpPr/>
          <p:nvPr/>
        </p:nvSpPr>
        <p:spPr>
          <a:xfrm>
            <a:off x="4135240" y="5534623"/>
            <a:ext cx="15766" cy="75636"/>
          </a:xfrm>
          <a:custGeom>
            <a:avLst/>
            <a:gdLst>
              <a:gd name="connsiteX0" fmla="*/ 0 w 15766"/>
              <a:gd name="connsiteY0" fmla="*/ 75636 h 75636"/>
              <a:gd name="connsiteX1" fmla="*/ 0 w 15766"/>
              <a:gd name="connsiteY1" fmla="*/ 0 h 75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766" h="75636">
                <a:moveTo>
                  <a:pt x="0" y="75636"/>
                </a:moveTo>
                <a:lnTo>
                  <a:pt x="0" y="0"/>
                </a:lnTo>
              </a:path>
            </a:pathLst>
          </a:custGeom>
          <a:noFill/>
          <a:ln w="11352" cap="rnd">
            <a:solidFill>
              <a:srgbClr val="3A8A69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00" name="Freeform 499">
            <a:extLst>
              <a:ext uri="{FF2B5EF4-FFF2-40B4-BE49-F238E27FC236}">
                <a16:creationId xmlns:a16="http://schemas.microsoft.com/office/drawing/2014/main" id="{E7B2C9C1-82E5-0734-C8A4-A3D53270F551}"/>
              </a:ext>
            </a:extLst>
          </p:cNvPr>
          <p:cNvSpPr/>
          <p:nvPr/>
        </p:nvSpPr>
        <p:spPr>
          <a:xfrm>
            <a:off x="5222634" y="5518795"/>
            <a:ext cx="89735" cy="112575"/>
          </a:xfrm>
          <a:custGeom>
            <a:avLst/>
            <a:gdLst>
              <a:gd name="connsiteX0" fmla="*/ 7038 w 89735"/>
              <a:gd name="connsiteY0" fmla="*/ 112575 h 112575"/>
              <a:gd name="connsiteX1" fmla="*/ 82698 w 89735"/>
              <a:gd name="connsiteY1" fmla="*/ 112575 h 112575"/>
              <a:gd name="connsiteX2" fmla="*/ 89736 w 89735"/>
              <a:gd name="connsiteY2" fmla="*/ 105539 h 112575"/>
              <a:gd name="connsiteX3" fmla="*/ 89736 w 89735"/>
              <a:gd name="connsiteY3" fmla="*/ 7036 h 112575"/>
              <a:gd name="connsiteX4" fmla="*/ 82698 w 89735"/>
              <a:gd name="connsiteY4" fmla="*/ 0 h 112575"/>
              <a:gd name="connsiteX5" fmla="*/ 7038 w 89735"/>
              <a:gd name="connsiteY5" fmla="*/ 0 h 112575"/>
              <a:gd name="connsiteX6" fmla="*/ 0 w 89735"/>
              <a:gd name="connsiteY6" fmla="*/ 7036 h 112575"/>
              <a:gd name="connsiteX7" fmla="*/ 0 w 89735"/>
              <a:gd name="connsiteY7" fmla="*/ 105539 h 112575"/>
              <a:gd name="connsiteX8" fmla="*/ 7038 w 89735"/>
              <a:gd name="connsiteY8" fmla="*/ 112575 h 112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9735" h="112575">
                <a:moveTo>
                  <a:pt x="7038" y="112575"/>
                </a:moveTo>
                <a:lnTo>
                  <a:pt x="82698" y="112575"/>
                </a:lnTo>
                <a:cubicBezTo>
                  <a:pt x="87390" y="112575"/>
                  <a:pt x="89736" y="110230"/>
                  <a:pt x="89736" y="105539"/>
                </a:cubicBezTo>
                <a:lnTo>
                  <a:pt x="89736" y="7036"/>
                </a:lnTo>
                <a:cubicBezTo>
                  <a:pt x="89736" y="2345"/>
                  <a:pt x="87390" y="0"/>
                  <a:pt x="82698" y="0"/>
                </a:cubicBezTo>
                <a:lnTo>
                  <a:pt x="7038" y="0"/>
                </a:lnTo>
                <a:cubicBezTo>
                  <a:pt x="2346" y="0"/>
                  <a:pt x="0" y="2345"/>
                  <a:pt x="0" y="7036"/>
                </a:cubicBezTo>
                <a:lnTo>
                  <a:pt x="0" y="105539"/>
                </a:lnTo>
                <a:cubicBezTo>
                  <a:pt x="0" y="110230"/>
                  <a:pt x="2346" y="112575"/>
                  <a:pt x="7038" y="112575"/>
                </a:cubicBezTo>
                <a:close/>
              </a:path>
            </a:pathLst>
          </a:custGeom>
          <a:solidFill>
            <a:srgbClr val="FFFFFF"/>
          </a:solidFill>
          <a:ln w="12298" cap="flat">
            <a:solidFill>
              <a:srgbClr val="606A90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03" name="Freeform 502">
            <a:extLst>
              <a:ext uri="{FF2B5EF4-FFF2-40B4-BE49-F238E27FC236}">
                <a16:creationId xmlns:a16="http://schemas.microsoft.com/office/drawing/2014/main" id="{9B947317-27A9-5A1D-17A3-5F7FC8E388F5}"/>
              </a:ext>
            </a:extLst>
          </p:cNvPr>
          <p:cNvSpPr/>
          <p:nvPr/>
        </p:nvSpPr>
        <p:spPr>
          <a:xfrm>
            <a:off x="4159873" y="5311235"/>
            <a:ext cx="35190" cy="15863"/>
          </a:xfrm>
          <a:custGeom>
            <a:avLst/>
            <a:gdLst>
              <a:gd name="connsiteX0" fmla="*/ 0 w 35190"/>
              <a:gd name="connsiteY0" fmla="*/ 0 h 15863"/>
              <a:gd name="connsiteX1" fmla="*/ 35191 w 35190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190" h="15863">
                <a:moveTo>
                  <a:pt x="0" y="0"/>
                </a:moveTo>
                <a:lnTo>
                  <a:pt x="35191" y="0"/>
                </a:lnTo>
              </a:path>
            </a:pathLst>
          </a:custGeom>
          <a:noFill/>
          <a:ln w="10721" cap="rnd">
            <a:solidFill>
              <a:srgbClr val="4E86A8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04" name="Freeform 503">
            <a:extLst>
              <a:ext uri="{FF2B5EF4-FFF2-40B4-BE49-F238E27FC236}">
                <a16:creationId xmlns:a16="http://schemas.microsoft.com/office/drawing/2014/main" id="{9B243F44-6595-8BCC-DE7A-B2F9CDD3D4AF}"/>
              </a:ext>
            </a:extLst>
          </p:cNvPr>
          <p:cNvSpPr/>
          <p:nvPr/>
        </p:nvSpPr>
        <p:spPr>
          <a:xfrm>
            <a:off x="4159873" y="5334102"/>
            <a:ext cx="35190" cy="15863"/>
          </a:xfrm>
          <a:custGeom>
            <a:avLst/>
            <a:gdLst>
              <a:gd name="connsiteX0" fmla="*/ 0 w 35190"/>
              <a:gd name="connsiteY0" fmla="*/ 0 h 15863"/>
              <a:gd name="connsiteX1" fmla="*/ 35191 w 35190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190" h="15863">
                <a:moveTo>
                  <a:pt x="0" y="0"/>
                </a:moveTo>
                <a:lnTo>
                  <a:pt x="35191" y="0"/>
                </a:lnTo>
              </a:path>
            </a:pathLst>
          </a:custGeom>
          <a:noFill/>
          <a:ln w="10721" cap="rnd">
            <a:solidFill>
              <a:srgbClr val="4E86A8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05" name="Freeform 504">
            <a:extLst>
              <a:ext uri="{FF2B5EF4-FFF2-40B4-BE49-F238E27FC236}">
                <a16:creationId xmlns:a16="http://schemas.microsoft.com/office/drawing/2014/main" id="{D744C2E6-1E98-AF1D-D146-3EEB22C6328A}"/>
              </a:ext>
            </a:extLst>
          </p:cNvPr>
          <p:cNvSpPr/>
          <p:nvPr/>
        </p:nvSpPr>
        <p:spPr>
          <a:xfrm>
            <a:off x="4159873" y="5356968"/>
            <a:ext cx="22874" cy="15863"/>
          </a:xfrm>
          <a:custGeom>
            <a:avLst/>
            <a:gdLst>
              <a:gd name="connsiteX0" fmla="*/ 0 w 22874"/>
              <a:gd name="connsiteY0" fmla="*/ 0 h 15863"/>
              <a:gd name="connsiteX1" fmla="*/ 22874 w 22874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874" h="15863">
                <a:moveTo>
                  <a:pt x="0" y="0"/>
                </a:moveTo>
                <a:lnTo>
                  <a:pt x="22874" y="0"/>
                </a:lnTo>
              </a:path>
            </a:pathLst>
          </a:custGeom>
          <a:noFill/>
          <a:ln w="10721" cap="rnd">
            <a:solidFill>
              <a:srgbClr val="4E86A8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06" name="Freeform 505">
            <a:extLst>
              <a:ext uri="{FF2B5EF4-FFF2-40B4-BE49-F238E27FC236}">
                <a16:creationId xmlns:a16="http://schemas.microsoft.com/office/drawing/2014/main" id="{308AF5D8-A1E5-B12D-86AA-AFDB12CB7659}"/>
              </a:ext>
            </a:extLst>
          </p:cNvPr>
          <p:cNvSpPr/>
          <p:nvPr/>
        </p:nvSpPr>
        <p:spPr>
          <a:xfrm>
            <a:off x="6315303" y="5294521"/>
            <a:ext cx="24633" cy="24626"/>
          </a:xfrm>
          <a:custGeom>
            <a:avLst/>
            <a:gdLst>
              <a:gd name="connsiteX0" fmla="*/ 12317 w 24633"/>
              <a:gd name="connsiteY0" fmla="*/ 24626 h 24626"/>
              <a:gd name="connsiteX1" fmla="*/ 21026 w 24633"/>
              <a:gd name="connsiteY1" fmla="*/ 21019 h 24626"/>
              <a:gd name="connsiteX2" fmla="*/ 24634 w 24633"/>
              <a:gd name="connsiteY2" fmla="*/ 12313 h 24626"/>
              <a:gd name="connsiteX3" fmla="*/ 21026 w 24633"/>
              <a:gd name="connsiteY3" fmla="*/ 3606 h 24626"/>
              <a:gd name="connsiteX4" fmla="*/ 12317 w 24633"/>
              <a:gd name="connsiteY4" fmla="*/ 0 h 24626"/>
              <a:gd name="connsiteX5" fmla="*/ 3608 w 24633"/>
              <a:gd name="connsiteY5" fmla="*/ 3606 h 24626"/>
              <a:gd name="connsiteX6" fmla="*/ 0 w 24633"/>
              <a:gd name="connsiteY6" fmla="*/ 12313 h 24626"/>
              <a:gd name="connsiteX7" fmla="*/ 3608 w 24633"/>
              <a:gd name="connsiteY7" fmla="*/ 21019 h 24626"/>
              <a:gd name="connsiteX8" fmla="*/ 12317 w 24633"/>
              <a:gd name="connsiteY8" fmla="*/ 24626 h 24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633" h="24626">
                <a:moveTo>
                  <a:pt x="12317" y="24626"/>
                </a:moveTo>
                <a:cubicBezTo>
                  <a:pt x="15583" y="24626"/>
                  <a:pt x="18716" y="23329"/>
                  <a:pt x="21026" y="21019"/>
                </a:cubicBezTo>
                <a:cubicBezTo>
                  <a:pt x="23336" y="18711"/>
                  <a:pt x="24634" y="15578"/>
                  <a:pt x="24634" y="12313"/>
                </a:cubicBezTo>
                <a:cubicBezTo>
                  <a:pt x="24634" y="9047"/>
                  <a:pt x="23336" y="5916"/>
                  <a:pt x="21026" y="3606"/>
                </a:cubicBezTo>
                <a:cubicBezTo>
                  <a:pt x="18716" y="1297"/>
                  <a:pt x="15583" y="0"/>
                  <a:pt x="12317" y="0"/>
                </a:cubicBezTo>
                <a:cubicBezTo>
                  <a:pt x="9050" y="0"/>
                  <a:pt x="5917" y="1297"/>
                  <a:pt x="3608" y="3606"/>
                </a:cubicBezTo>
                <a:cubicBezTo>
                  <a:pt x="1298" y="5916"/>
                  <a:pt x="0" y="9047"/>
                  <a:pt x="0" y="12313"/>
                </a:cubicBezTo>
                <a:cubicBezTo>
                  <a:pt x="0" y="15578"/>
                  <a:pt x="1298" y="18711"/>
                  <a:pt x="3608" y="21019"/>
                </a:cubicBezTo>
                <a:cubicBezTo>
                  <a:pt x="5917" y="23329"/>
                  <a:pt x="9050" y="24626"/>
                  <a:pt x="12317" y="24626"/>
                </a:cubicBezTo>
                <a:close/>
              </a:path>
            </a:pathLst>
          </a:custGeom>
          <a:solidFill>
            <a:srgbClr val="FFFFFF"/>
          </a:solidFill>
          <a:ln w="12298" cap="flat">
            <a:solidFill>
              <a:srgbClr val="C58A2C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07" name="Freeform 506">
            <a:extLst>
              <a:ext uri="{FF2B5EF4-FFF2-40B4-BE49-F238E27FC236}">
                <a16:creationId xmlns:a16="http://schemas.microsoft.com/office/drawing/2014/main" id="{2F6EE80D-1873-8B21-F2E5-1FAF93E83CE6}"/>
              </a:ext>
            </a:extLst>
          </p:cNvPr>
          <p:cNvSpPr/>
          <p:nvPr/>
        </p:nvSpPr>
        <p:spPr>
          <a:xfrm>
            <a:off x="6385684" y="5298042"/>
            <a:ext cx="24633" cy="24625"/>
          </a:xfrm>
          <a:custGeom>
            <a:avLst/>
            <a:gdLst>
              <a:gd name="connsiteX0" fmla="*/ 12317 w 24633"/>
              <a:gd name="connsiteY0" fmla="*/ 24626 h 24625"/>
              <a:gd name="connsiteX1" fmla="*/ 21026 w 24633"/>
              <a:gd name="connsiteY1" fmla="*/ 21019 h 24625"/>
              <a:gd name="connsiteX2" fmla="*/ 24634 w 24633"/>
              <a:gd name="connsiteY2" fmla="*/ 12313 h 24625"/>
              <a:gd name="connsiteX3" fmla="*/ 21026 w 24633"/>
              <a:gd name="connsiteY3" fmla="*/ 3606 h 24625"/>
              <a:gd name="connsiteX4" fmla="*/ 12317 w 24633"/>
              <a:gd name="connsiteY4" fmla="*/ 0 h 24625"/>
              <a:gd name="connsiteX5" fmla="*/ 3608 w 24633"/>
              <a:gd name="connsiteY5" fmla="*/ 3606 h 24625"/>
              <a:gd name="connsiteX6" fmla="*/ 0 w 24633"/>
              <a:gd name="connsiteY6" fmla="*/ 12313 h 24625"/>
              <a:gd name="connsiteX7" fmla="*/ 3608 w 24633"/>
              <a:gd name="connsiteY7" fmla="*/ 21019 h 24625"/>
              <a:gd name="connsiteX8" fmla="*/ 12317 w 24633"/>
              <a:gd name="connsiteY8" fmla="*/ 24626 h 24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633" h="24625">
                <a:moveTo>
                  <a:pt x="12317" y="24626"/>
                </a:moveTo>
                <a:cubicBezTo>
                  <a:pt x="15583" y="24626"/>
                  <a:pt x="18716" y="23328"/>
                  <a:pt x="21026" y="21019"/>
                </a:cubicBezTo>
                <a:cubicBezTo>
                  <a:pt x="23336" y="18711"/>
                  <a:pt x="24634" y="15578"/>
                  <a:pt x="24634" y="12313"/>
                </a:cubicBezTo>
                <a:cubicBezTo>
                  <a:pt x="24634" y="9047"/>
                  <a:pt x="23336" y="5915"/>
                  <a:pt x="21026" y="3606"/>
                </a:cubicBezTo>
                <a:cubicBezTo>
                  <a:pt x="18716" y="1297"/>
                  <a:pt x="15583" y="0"/>
                  <a:pt x="12317" y="0"/>
                </a:cubicBezTo>
                <a:cubicBezTo>
                  <a:pt x="9050" y="0"/>
                  <a:pt x="5917" y="1297"/>
                  <a:pt x="3608" y="3606"/>
                </a:cubicBezTo>
                <a:cubicBezTo>
                  <a:pt x="1298" y="5915"/>
                  <a:pt x="0" y="9047"/>
                  <a:pt x="0" y="12313"/>
                </a:cubicBezTo>
                <a:cubicBezTo>
                  <a:pt x="0" y="15578"/>
                  <a:pt x="1298" y="18711"/>
                  <a:pt x="3608" y="21019"/>
                </a:cubicBezTo>
                <a:cubicBezTo>
                  <a:pt x="5917" y="23328"/>
                  <a:pt x="9050" y="24626"/>
                  <a:pt x="12317" y="24626"/>
                </a:cubicBezTo>
                <a:close/>
              </a:path>
            </a:pathLst>
          </a:custGeom>
          <a:solidFill>
            <a:srgbClr val="FFFFFF"/>
          </a:solidFill>
          <a:ln w="12298" cap="flat">
            <a:solidFill>
              <a:srgbClr val="C58A2C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08" name="Freeform 507">
            <a:extLst>
              <a:ext uri="{FF2B5EF4-FFF2-40B4-BE49-F238E27FC236}">
                <a16:creationId xmlns:a16="http://schemas.microsoft.com/office/drawing/2014/main" id="{442D3F70-122D-8AB2-0607-567A25448E4D}"/>
              </a:ext>
            </a:extLst>
          </p:cNvPr>
          <p:cNvSpPr/>
          <p:nvPr/>
        </p:nvSpPr>
        <p:spPr>
          <a:xfrm>
            <a:off x="6354013" y="5352571"/>
            <a:ext cx="24633" cy="24625"/>
          </a:xfrm>
          <a:custGeom>
            <a:avLst/>
            <a:gdLst>
              <a:gd name="connsiteX0" fmla="*/ 12317 w 24633"/>
              <a:gd name="connsiteY0" fmla="*/ 24626 h 24625"/>
              <a:gd name="connsiteX1" fmla="*/ 21026 w 24633"/>
              <a:gd name="connsiteY1" fmla="*/ 21019 h 24625"/>
              <a:gd name="connsiteX2" fmla="*/ 24634 w 24633"/>
              <a:gd name="connsiteY2" fmla="*/ 12313 h 24625"/>
              <a:gd name="connsiteX3" fmla="*/ 21026 w 24633"/>
              <a:gd name="connsiteY3" fmla="*/ 3606 h 24625"/>
              <a:gd name="connsiteX4" fmla="*/ 12317 w 24633"/>
              <a:gd name="connsiteY4" fmla="*/ 0 h 24625"/>
              <a:gd name="connsiteX5" fmla="*/ 3608 w 24633"/>
              <a:gd name="connsiteY5" fmla="*/ 3606 h 24625"/>
              <a:gd name="connsiteX6" fmla="*/ 0 w 24633"/>
              <a:gd name="connsiteY6" fmla="*/ 12313 h 24625"/>
              <a:gd name="connsiteX7" fmla="*/ 3608 w 24633"/>
              <a:gd name="connsiteY7" fmla="*/ 21019 h 24625"/>
              <a:gd name="connsiteX8" fmla="*/ 12317 w 24633"/>
              <a:gd name="connsiteY8" fmla="*/ 24626 h 24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633" h="24625">
                <a:moveTo>
                  <a:pt x="12317" y="24626"/>
                </a:moveTo>
                <a:cubicBezTo>
                  <a:pt x="15583" y="24626"/>
                  <a:pt x="18716" y="23328"/>
                  <a:pt x="21026" y="21019"/>
                </a:cubicBezTo>
                <a:cubicBezTo>
                  <a:pt x="23335" y="18710"/>
                  <a:pt x="24634" y="15578"/>
                  <a:pt x="24634" y="12313"/>
                </a:cubicBezTo>
                <a:cubicBezTo>
                  <a:pt x="24634" y="9047"/>
                  <a:pt x="23335" y="5915"/>
                  <a:pt x="21026" y="3606"/>
                </a:cubicBezTo>
                <a:cubicBezTo>
                  <a:pt x="18716" y="1297"/>
                  <a:pt x="15583" y="0"/>
                  <a:pt x="12317" y="0"/>
                </a:cubicBezTo>
                <a:cubicBezTo>
                  <a:pt x="9050" y="0"/>
                  <a:pt x="5917" y="1297"/>
                  <a:pt x="3608" y="3606"/>
                </a:cubicBezTo>
                <a:cubicBezTo>
                  <a:pt x="1298" y="5915"/>
                  <a:pt x="0" y="9047"/>
                  <a:pt x="0" y="12313"/>
                </a:cubicBezTo>
                <a:cubicBezTo>
                  <a:pt x="0" y="15578"/>
                  <a:pt x="1298" y="18710"/>
                  <a:pt x="3608" y="21019"/>
                </a:cubicBezTo>
                <a:cubicBezTo>
                  <a:pt x="5917" y="23328"/>
                  <a:pt x="9050" y="24626"/>
                  <a:pt x="12317" y="24626"/>
                </a:cubicBezTo>
                <a:close/>
              </a:path>
            </a:pathLst>
          </a:custGeom>
          <a:solidFill>
            <a:srgbClr val="FFFFFF"/>
          </a:solidFill>
          <a:ln w="12298" cap="flat">
            <a:solidFill>
              <a:srgbClr val="C58A2C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09" name="Freeform 508">
            <a:extLst>
              <a:ext uri="{FF2B5EF4-FFF2-40B4-BE49-F238E27FC236}">
                <a16:creationId xmlns:a16="http://schemas.microsoft.com/office/drawing/2014/main" id="{E0918C30-421F-93DD-B7CA-0B305822B433}"/>
              </a:ext>
            </a:extLst>
          </p:cNvPr>
          <p:cNvSpPr/>
          <p:nvPr/>
        </p:nvSpPr>
        <p:spPr>
          <a:xfrm>
            <a:off x="4144917" y="5554851"/>
            <a:ext cx="19354" cy="19348"/>
          </a:xfrm>
          <a:custGeom>
            <a:avLst/>
            <a:gdLst>
              <a:gd name="connsiteX0" fmla="*/ 9677 w 19354"/>
              <a:gd name="connsiteY0" fmla="*/ 19349 h 19348"/>
              <a:gd name="connsiteX1" fmla="*/ 16520 w 19354"/>
              <a:gd name="connsiteY1" fmla="*/ 16515 h 19348"/>
              <a:gd name="connsiteX2" fmla="*/ 19355 w 19354"/>
              <a:gd name="connsiteY2" fmla="*/ 9674 h 19348"/>
              <a:gd name="connsiteX3" fmla="*/ 16520 w 19354"/>
              <a:gd name="connsiteY3" fmla="*/ 2834 h 19348"/>
              <a:gd name="connsiteX4" fmla="*/ 9677 w 19354"/>
              <a:gd name="connsiteY4" fmla="*/ 0 h 19348"/>
              <a:gd name="connsiteX5" fmla="*/ 2834 w 19354"/>
              <a:gd name="connsiteY5" fmla="*/ 2834 h 19348"/>
              <a:gd name="connsiteX6" fmla="*/ 0 w 19354"/>
              <a:gd name="connsiteY6" fmla="*/ 9674 h 19348"/>
              <a:gd name="connsiteX7" fmla="*/ 2834 w 19354"/>
              <a:gd name="connsiteY7" fmla="*/ 16515 h 19348"/>
              <a:gd name="connsiteX8" fmla="*/ 9677 w 19354"/>
              <a:gd name="connsiteY8" fmla="*/ 19349 h 1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354" h="19348">
                <a:moveTo>
                  <a:pt x="9677" y="19349"/>
                </a:moveTo>
                <a:cubicBezTo>
                  <a:pt x="12244" y="19349"/>
                  <a:pt x="14705" y="18330"/>
                  <a:pt x="16520" y="16515"/>
                </a:cubicBezTo>
                <a:cubicBezTo>
                  <a:pt x="18335" y="14701"/>
                  <a:pt x="19355" y="12240"/>
                  <a:pt x="19355" y="9674"/>
                </a:cubicBezTo>
                <a:cubicBezTo>
                  <a:pt x="19355" y="7109"/>
                  <a:pt x="18335" y="4648"/>
                  <a:pt x="16520" y="2834"/>
                </a:cubicBezTo>
                <a:cubicBezTo>
                  <a:pt x="14705" y="1019"/>
                  <a:pt x="12244" y="0"/>
                  <a:pt x="9677" y="0"/>
                </a:cubicBezTo>
                <a:cubicBezTo>
                  <a:pt x="7111" y="0"/>
                  <a:pt x="4649" y="1019"/>
                  <a:pt x="2834" y="2834"/>
                </a:cubicBezTo>
                <a:cubicBezTo>
                  <a:pt x="1020" y="4648"/>
                  <a:pt x="0" y="7109"/>
                  <a:pt x="0" y="9674"/>
                </a:cubicBezTo>
                <a:cubicBezTo>
                  <a:pt x="0" y="12240"/>
                  <a:pt x="1020" y="14701"/>
                  <a:pt x="2834" y="16515"/>
                </a:cubicBezTo>
                <a:cubicBezTo>
                  <a:pt x="4649" y="18330"/>
                  <a:pt x="7111" y="19349"/>
                  <a:pt x="9677" y="19349"/>
                </a:cubicBezTo>
                <a:close/>
              </a:path>
            </a:pathLst>
          </a:custGeom>
          <a:solidFill>
            <a:srgbClr val="3A8A69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10" name="Freeform 509">
            <a:extLst>
              <a:ext uri="{FF2B5EF4-FFF2-40B4-BE49-F238E27FC236}">
                <a16:creationId xmlns:a16="http://schemas.microsoft.com/office/drawing/2014/main" id="{0B8F87A9-C97E-C937-0E33-C33AEE8EEC21}"/>
              </a:ext>
            </a:extLst>
          </p:cNvPr>
          <p:cNvSpPr/>
          <p:nvPr/>
        </p:nvSpPr>
        <p:spPr>
          <a:xfrm>
            <a:off x="4174829" y="5537261"/>
            <a:ext cx="19354" cy="19348"/>
          </a:xfrm>
          <a:custGeom>
            <a:avLst/>
            <a:gdLst>
              <a:gd name="connsiteX0" fmla="*/ 9677 w 19354"/>
              <a:gd name="connsiteY0" fmla="*/ 19349 h 19348"/>
              <a:gd name="connsiteX1" fmla="*/ 16520 w 19354"/>
              <a:gd name="connsiteY1" fmla="*/ 16515 h 19348"/>
              <a:gd name="connsiteX2" fmla="*/ 19355 w 19354"/>
              <a:gd name="connsiteY2" fmla="*/ 9674 h 19348"/>
              <a:gd name="connsiteX3" fmla="*/ 16520 w 19354"/>
              <a:gd name="connsiteY3" fmla="*/ 2834 h 19348"/>
              <a:gd name="connsiteX4" fmla="*/ 9677 w 19354"/>
              <a:gd name="connsiteY4" fmla="*/ 0 h 19348"/>
              <a:gd name="connsiteX5" fmla="*/ 2834 w 19354"/>
              <a:gd name="connsiteY5" fmla="*/ 2834 h 19348"/>
              <a:gd name="connsiteX6" fmla="*/ 0 w 19354"/>
              <a:gd name="connsiteY6" fmla="*/ 9674 h 19348"/>
              <a:gd name="connsiteX7" fmla="*/ 2834 w 19354"/>
              <a:gd name="connsiteY7" fmla="*/ 16515 h 19348"/>
              <a:gd name="connsiteX8" fmla="*/ 9677 w 19354"/>
              <a:gd name="connsiteY8" fmla="*/ 19349 h 1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354" h="19348">
                <a:moveTo>
                  <a:pt x="9677" y="19349"/>
                </a:moveTo>
                <a:cubicBezTo>
                  <a:pt x="12244" y="19349"/>
                  <a:pt x="14706" y="18330"/>
                  <a:pt x="16520" y="16515"/>
                </a:cubicBezTo>
                <a:cubicBezTo>
                  <a:pt x="18335" y="14701"/>
                  <a:pt x="19355" y="12240"/>
                  <a:pt x="19355" y="9674"/>
                </a:cubicBezTo>
                <a:cubicBezTo>
                  <a:pt x="19355" y="7108"/>
                  <a:pt x="18335" y="4648"/>
                  <a:pt x="16520" y="2834"/>
                </a:cubicBezTo>
                <a:cubicBezTo>
                  <a:pt x="14706" y="1019"/>
                  <a:pt x="12244" y="0"/>
                  <a:pt x="9677" y="0"/>
                </a:cubicBezTo>
                <a:cubicBezTo>
                  <a:pt x="7111" y="0"/>
                  <a:pt x="4649" y="1019"/>
                  <a:pt x="2834" y="2834"/>
                </a:cubicBezTo>
                <a:cubicBezTo>
                  <a:pt x="1020" y="4648"/>
                  <a:pt x="0" y="7108"/>
                  <a:pt x="0" y="9674"/>
                </a:cubicBezTo>
                <a:cubicBezTo>
                  <a:pt x="0" y="12240"/>
                  <a:pt x="1020" y="14701"/>
                  <a:pt x="2834" y="16515"/>
                </a:cubicBezTo>
                <a:cubicBezTo>
                  <a:pt x="4649" y="18330"/>
                  <a:pt x="7111" y="19349"/>
                  <a:pt x="9677" y="19349"/>
                </a:cubicBezTo>
                <a:close/>
              </a:path>
            </a:pathLst>
          </a:custGeom>
          <a:solidFill>
            <a:srgbClr val="3A8A69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11" name="Freeform 510">
            <a:extLst>
              <a:ext uri="{FF2B5EF4-FFF2-40B4-BE49-F238E27FC236}">
                <a16:creationId xmlns:a16="http://schemas.microsoft.com/office/drawing/2014/main" id="{53078AB1-792A-C09F-BB99-88626DA67168}"/>
              </a:ext>
            </a:extLst>
          </p:cNvPr>
          <p:cNvSpPr/>
          <p:nvPr/>
        </p:nvSpPr>
        <p:spPr>
          <a:xfrm>
            <a:off x="4202102" y="5567167"/>
            <a:ext cx="19354" cy="19349"/>
          </a:xfrm>
          <a:custGeom>
            <a:avLst/>
            <a:gdLst>
              <a:gd name="connsiteX0" fmla="*/ 9677 w 19354"/>
              <a:gd name="connsiteY0" fmla="*/ 19349 h 19349"/>
              <a:gd name="connsiteX1" fmla="*/ 16520 w 19354"/>
              <a:gd name="connsiteY1" fmla="*/ 16516 h 19349"/>
              <a:gd name="connsiteX2" fmla="*/ 19355 w 19354"/>
              <a:gd name="connsiteY2" fmla="*/ 9674 h 19349"/>
              <a:gd name="connsiteX3" fmla="*/ 16520 w 19354"/>
              <a:gd name="connsiteY3" fmla="*/ 2834 h 19349"/>
              <a:gd name="connsiteX4" fmla="*/ 9677 w 19354"/>
              <a:gd name="connsiteY4" fmla="*/ 0 h 19349"/>
              <a:gd name="connsiteX5" fmla="*/ 2834 w 19354"/>
              <a:gd name="connsiteY5" fmla="*/ 2834 h 19349"/>
              <a:gd name="connsiteX6" fmla="*/ 0 w 19354"/>
              <a:gd name="connsiteY6" fmla="*/ 9674 h 19349"/>
              <a:gd name="connsiteX7" fmla="*/ 2834 w 19354"/>
              <a:gd name="connsiteY7" fmla="*/ 16516 h 19349"/>
              <a:gd name="connsiteX8" fmla="*/ 9677 w 19354"/>
              <a:gd name="connsiteY8" fmla="*/ 19349 h 1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354" h="19349">
                <a:moveTo>
                  <a:pt x="9677" y="19349"/>
                </a:moveTo>
                <a:cubicBezTo>
                  <a:pt x="12244" y="19349"/>
                  <a:pt x="14705" y="18330"/>
                  <a:pt x="16520" y="16516"/>
                </a:cubicBezTo>
                <a:cubicBezTo>
                  <a:pt x="18335" y="14701"/>
                  <a:pt x="19355" y="12240"/>
                  <a:pt x="19355" y="9674"/>
                </a:cubicBezTo>
                <a:cubicBezTo>
                  <a:pt x="19355" y="7109"/>
                  <a:pt x="18335" y="4648"/>
                  <a:pt x="16520" y="2834"/>
                </a:cubicBezTo>
                <a:cubicBezTo>
                  <a:pt x="14705" y="1020"/>
                  <a:pt x="12244" y="0"/>
                  <a:pt x="9677" y="0"/>
                </a:cubicBezTo>
                <a:cubicBezTo>
                  <a:pt x="7110" y="0"/>
                  <a:pt x="4649" y="1020"/>
                  <a:pt x="2834" y="2834"/>
                </a:cubicBezTo>
                <a:cubicBezTo>
                  <a:pt x="1020" y="4648"/>
                  <a:pt x="0" y="7109"/>
                  <a:pt x="0" y="9674"/>
                </a:cubicBezTo>
                <a:cubicBezTo>
                  <a:pt x="0" y="12240"/>
                  <a:pt x="1020" y="14701"/>
                  <a:pt x="2834" y="16516"/>
                </a:cubicBezTo>
                <a:cubicBezTo>
                  <a:pt x="4649" y="18330"/>
                  <a:pt x="7110" y="19349"/>
                  <a:pt x="9677" y="19349"/>
                </a:cubicBezTo>
                <a:close/>
              </a:path>
            </a:pathLst>
          </a:custGeom>
          <a:solidFill>
            <a:srgbClr val="3A8A69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12" name="Freeform 511">
            <a:extLst>
              <a:ext uri="{FF2B5EF4-FFF2-40B4-BE49-F238E27FC236}">
                <a16:creationId xmlns:a16="http://schemas.microsoft.com/office/drawing/2014/main" id="{81F1DCA3-6272-A617-A165-714F2881B2A9}"/>
              </a:ext>
            </a:extLst>
          </p:cNvPr>
          <p:cNvSpPr/>
          <p:nvPr/>
        </p:nvSpPr>
        <p:spPr>
          <a:xfrm>
            <a:off x="5250783" y="5557493"/>
            <a:ext cx="35190" cy="15863"/>
          </a:xfrm>
          <a:custGeom>
            <a:avLst/>
            <a:gdLst>
              <a:gd name="connsiteX0" fmla="*/ 0 w 35190"/>
              <a:gd name="connsiteY0" fmla="*/ 0 h 15863"/>
              <a:gd name="connsiteX1" fmla="*/ 35191 w 35190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190" h="15863">
                <a:moveTo>
                  <a:pt x="0" y="0"/>
                </a:moveTo>
                <a:lnTo>
                  <a:pt x="35191" y="0"/>
                </a:lnTo>
              </a:path>
            </a:pathLst>
          </a:custGeom>
          <a:noFill/>
          <a:ln w="10721" cap="rnd">
            <a:solidFill>
              <a:srgbClr val="606A90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13" name="Freeform 512">
            <a:extLst>
              <a:ext uri="{FF2B5EF4-FFF2-40B4-BE49-F238E27FC236}">
                <a16:creationId xmlns:a16="http://schemas.microsoft.com/office/drawing/2014/main" id="{DD0AE231-821D-0A8B-7B64-212415C2B169}"/>
              </a:ext>
            </a:extLst>
          </p:cNvPr>
          <p:cNvSpPr/>
          <p:nvPr/>
        </p:nvSpPr>
        <p:spPr>
          <a:xfrm>
            <a:off x="5250783" y="5580359"/>
            <a:ext cx="35190" cy="15863"/>
          </a:xfrm>
          <a:custGeom>
            <a:avLst/>
            <a:gdLst>
              <a:gd name="connsiteX0" fmla="*/ 0 w 35190"/>
              <a:gd name="connsiteY0" fmla="*/ 0 h 15863"/>
              <a:gd name="connsiteX1" fmla="*/ 35191 w 35190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190" h="15863">
                <a:moveTo>
                  <a:pt x="0" y="0"/>
                </a:moveTo>
                <a:lnTo>
                  <a:pt x="35191" y="0"/>
                </a:lnTo>
              </a:path>
            </a:pathLst>
          </a:custGeom>
          <a:noFill/>
          <a:ln w="10721" cap="rnd">
            <a:solidFill>
              <a:srgbClr val="606A90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14" name="Freeform 513">
            <a:extLst>
              <a:ext uri="{FF2B5EF4-FFF2-40B4-BE49-F238E27FC236}">
                <a16:creationId xmlns:a16="http://schemas.microsoft.com/office/drawing/2014/main" id="{3769E971-9C81-26DF-7BEE-1E27FE22F8FF}"/>
              </a:ext>
            </a:extLst>
          </p:cNvPr>
          <p:cNvSpPr/>
          <p:nvPr/>
        </p:nvSpPr>
        <p:spPr>
          <a:xfrm>
            <a:off x="5250783" y="5603226"/>
            <a:ext cx="22874" cy="15863"/>
          </a:xfrm>
          <a:custGeom>
            <a:avLst/>
            <a:gdLst>
              <a:gd name="connsiteX0" fmla="*/ 0 w 22874"/>
              <a:gd name="connsiteY0" fmla="*/ 0 h 15863"/>
              <a:gd name="connsiteX1" fmla="*/ 22874 w 22874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874" h="15863">
                <a:moveTo>
                  <a:pt x="0" y="0"/>
                </a:moveTo>
                <a:lnTo>
                  <a:pt x="22874" y="0"/>
                </a:lnTo>
              </a:path>
            </a:pathLst>
          </a:custGeom>
          <a:noFill/>
          <a:ln w="10721" cap="rnd">
            <a:solidFill>
              <a:srgbClr val="606A90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0501CEEF-4F28-B708-3908-1BE3625E98D9}"/>
              </a:ext>
            </a:extLst>
          </p:cNvPr>
          <p:cNvSpPr txBox="1"/>
          <p:nvPr/>
        </p:nvSpPr>
        <p:spPr>
          <a:xfrm>
            <a:off x="4008155" y="3897678"/>
            <a:ext cx="35269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Statistical validation and biological ranking</a:t>
            </a:r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D2881308-2831-FE34-178B-891B020B4A81}"/>
              </a:ext>
            </a:extLst>
          </p:cNvPr>
          <p:cNvSpPr txBox="1"/>
          <p:nvPr/>
        </p:nvSpPr>
        <p:spPr>
          <a:xfrm>
            <a:off x="3830434" y="3844895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C</a:t>
            </a:r>
          </a:p>
        </p:txBody>
      </p:sp>
      <p:sp>
        <p:nvSpPr>
          <p:cNvPr id="517" name="TextBox 516">
            <a:extLst>
              <a:ext uri="{FF2B5EF4-FFF2-40B4-BE49-F238E27FC236}">
                <a16:creationId xmlns:a16="http://schemas.microsoft.com/office/drawing/2014/main" id="{3BF26FAD-FCF9-4643-EA12-E3E3285403A5}"/>
              </a:ext>
            </a:extLst>
          </p:cNvPr>
          <p:cNvSpPr txBox="1"/>
          <p:nvPr/>
        </p:nvSpPr>
        <p:spPr>
          <a:xfrm>
            <a:off x="4842905" y="4303233"/>
            <a:ext cx="14251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accent6">
                    <a:lumMod val="75000"/>
                  </a:schemeClr>
                </a:solidFill>
              </a:rPr>
              <a:t>Statistical validation </a:t>
            </a:r>
          </a:p>
        </p:txBody>
      </p:sp>
      <p:cxnSp>
        <p:nvCxnSpPr>
          <p:cNvPr id="518" name="Straight Arrow Connector 517">
            <a:extLst>
              <a:ext uri="{FF2B5EF4-FFF2-40B4-BE49-F238E27FC236}">
                <a16:creationId xmlns:a16="http://schemas.microsoft.com/office/drawing/2014/main" id="{86758A57-0FCB-496C-BA4F-BC13C8C691A4}"/>
              </a:ext>
            </a:extLst>
          </p:cNvPr>
          <p:cNvCxnSpPr>
            <a:cxnSpLocks/>
          </p:cNvCxnSpPr>
          <p:nvPr/>
        </p:nvCxnSpPr>
        <p:spPr>
          <a:xfrm>
            <a:off x="4893761" y="4655303"/>
            <a:ext cx="266306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9" name="Straight Arrow Connector 518">
            <a:extLst>
              <a:ext uri="{FF2B5EF4-FFF2-40B4-BE49-F238E27FC236}">
                <a16:creationId xmlns:a16="http://schemas.microsoft.com/office/drawing/2014/main" id="{217CCDC1-85E6-4BFD-9EA9-354B0C7F8A84}"/>
              </a:ext>
            </a:extLst>
          </p:cNvPr>
          <p:cNvCxnSpPr>
            <a:cxnSpLocks/>
          </p:cNvCxnSpPr>
          <p:nvPr/>
        </p:nvCxnSpPr>
        <p:spPr>
          <a:xfrm>
            <a:off x="6218067" y="4675818"/>
            <a:ext cx="266306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0" name="TextBox 519">
            <a:extLst>
              <a:ext uri="{FF2B5EF4-FFF2-40B4-BE49-F238E27FC236}">
                <a16:creationId xmlns:a16="http://schemas.microsoft.com/office/drawing/2014/main" id="{AEA4AAD4-DFAA-F732-E644-7590D6D4581C}"/>
              </a:ext>
            </a:extLst>
          </p:cNvPr>
          <p:cNvSpPr txBox="1"/>
          <p:nvPr/>
        </p:nvSpPr>
        <p:spPr>
          <a:xfrm>
            <a:off x="4211855" y="4523870"/>
            <a:ext cx="6781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Term matching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303D4647-FD6D-3C28-66DE-D23D2DF7B0E6}"/>
              </a:ext>
            </a:extLst>
          </p:cNvPr>
          <p:cNvSpPr txBox="1"/>
          <p:nvPr/>
        </p:nvSpPr>
        <p:spPr>
          <a:xfrm>
            <a:off x="5487361" y="4484851"/>
            <a:ext cx="678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Formal enrichment test</a:t>
            </a:r>
          </a:p>
        </p:txBody>
      </p:sp>
      <p:sp>
        <p:nvSpPr>
          <p:cNvPr id="522" name="TextBox 521">
            <a:extLst>
              <a:ext uri="{FF2B5EF4-FFF2-40B4-BE49-F238E27FC236}">
                <a16:creationId xmlns:a16="http://schemas.microsoft.com/office/drawing/2014/main" id="{0686965F-4C13-4B44-E39F-0609D6AC13F2}"/>
              </a:ext>
            </a:extLst>
          </p:cNvPr>
          <p:cNvSpPr txBox="1"/>
          <p:nvPr/>
        </p:nvSpPr>
        <p:spPr>
          <a:xfrm>
            <a:off x="6496530" y="4468105"/>
            <a:ext cx="994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Statistically validated hypothesis</a:t>
            </a: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CE0CEFA9-95DF-ACEA-F499-FBCDD3B9BEF2}"/>
              </a:ext>
            </a:extLst>
          </p:cNvPr>
          <p:cNvSpPr txBox="1"/>
          <p:nvPr/>
        </p:nvSpPr>
        <p:spPr>
          <a:xfrm>
            <a:off x="4470388" y="5021507"/>
            <a:ext cx="232533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accent1"/>
                </a:solidFill>
              </a:rPr>
              <a:t>Disease-related biological evidence ranking </a:t>
            </a:r>
          </a:p>
        </p:txBody>
      </p:sp>
      <p:sp>
        <p:nvSpPr>
          <p:cNvPr id="524" name="TextBox 523">
            <a:extLst>
              <a:ext uri="{FF2B5EF4-FFF2-40B4-BE49-F238E27FC236}">
                <a16:creationId xmlns:a16="http://schemas.microsoft.com/office/drawing/2014/main" id="{DF255F26-170F-4E9E-DFC0-B18596A07755}"/>
              </a:ext>
            </a:extLst>
          </p:cNvPr>
          <p:cNvSpPr txBox="1"/>
          <p:nvPr/>
        </p:nvSpPr>
        <p:spPr>
          <a:xfrm>
            <a:off x="4005159" y="5223140"/>
            <a:ext cx="14028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Pathway description </a:t>
            </a:r>
          </a:p>
        </p:txBody>
      </p:sp>
      <p:sp>
        <p:nvSpPr>
          <p:cNvPr id="525" name="TextBox 524">
            <a:extLst>
              <a:ext uri="{FF2B5EF4-FFF2-40B4-BE49-F238E27FC236}">
                <a16:creationId xmlns:a16="http://schemas.microsoft.com/office/drawing/2014/main" id="{42E68901-00C7-3D16-C175-170D07B94C05}"/>
              </a:ext>
            </a:extLst>
          </p:cNvPr>
          <p:cNvSpPr txBox="1"/>
          <p:nvPr/>
        </p:nvSpPr>
        <p:spPr>
          <a:xfrm>
            <a:off x="5251265" y="5216019"/>
            <a:ext cx="9895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Disease pathology</a:t>
            </a:r>
          </a:p>
        </p:txBody>
      </p:sp>
      <p:sp>
        <p:nvSpPr>
          <p:cNvPr id="526" name="TextBox 525">
            <a:extLst>
              <a:ext uri="{FF2B5EF4-FFF2-40B4-BE49-F238E27FC236}">
                <a16:creationId xmlns:a16="http://schemas.microsoft.com/office/drawing/2014/main" id="{D2033035-861F-F344-3E85-040E3AA62F4B}"/>
              </a:ext>
            </a:extLst>
          </p:cNvPr>
          <p:cNvSpPr txBox="1"/>
          <p:nvPr/>
        </p:nvSpPr>
        <p:spPr>
          <a:xfrm>
            <a:off x="6357083" y="5221848"/>
            <a:ext cx="9895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Intersection genes</a:t>
            </a:r>
          </a:p>
        </p:txBody>
      </p:sp>
      <p:sp>
        <p:nvSpPr>
          <p:cNvPr id="527" name="TextBox 526">
            <a:extLst>
              <a:ext uri="{FF2B5EF4-FFF2-40B4-BE49-F238E27FC236}">
                <a16:creationId xmlns:a16="http://schemas.microsoft.com/office/drawing/2014/main" id="{1E161196-F4F4-C191-8F95-FD5708D678A5}"/>
              </a:ext>
            </a:extLst>
          </p:cNvPr>
          <p:cNvSpPr txBox="1"/>
          <p:nvPr/>
        </p:nvSpPr>
        <p:spPr>
          <a:xfrm>
            <a:off x="4129497" y="5457755"/>
            <a:ext cx="11676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Enrichment strength</a:t>
            </a:r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64407D96-09C8-07FA-F888-5EC6AD39C30B}"/>
              </a:ext>
            </a:extLst>
          </p:cNvPr>
          <p:cNvSpPr txBox="1"/>
          <p:nvPr/>
        </p:nvSpPr>
        <p:spPr>
          <a:xfrm>
            <a:off x="5180231" y="5471019"/>
            <a:ext cx="11676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Literature </a:t>
            </a:r>
          </a:p>
        </p:txBody>
      </p:sp>
      <p:sp>
        <p:nvSpPr>
          <p:cNvPr id="529" name="TextBox 528">
            <a:extLst>
              <a:ext uri="{FF2B5EF4-FFF2-40B4-BE49-F238E27FC236}">
                <a16:creationId xmlns:a16="http://schemas.microsoft.com/office/drawing/2014/main" id="{91A42D1C-8737-3FFB-5E0D-4AFDBB62038F}"/>
              </a:ext>
            </a:extLst>
          </p:cNvPr>
          <p:cNvSpPr txBox="1"/>
          <p:nvPr/>
        </p:nvSpPr>
        <p:spPr>
          <a:xfrm>
            <a:off x="4686479" y="5822422"/>
            <a:ext cx="189181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accent4">
                    <a:lumMod val="75000"/>
                  </a:schemeClr>
                </a:solidFill>
              </a:rPr>
              <a:t>Validated and ranked pathways </a:t>
            </a:r>
          </a:p>
        </p:txBody>
      </p:sp>
      <p:sp>
        <p:nvSpPr>
          <p:cNvPr id="530" name="Freeform 529">
            <a:extLst>
              <a:ext uri="{FF2B5EF4-FFF2-40B4-BE49-F238E27FC236}">
                <a16:creationId xmlns:a16="http://schemas.microsoft.com/office/drawing/2014/main" id="{FC5E0ED9-7F29-D9BC-F420-079624A80634}"/>
              </a:ext>
            </a:extLst>
          </p:cNvPr>
          <p:cNvSpPr/>
          <p:nvPr/>
        </p:nvSpPr>
        <p:spPr>
          <a:xfrm>
            <a:off x="3793419" y="3840038"/>
            <a:ext cx="3698536" cy="2219840"/>
          </a:xfrm>
          <a:custGeom>
            <a:avLst/>
            <a:gdLst>
              <a:gd name="connsiteX0" fmla="*/ 8798 w 3698536"/>
              <a:gd name="connsiteY0" fmla="*/ 2219841 h 2219840"/>
              <a:gd name="connsiteX1" fmla="*/ 3689739 w 3698536"/>
              <a:gd name="connsiteY1" fmla="*/ 2219841 h 2219840"/>
              <a:gd name="connsiteX2" fmla="*/ 3698536 w 3698536"/>
              <a:gd name="connsiteY2" fmla="*/ 2211046 h 2219840"/>
              <a:gd name="connsiteX3" fmla="*/ 3698536 w 3698536"/>
              <a:gd name="connsiteY3" fmla="*/ 8795 h 2219840"/>
              <a:gd name="connsiteX4" fmla="*/ 3689739 w 3698536"/>
              <a:gd name="connsiteY4" fmla="*/ 0 h 2219840"/>
              <a:gd name="connsiteX5" fmla="*/ 8798 w 3698536"/>
              <a:gd name="connsiteY5" fmla="*/ 0 h 2219840"/>
              <a:gd name="connsiteX6" fmla="*/ 0 w 3698536"/>
              <a:gd name="connsiteY6" fmla="*/ 8795 h 2219840"/>
              <a:gd name="connsiteX7" fmla="*/ 0 w 3698536"/>
              <a:gd name="connsiteY7" fmla="*/ 2211046 h 2219840"/>
              <a:gd name="connsiteX8" fmla="*/ 8798 w 3698536"/>
              <a:gd name="connsiteY8" fmla="*/ 2219841 h 2219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98536" h="2219840">
                <a:moveTo>
                  <a:pt x="8798" y="2219841"/>
                </a:moveTo>
                <a:lnTo>
                  <a:pt x="3689739" y="2219841"/>
                </a:lnTo>
                <a:cubicBezTo>
                  <a:pt x="3695604" y="2219841"/>
                  <a:pt x="3698536" y="2216909"/>
                  <a:pt x="3698536" y="2211046"/>
                </a:cubicBezTo>
                <a:lnTo>
                  <a:pt x="3698536" y="8795"/>
                </a:lnTo>
                <a:cubicBezTo>
                  <a:pt x="3698536" y="2932"/>
                  <a:pt x="3695604" y="0"/>
                  <a:pt x="3689739" y="0"/>
                </a:cubicBezTo>
                <a:lnTo>
                  <a:pt x="8798" y="0"/>
                </a:lnTo>
                <a:cubicBezTo>
                  <a:pt x="2933" y="0"/>
                  <a:pt x="0" y="2932"/>
                  <a:pt x="0" y="8795"/>
                </a:cubicBezTo>
                <a:lnTo>
                  <a:pt x="0" y="2211046"/>
                </a:lnTo>
                <a:cubicBezTo>
                  <a:pt x="0" y="2216909"/>
                  <a:pt x="2933" y="2219841"/>
                  <a:pt x="8798" y="2219841"/>
                </a:cubicBezTo>
                <a:close/>
              </a:path>
            </a:pathLst>
          </a:custGeom>
          <a:noFill/>
          <a:ln w="7883" cap="flat">
            <a:solidFill>
              <a:srgbClr val="5A5A5A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31" name="Freeform 530">
            <a:extLst>
              <a:ext uri="{FF2B5EF4-FFF2-40B4-BE49-F238E27FC236}">
                <a16:creationId xmlns:a16="http://schemas.microsoft.com/office/drawing/2014/main" id="{81D2C4A0-00A5-23EC-A460-9CD3C50F0C88}"/>
              </a:ext>
            </a:extLst>
          </p:cNvPr>
          <p:cNvSpPr/>
          <p:nvPr/>
        </p:nvSpPr>
        <p:spPr>
          <a:xfrm>
            <a:off x="7807183" y="3841354"/>
            <a:ext cx="3355427" cy="2219840"/>
          </a:xfrm>
          <a:custGeom>
            <a:avLst/>
            <a:gdLst>
              <a:gd name="connsiteX0" fmla="*/ 8797 w 3355427"/>
              <a:gd name="connsiteY0" fmla="*/ 2219841 h 2219840"/>
              <a:gd name="connsiteX1" fmla="*/ 3346630 w 3355427"/>
              <a:gd name="connsiteY1" fmla="*/ 2219841 h 2219840"/>
              <a:gd name="connsiteX2" fmla="*/ 3355427 w 3355427"/>
              <a:gd name="connsiteY2" fmla="*/ 2211046 h 2219840"/>
              <a:gd name="connsiteX3" fmla="*/ 3355427 w 3355427"/>
              <a:gd name="connsiteY3" fmla="*/ 8795 h 2219840"/>
              <a:gd name="connsiteX4" fmla="*/ 3346630 w 3355427"/>
              <a:gd name="connsiteY4" fmla="*/ 0 h 2219840"/>
              <a:gd name="connsiteX5" fmla="*/ 8797 w 3355427"/>
              <a:gd name="connsiteY5" fmla="*/ 0 h 2219840"/>
              <a:gd name="connsiteX6" fmla="*/ 0 w 3355427"/>
              <a:gd name="connsiteY6" fmla="*/ 8795 h 2219840"/>
              <a:gd name="connsiteX7" fmla="*/ 0 w 3355427"/>
              <a:gd name="connsiteY7" fmla="*/ 2211046 h 2219840"/>
              <a:gd name="connsiteX8" fmla="*/ 8797 w 3355427"/>
              <a:gd name="connsiteY8" fmla="*/ 2219841 h 2219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55427" h="2219840">
                <a:moveTo>
                  <a:pt x="8797" y="2219841"/>
                </a:moveTo>
                <a:lnTo>
                  <a:pt x="3346630" y="2219841"/>
                </a:lnTo>
                <a:cubicBezTo>
                  <a:pt x="3352495" y="2219841"/>
                  <a:pt x="3355427" y="2216909"/>
                  <a:pt x="3355427" y="2211046"/>
                </a:cubicBezTo>
                <a:lnTo>
                  <a:pt x="3355427" y="8795"/>
                </a:lnTo>
                <a:cubicBezTo>
                  <a:pt x="3355427" y="2932"/>
                  <a:pt x="3352495" y="0"/>
                  <a:pt x="3346630" y="0"/>
                </a:cubicBezTo>
                <a:lnTo>
                  <a:pt x="8797" y="0"/>
                </a:lnTo>
                <a:cubicBezTo>
                  <a:pt x="2933" y="0"/>
                  <a:pt x="0" y="2932"/>
                  <a:pt x="0" y="8795"/>
                </a:cubicBezTo>
                <a:lnTo>
                  <a:pt x="0" y="2211046"/>
                </a:lnTo>
                <a:cubicBezTo>
                  <a:pt x="0" y="2216909"/>
                  <a:pt x="2933" y="2219841"/>
                  <a:pt x="8797" y="2219841"/>
                </a:cubicBezTo>
                <a:close/>
              </a:path>
            </a:pathLst>
          </a:custGeom>
          <a:noFill/>
          <a:ln w="7883" cap="flat">
            <a:solidFill>
              <a:srgbClr val="5A5A5A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32" name="Freeform 531">
            <a:extLst>
              <a:ext uri="{FF2B5EF4-FFF2-40B4-BE49-F238E27FC236}">
                <a16:creationId xmlns:a16="http://schemas.microsoft.com/office/drawing/2014/main" id="{2E8A2983-6600-379B-30F3-39D8BDBB292C}"/>
              </a:ext>
            </a:extLst>
          </p:cNvPr>
          <p:cNvSpPr/>
          <p:nvPr/>
        </p:nvSpPr>
        <p:spPr>
          <a:xfrm>
            <a:off x="8019230" y="4372453"/>
            <a:ext cx="2968329" cy="654342"/>
          </a:xfrm>
          <a:custGeom>
            <a:avLst/>
            <a:gdLst>
              <a:gd name="connsiteX0" fmla="*/ 8797 w 2968329"/>
              <a:gd name="connsiteY0" fmla="*/ 654343 h 654342"/>
              <a:gd name="connsiteX1" fmla="*/ 2959533 w 2968329"/>
              <a:gd name="connsiteY1" fmla="*/ 654343 h 654342"/>
              <a:gd name="connsiteX2" fmla="*/ 2968330 w 2968329"/>
              <a:gd name="connsiteY2" fmla="*/ 645548 h 654342"/>
              <a:gd name="connsiteX3" fmla="*/ 2968330 w 2968329"/>
              <a:gd name="connsiteY3" fmla="*/ 8795 h 654342"/>
              <a:gd name="connsiteX4" fmla="*/ 2959533 w 2968329"/>
              <a:gd name="connsiteY4" fmla="*/ 0 h 654342"/>
              <a:gd name="connsiteX5" fmla="*/ 8797 w 2968329"/>
              <a:gd name="connsiteY5" fmla="*/ 0 h 654342"/>
              <a:gd name="connsiteX6" fmla="*/ 0 w 2968329"/>
              <a:gd name="connsiteY6" fmla="*/ 8795 h 654342"/>
              <a:gd name="connsiteX7" fmla="*/ 0 w 2968329"/>
              <a:gd name="connsiteY7" fmla="*/ 645548 h 654342"/>
              <a:gd name="connsiteX8" fmla="*/ 8797 w 2968329"/>
              <a:gd name="connsiteY8" fmla="*/ 654343 h 654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68329" h="654342">
                <a:moveTo>
                  <a:pt x="8797" y="654343"/>
                </a:moveTo>
                <a:lnTo>
                  <a:pt x="2959533" y="654343"/>
                </a:lnTo>
                <a:cubicBezTo>
                  <a:pt x="2965398" y="654343"/>
                  <a:pt x="2968330" y="651411"/>
                  <a:pt x="2968330" y="645548"/>
                </a:cubicBezTo>
                <a:lnTo>
                  <a:pt x="2968330" y="8795"/>
                </a:lnTo>
                <a:cubicBezTo>
                  <a:pt x="2968330" y="2932"/>
                  <a:pt x="2965398" y="0"/>
                  <a:pt x="2959533" y="0"/>
                </a:cubicBezTo>
                <a:lnTo>
                  <a:pt x="8797" y="0"/>
                </a:lnTo>
                <a:cubicBezTo>
                  <a:pt x="2933" y="0"/>
                  <a:pt x="0" y="2932"/>
                  <a:pt x="0" y="8795"/>
                </a:cubicBezTo>
                <a:lnTo>
                  <a:pt x="0" y="645548"/>
                </a:lnTo>
                <a:cubicBezTo>
                  <a:pt x="0" y="651411"/>
                  <a:pt x="2933" y="654343"/>
                  <a:pt x="8797" y="654343"/>
                </a:cubicBezTo>
                <a:close/>
              </a:path>
            </a:pathLst>
          </a:custGeom>
          <a:solidFill>
            <a:srgbClr val="F4F5FA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33" name="Freeform 532">
            <a:extLst>
              <a:ext uri="{FF2B5EF4-FFF2-40B4-BE49-F238E27FC236}">
                <a16:creationId xmlns:a16="http://schemas.microsoft.com/office/drawing/2014/main" id="{5E7C5FCB-E703-30A1-4B44-2E5E4749BAF0}"/>
              </a:ext>
            </a:extLst>
          </p:cNvPr>
          <p:cNvSpPr/>
          <p:nvPr/>
        </p:nvSpPr>
        <p:spPr>
          <a:xfrm>
            <a:off x="8044441" y="5090550"/>
            <a:ext cx="2968329" cy="619162"/>
          </a:xfrm>
          <a:custGeom>
            <a:avLst/>
            <a:gdLst>
              <a:gd name="connsiteX0" fmla="*/ 8797 w 2968329"/>
              <a:gd name="connsiteY0" fmla="*/ 619163 h 619162"/>
              <a:gd name="connsiteX1" fmla="*/ 2959533 w 2968329"/>
              <a:gd name="connsiteY1" fmla="*/ 619163 h 619162"/>
              <a:gd name="connsiteX2" fmla="*/ 2968330 w 2968329"/>
              <a:gd name="connsiteY2" fmla="*/ 610368 h 619162"/>
              <a:gd name="connsiteX3" fmla="*/ 2968330 w 2968329"/>
              <a:gd name="connsiteY3" fmla="*/ 8795 h 619162"/>
              <a:gd name="connsiteX4" fmla="*/ 2959533 w 2968329"/>
              <a:gd name="connsiteY4" fmla="*/ 0 h 619162"/>
              <a:gd name="connsiteX5" fmla="*/ 8797 w 2968329"/>
              <a:gd name="connsiteY5" fmla="*/ 0 h 619162"/>
              <a:gd name="connsiteX6" fmla="*/ 0 w 2968329"/>
              <a:gd name="connsiteY6" fmla="*/ 8795 h 619162"/>
              <a:gd name="connsiteX7" fmla="*/ 0 w 2968329"/>
              <a:gd name="connsiteY7" fmla="*/ 610368 h 619162"/>
              <a:gd name="connsiteX8" fmla="*/ 8797 w 2968329"/>
              <a:gd name="connsiteY8" fmla="*/ 619163 h 619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68329" h="619162">
                <a:moveTo>
                  <a:pt x="8797" y="619163"/>
                </a:moveTo>
                <a:lnTo>
                  <a:pt x="2959533" y="619163"/>
                </a:lnTo>
                <a:cubicBezTo>
                  <a:pt x="2965398" y="619163"/>
                  <a:pt x="2968330" y="616232"/>
                  <a:pt x="2968330" y="610368"/>
                </a:cubicBezTo>
                <a:lnTo>
                  <a:pt x="2968330" y="8795"/>
                </a:lnTo>
                <a:cubicBezTo>
                  <a:pt x="2968330" y="2932"/>
                  <a:pt x="2965398" y="0"/>
                  <a:pt x="2959533" y="0"/>
                </a:cubicBezTo>
                <a:lnTo>
                  <a:pt x="8797" y="0"/>
                </a:lnTo>
                <a:cubicBezTo>
                  <a:pt x="2933" y="0"/>
                  <a:pt x="0" y="2932"/>
                  <a:pt x="0" y="8795"/>
                </a:cubicBezTo>
                <a:lnTo>
                  <a:pt x="0" y="610368"/>
                </a:lnTo>
                <a:cubicBezTo>
                  <a:pt x="0" y="616232"/>
                  <a:pt x="2933" y="619163"/>
                  <a:pt x="8797" y="619163"/>
                </a:cubicBezTo>
                <a:close/>
              </a:path>
            </a:pathLst>
          </a:custGeom>
          <a:solidFill>
            <a:srgbClr val="F6F7F9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34" name="Freeform 533">
            <a:extLst>
              <a:ext uri="{FF2B5EF4-FFF2-40B4-BE49-F238E27FC236}">
                <a16:creationId xmlns:a16="http://schemas.microsoft.com/office/drawing/2014/main" id="{1CA20F04-4DC3-6D48-1DF9-721382915405}"/>
              </a:ext>
            </a:extLst>
          </p:cNvPr>
          <p:cNvSpPr/>
          <p:nvPr/>
        </p:nvSpPr>
        <p:spPr>
          <a:xfrm>
            <a:off x="7817740" y="4274067"/>
            <a:ext cx="3334313" cy="15863"/>
          </a:xfrm>
          <a:custGeom>
            <a:avLst/>
            <a:gdLst>
              <a:gd name="connsiteX0" fmla="*/ 0 w 3334313"/>
              <a:gd name="connsiteY0" fmla="*/ 0 h 15863"/>
              <a:gd name="connsiteX1" fmla="*/ 3334314 w 3334313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334313" h="15863">
                <a:moveTo>
                  <a:pt x="0" y="0"/>
                </a:moveTo>
                <a:lnTo>
                  <a:pt x="3334314" y="0"/>
                </a:lnTo>
              </a:path>
            </a:pathLst>
          </a:custGeom>
          <a:noFill/>
          <a:ln w="7095" cap="sq">
            <a:solidFill>
              <a:srgbClr val="5A5A5A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36" name="Freeform 535">
            <a:extLst>
              <a:ext uri="{FF2B5EF4-FFF2-40B4-BE49-F238E27FC236}">
                <a16:creationId xmlns:a16="http://schemas.microsoft.com/office/drawing/2014/main" id="{5A342F9D-99F5-4E6F-6099-1322F8BCC915}"/>
              </a:ext>
            </a:extLst>
          </p:cNvPr>
          <p:cNvSpPr/>
          <p:nvPr/>
        </p:nvSpPr>
        <p:spPr>
          <a:xfrm>
            <a:off x="8807278" y="4580855"/>
            <a:ext cx="329032" cy="381699"/>
          </a:xfrm>
          <a:custGeom>
            <a:avLst/>
            <a:gdLst>
              <a:gd name="connsiteX0" fmla="*/ 43988 w 329032"/>
              <a:gd name="connsiteY0" fmla="*/ 381700 h 381699"/>
              <a:gd name="connsiteX1" fmla="*/ 285044 w 329032"/>
              <a:gd name="connsiteY1" fmla="*/ 381700 h 381699"/>
              <a:gd name="connsiteX2" fmla="*/ 329033 w 329032"/>
              <a:gd name="connsiteY2" fmla="*/ 337725 h 381699"/>
              <a:gd name="connsiteX3" fmla="*/ 329033 w 329032"/>
              <a:gd name="connsiteY3" fmla="*/ 43975 h 381699"/>
              <a:gd name="connsiteX4" fmla="*/ 285044 w 329032"/>
              <a:gd name="connsiteY4" fmla="*/ 0 h 381699"/>
              <a:gd name="connsiteX5" fmla="*/ 43988 w 329032"/>
              <a:gd name="connsiteY5" fmla="*/ 0 h 381699"/>
              <a:gd name="connsiteX6" fmla="*/ 0 w 329032"/>
              <a:gd name="connsiteY6" fmla="*/ 43975 h 381699"/>
              <a:gd name="connsiteX7" fmla="*/ 0 w 329032"/>
              <a:gd name="connsiteY7" fmla="*/ 337725 h 381699"/>
              <a:gd name="connsiteX8" fmla="*/ 43988 w 329032"/>
              <a:gd name="connsiteY8" fmla="*/ 381700 h 381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9032" h="381699">
                <a:moveTo>
                  <a:pt x="43988" y="381700"/>
                </a:moveTo>
                <a:lnTo>
                  <a:pt x="285044" y="381700"/>
                </a:lnTo>
                <a:cubicBezTo>
                  <a:pt x="314369" y="381700"/>
                  <a:pt x="329033" y="367042"/>
                  <a:pt x="329033" y="337725"/>
                </a:cubicBezTo>
                <a:lnTo>
                  <a:pt x="329033" y="43975"/>
                </a:lnTo>
                <a:cubicBezTo>
                  <a:pt x="329033" y="14658"/>
                  <a:pt x="314370" y="0"/>
                  <a:pt x="285044" y="0"/>
                </a:cubicBezTo>
                <a:lnTo>
                  <a:pt x="43988" y="0"/>
                </a:lnTo>
                <a:cubicBezTo>
                  <a:pt x="14663" y="0"/>
                  <a:pt x="0" y="14658"/>
                  <a:pt x="0" y="43975"/>
                </a:cubicBezTo>
                <a:lnTo>
                  <a:pt x="0" y="337725"/>
                </a:lnTo>
                <a:cubicBezTo>
                  <a:pt x="0" y="367042"/>
                  <a:pt x="14663" y="381700"/>
                  <a:pt x="43988" y="381700"/>
                </a:cubicBezTo>
                <a:close/>
              </a:path>
            </a:pathLst>
          </a:custGeom>
          <a:solidFill>
            <a:srgbClr val="FFFFFF"/>
          </a:solidFill>
          <a:ln w="18920" cap="flat">
            <a:solidFill>
              <a:srgbClr val="606A90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38" name="Freeform 537">
            <a:extLst>
              <a:ext uri="{FF2B5EF4-FFF2-40B4-BE49-F238E27FC236}">
                <a16:creationId xmlns:a16="http://schemas.microsoft.com/office/drawing/2014/main" id="{6EE8C3B4-4A45-7A5B-B72F-5622D2D4787A}"/>
              </a:ext>
            </a:extLst>
          </p:cNvPr>
          <p:cNvSpPr/>
          <p:nvPr/>
        </p:nvSpPr>
        <p:spPr>
          <a:xfrm>
            <a:off x="9703680" y="4607284"/>
            <a:ext cx="167155" cy="167103"/>
          </a:xfrm>
          <a:custGeom>
            <a:avLst/>
            <a:gdLst>
              <a:gd name="connsiteX0" fmla="*/ 83577 w 167155"/>
              <a:gd name="connsiteY0" fmla="*/ 167104 h 167103"/>
              <a:gd name="connsiteX1" fmla="*/ 142675 w 167155"/>
              <a:gd name="connsiteY1" fmla="*/ 142632 h 167103"/>
              <a:gd name="connsiteX2" fmla="*/ 167155 w 167155"/>
              <a:gd name="connsiteY2" fmla="*/ 83552 h 167103"/>
              <a:gd name="connsiteX3" fmla="*/ 142675 w 167155"/>
              <a:gd name="connsiteY3" fmla="*/ 24472 h 167103"/>
              <a:gd name="connsiteX4" fmla="*/ 83577 w 167155"/>
              <a:gd name="connsiteY4" fmla="*/ 0 h 167103"/>
              <a:gd name="connsiteX5" fmla="*/ 24479 w 167155"/>
              <a:gd name="connsiteY5" fmla="*/ 24472 h 167103"/>
              <a:gd name="connsiteX6" fmla="*/ 0 w 167155"/>
              <a:gd name="connsiteY6" fmla="*/ 83552 h 167103"/>
              <a:gd name="connsiteX7" fmla="*/ 24479 w 167155"/>
              <a:gd name="connsiteY7" fmla="*/ 142632 h 167103"/>
              <a:gd name="connsiteX8" fmla="*/ 83577 w 167155"/>
              <a:gd name="connsiteY8" fmla="*/ 167104 h 167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7155" h="167103">
                <a:moveTo>
                  <a:pt x="83577" y="167104"/>
                </a:moveTo>
                <a:cubicBezTo>
                  <a:pt x="105742" y="167104"/>
                  <a:pt x="127002" y="158300"/>
                  <a:pt x="142675" y="142632"/>
                </a:cubicBezTo>
                <a:cubicBezTo>
                  <a:pt x="158348" y="126964"/>
                  <a:pt x="167155" y="105710"/>
                  <a:pt x="167155" y="83552"/>
                </a:cubicBezTo>
                <a:cubicBezTo>
                  <a:pt x="167155" y="61394"/>
                  <a:pt x="158348" y="40140"/>
                  <a:pt x="142675" y="24472"/>
                </a:cubicBezTo>
                <a:cubicBezTo>
                  <a:pt x="127002" y="8804"/>
                  <a:pt x="105742" y="0"/>
                  <a:pt x="83577" y="0"/>
                </a:cubicBezTo>
                <a:cubicBezTo>
                  <a:pt x="61412" y="0"/>
                  <a:pt x="40152" y="8804"/>
                  <a:pt x="24479" y="24472"/>
                </a:cubicBezTo>
                <a:cubicBezTo>
                  <a:pt x="8806" y="40140"/>
                  <a:pt x="0" y="61394"/>
                  <a:pt x="0" y="83552"/>
                </a:cubicBezTo>
                <a:cubicBezTo>
                  <a:pt x="0" y="105710"/>
                  <a:pt x="8806" y="126964"/>
                  <a:pt x="24479" y="142632"/>
                </a:cubicBezTo>
                <a:cubicBezTo>
                  <a:pt x="40152" y="158300"/>
                  <a:pt x="61412" y="167104"/>
                  <a:pt x="83577" y="167104"/>
                </a:cubicBezTo>
                <a:close/>
              </a:path>
            </a:pathLst>
          </a:custGeom>
          <a:solidFill>
            <a:srgbClr val="F0F2F7"/>
          </a:solidFill>
          <a:ln w="17343" cap="flat">
            <a:solidFill>
              <a:srgbClr val="C58A2C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39" name="Freeform 538">
            <a:extLst>
              <a:ext uri="{FF2B5EF4-FFF2-40B4-BE49-F238E27FC236}">
                <a16:creationId xmlns:a16="http://schemas.microsoft.com/office/drawing/2014/main" id="{FEA928B0-7146-5052-26BE-3950E3D2DCF6}"/>
              </a:ext>
            </a:extLst>
          </p:cNvPr>
          <p:cNvSpPr/>
          <p:nvPr/>
        </p:nvSpPr>
        <p:spPr>
          <a:xfrm>
            <a:off x="9941217" y="4607284"/>
            <a:ext cx="167155" cy="167103"/>
          </a:xfrm>
          <a:custGeom>
            <a:avLst/>
            <a:gdLst>
              <a:gd name="connsiteX0" fmla="*/ 83577 w 167155"/>
              <a:gd name="connsiteY0" fmla="*/ 167104 h 167103"/>
              <a:gd name="connsiteX1" fmla="*/ 142676 w 167155"/>
              <a:gd name="connsiteY1" fmla="*/ 142632 h 167103"/>
              <a:gd name="connsiteX2" fmla="*/ 167155 w 167155"/>
              <a:gd name="connsiteY2" fmla="*/ 83552 h 167103"/>
              <a:gd name="connsiteX3" fmla="*/ 142676 w 167155"/>
              <a:gd name="connsiteY3" fmla="*/ 24472 h 167103"/>
              <a:gd name="connsiteX4" fmla="*/ 83577 w 167155"/>
              <a:gd name="connsiteY4" fmla="*/ 0 h 167103"/>
              <a:gd name="connsiteX5" fmla="*/ 24479 w 167155"/>
              <a:gd name="connsiteY5" fmla="*/ 24472 h 167103"/>
              <a:gd name="connsiteX6" fmla="*/ 0 w 167155"/>
              <a:gd name="connsiteY6" fmla="*/ 83552 h 167103"/>
              <a:gd name="connsiteX7" fmla="*/ 24479 w 167155"/>
              <a:gd name="connsiteY7" fmla="*/ 142632 h 167103"/>
              <a:gd name="connsiteX8" fmla="*/ 83577 w 167155"/>
              <a:gd name="connsiteY8" fmla="*/ 167104 h 167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7155" h="167103">
                <a:moveTo>
                  <a:pt x="83577" y="167104"/>
                </a:moveTo>
                <a:cubicBezTo>
                  <a:pt x="105743" y="167104"/>
                  <a:pt x="127003" y="158300"/>
                  <a:pt x="142676" y="142632"/>
                </a:cubicBezTo>
                <a:cubicBezTo>
                  <a:pt x="158349" y="126964"/>
                  <a:pt x="167155" y="105710"/>
                  <a:pt x="167155" y="83552"/>
                </a:cubicBezTo>
                <a:cubicBezTo>
                  <a:pt x="167155" y="61394"/>
                  <a:pt x="158349" y="40140"/>
                  <a:pt x="142676" y="24472"/>
                </a:cubicBezTo>
                <a:cubicBezTo>
                  <a:pt x="127003" y="8804"/>
                  <a:pt x="105743" y="0"/>
                  <a:pt x="83577" y="0"/>
                </a:cubicBezTo>
                <a:cubicBezTo>
                  <a:pt x="61412" y="0"/>
                  <a:pt x="40152" y="8804"/>
                  <a:pt x="24479" y="24472"/>
                </a:cubicBezTo>
                <a:cubicBezTo>
                  <a:pt x="8806" y="40140"/>
                  <a:pt x="0" y="61394"/>
                  <a:pt x="0" y="83552"/>
                </a:cubicBezTo>
                <a:cubicBezTo>
                  <a:pt x="0" y="105710"/>
                  <a:pt x="8806" y="126964"/>
                  <a:pt x="24479" y="142632"/>
                </a:cubicBezTo>
                <a:cubicBezTo>
                  <a:pt x="40152" y="158300"/>
                  <a:pt x="61412" y="167104"/>
                  <a:pt x="83577" y="167104"/>
                </a:cubicBezTo>
                <a:close/>
              </a:path>
            </a:pathLst>
          </a:custGeom>
          <a:solidFill>
            <a:srgbClr val="F0F2F7"/>
          </a:solidFill>
          <a:ln w="17343" cap="flat">
            <a:solidFill>
              <a:srgbClr val="C58A2C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40" name="Freeform 539">
            <a:extLst>
              <a:ext uri="{FF2B5EF4-FFF2-40B4-BE49-F238E27FC236}">
                <a16:creationId xmlns:a16="http://schemas.microsoft.com/office/drawing/2014/main" id="{5689725D-A088-AAAF-6A02-1EE78E451F61}"/>
              </a:ext>
            </a:extLst>
          </p:cNvPr>
          <p:cNvSpPr/>
          <p:nvPr/>
        </p:nvSpPr>
        <p:spPr>
          <a:xfrm>
            <a:off x="9822448" y="4783183"/>
            <a:ext cx="167155" cy="167103"/>
          </a:xfrm>
          <a:custGeom>
            <a:avLst/>
            <a:gdLst>
              <a:gd name="connsiteX0" fmla="*/ 83578 w 167155"/>
              <a:gd name="connsiteY0" fmla="*/ 167104 h 167103"/>
              <a:gd name="connsiteX1" fmla="*/ 142676 w 167155"/>
              <a:gd name="connsiteY1" fmla="*/ 142632 h 167103"/>
              <a:gd name="connsiteX2" fmla="*/ 167155 w 167155"/>
              <a:gd name="connsiteY2" fmla="*/ 83552 h 167103"/>
              <a:gd name="connsiteX3" fmla="*/ 142676 w 167155"/>
              <a:gd name="connsiteY3" fmla="*/ 24472 h 167103"/>
              <a:gd name="connsiteX4" fmla="*/ 83578 w 167155"/>
              <a:gd name="connsiteY4" fmla="*/ 0 h 167103"/>
              <a:gd name="connsiteX5" fmla="*/ 24479 w 167155"/>
              <a:gd name="connsiteY5" fmla="*/ 24472 h 167103"/>
              <a:gd name="connsiteX6" fmla="*/ 0 w 167155"/>
              <a:gd name="connsiteY6" fmla="*/ 83552 h 167103"/>
              <a:gd name="connsiteX7" fmla="*/ 24479 w 167155"/>
              <a:gd name="connsiteY7" fmla="*/ 142632 h 167103"/>
              <a:gd name="connsiteX8" fmla="*/ 83578 w 167155"/>
              <a:gd name="connsiteY8" fmla="*/ 167104 h 167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7155" h="167103">
                <a:moveTo>
                  <a:pt x="83578" y="167104"/>
                </a:moveTo>
                <a:cubicBezTo>
                  <a:pt x="105743" y="167104"/>
                  <a:pt x="127003" y="158300"/>
                  <a:pt x="142676" y="142632"/>
                </a:cubicBezTo>
                <a:cubicBezTo>
                  <a:pt x="158349" y="126964"/>
                  <a:pt x="167155" y="105710"/>
                  <a:pt x="167155" y="83552"/>
                </a:cubicBezTo>
                <a:cubicBezTo>
                  <a:pt x="167155" y="61394"/>
                  <a:pt x="158349" y="40140"/>
                  <a:pt x="142676" y="24472"/>
                </a:cubicBezTo>
                <a:cubicBezTo>
                  <a:pt x="127003" y="8804"/>
                  <a:pt x="105743" y="0"/>
                  <a:pt x="83578" y="0"/>
                </a:cubicBezTo>
                <a:cubicBezTo>
                  <a:pt x="61412" y="0"/>
                  <a:pt x="40152" y="8804"/>
                  <a:pt x="24479" y="24472"/>
                </a:cubicBezTo>
                <a:cubicBezTo>
                  <a:pt x="8806" y="40140"/>
                  <a:pt x="0" y="61394"/>
                  <a:pt x="0" y="83552"/>
                </a:cubicBezTo>
                <a:cubicBezTo>
                  <a:pt x="0" y="105710"/>
                  <a:pt x="8806" y="126964"/>
                  <a:pt x="24479" y="142632"/>
                </a:cubicBezTo>
                <a:cubicBezTo>
                  <a:pt x="40152" y="158300"/>
                  <a:pt x="61412" y="167104"/>
                  <a:pt x="83578" y="167104"/>
                </a:cubicBezTo>
                <a:close/>
              </a:path>
            </a:pathLst>
          </a:custGeom>
          <a:solidFill>
            <a:srgbClr val="F0F2F7"/>
          </a:solidFill>
          <a:ln w="17343" cap="flat">
            <a:solidFill>
              <a:srgbClr val="C58A2C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41" name="Freeform 540">
            <a:extLst>
              <a:ext uri="{FF2B5EF4-FFF2-40B4-BE49-F238E27FC236}">
                <a16:creationId xmlns:a16="http://schemas.microsoft.com/office/drawing/2014/main" id="{E383ACAA-3CDA-5E15-AB07-F78C180F14C1}"/>
              </a:ext>
            </a:extLst>
          </p:cNvPr>
          <p:cNvSpPr/>
          <p:nvPr/>
        </p:nvSpPr>
        <p:spPr>
          <a:xfrm>
            <a:off x="9846199" y="4739208"/>
            <a:ext cx="47508" cy="52769"/>
          </a:xfrm>
          <a:custGeom>
            <a:avLst/>
            <a:gdLst>
              <a:gd name="connsiteX0" fmla="*/ 0 w 47508"/>
              <a:gd name="connsiteY0" fmla="*/ 0 h 52769"/>
              <a:gd name="connsiteX1" fmla="*/ 47508 w 47508"/>
              <a:gd name="connsiteY1" fmla="*/ 52770 h 5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508" h="52769">
                <a:moveTo>
                  <a:pt x="0" y="0"/>
                </a:moveTo>
                <a:lnTo>
                  <a:pt x="47508" y="52770"/>
                </a:lnTo>
              </a:path>
            </a:pathLst>
          </a:custGeom>
          <a:noFill/>
          <a:ln w="15766" cap="sq">
            <a:solidFill>
              <a:srgbClr val="C58A2C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42" name="Freeform 541">
            <a:extLst>
              <a:ext uri="{FF2B5EF4-FFF2-40B4-BE49-F238E27FC236}">
                <a16:creationId xmlns:a16="http://schemas.microsoft.com/office/drawing/2014/main" id="{6344A485-AA5A-ABB9-3118-3D2718D46363}"/>
              </a:ext>
            </a:extLst>
          </p:cNvPr>
          <p:cNvSpPr/>
          <p:nvPr/>
        </p:nvSpPr>
        <p:spPr>
          <a:xfrm>
            <a:off x="9918343" y="4739208"/>
            <a:ext cx="47507" cy="52769"/>
          </a:xfrm>
          <a:custGeom>
            <a:avLst/>
            <a:gdLst>
              <a:gd name="connsiteX0" fmla="*/ 47507 w 47507"/>
              <a:gd name="connsiteY0" fmla="*/ 0 h 52769"/>
              <a:gd name="connsiteX1" fmla="*/ 0 w 47507"/>
              <a:gd name="connsiteY1" fmla="*/ 52770 h 5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507" h="52769">
                <a:moveTo>
                  <a:pt x="47507" y="0"/>
                </a:moveTo>
                <a:lnTo>
                  <a:pt x="0" y="52770"/>
                </a:lnTo>
              </a:path>
            </a:pathLst>
          </a:custGeom>
          <a:noFill/>
          <a:ln w="15766" cap="sq">
            <a:solidFill>
              <a:srgbClr val="C58A2C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44" name="Freeform 543">
            <a:extLst>
              <a:ext uri="{FF2B5EF4-FFF2-40B4-BE49-F238E27FC236}">
                <a16:creationId xmlns:a16="http://schemas.microsoft.com/office/drawing/2014/main" id="{6B9F5765-FE63-594B-E256-4E7AAF22B91D}"/>
              </a:ext>
            </a:extLst>
          </p:cNvPr>
          <p:cNvSpPr/>
          <p:nvPr/>
        </p:nvSpPr>
        <p:spPr>
          <a:xfrm>
            <a:off x="8825657" y="4626325"/>
            <a:ext cx="292274" cy="62397"/>
          </a:xfrm>
          <a:custGeom>
            <a:avLst/>
            <a:gdLst>
              <a:gd name="connsiteX0" fmla="*/ 0 w 292274"/>
              <a:gd name="connsiteY0" fmla="*/ 1083 h 62397"/>
              <a:gd name="connsiteX1" fmla="*/ 55083 w 292274"/>
              <a:gd name="connsiteY1" fmla="*/ 1083 h 62397"/>
              <a:gd name="connsiteX2" fmla="*/ 55083 w 292274"/>
              <a:gd name="connsiteY2" fmla="*/ 12812 h 62397"/>
              <a:gd name="connsiteX3" fmla="*/ 35267 w 292274"/>
              <a:gd name="connsiteY3" fmla="*/ 12812 h 62397"/>
              <a:gd name="connsiteX4" fmla="*/ 35267 w 292274"/>
              <a:gd name="connsiteY4" fmla="*/ 61225 h 62397"/>
              <a:gd name="connsiteX5" fmla="*/ 19855 w 292274"/>
              <a:gd name="connsiteY5" fmla="*/ 61225 h 62397"/>
              <a:gd name="connsiteX6" fmla="*/ 19855 w 292274"/>
              <a:gd name="connsiteY6" fmla="*/ 12812 h 62397"/>
              <a:gd name="connsiteX7" fmla="*/ 0 w 292274"/>
              <a:gd name="connsiteY7" fmla="*/ 12812 h 62397"/>
              <a:gd name="connsiteX8" fmla="*/ 0 w 292274"/>
              <a:gd name="connsiteY8" fmla="*/ 1083 h 62397"/>
              <a:gd name="connsiteX9" fmla="*/ 84952 w 292274"/>
              <a:gd name="connsiteY9" fmla="*/ 27751 h 62397"/>
              <a:gd name="connsiteX10" fmla="*/ 91895 w 292274"/>
              <a:gd name="connsiteY10" fmla="*/ 25946 h 62397"/>
              <a:gd name="connsiteX11" fmla="*/ 93996 w 292274"/>
              <a:gd name="connsiteY11" fmla="*/ 19979 h 62397"/>
              <a:gd name="connsiteX12" fmla="*/ 91895 w 292274"/>
              <a:gd name="connsiteY12" fmla="*/ 14101 h 62397"/>
              <a:gd name="connsiteX13" fmla="*/ 84952 w 292274"/>
              <a:gd name="connsiteY13" fmla="*/ 12322 h 62397"/>
              <a:gd name="connsiteX14" fmla="*/ 78470 w 292274"/>
              <a:gd name="connsiteY14" fmla="*/ 12322 h 62397"/>
              <a:gd name="connsiteX15" fmla="*/ 78470 w 292274"/>
              <a:gd name="connsiteY15" fmla="*/ 27751 h 62397"/>
              <a:gd name="connsiteX16" fmla="*/ 84952 w 292274"/>
              <a:gd name="connsiteY16" fmla="*/ 27751 h 62397"/>
              <a:gd name="connsiteX17" fmla="*/ 78470 w 292274"/>
              <a:gd name="connsiteY17" fmla="*/ 38462 h 62397"/>
              <a:gd name="connsiteX18" fmla="*/ 78470 w 292274"/>
              <a:gd name="connsiteY18" fmla="*/ 61225 h 62397"/>
              <a:gd name="connsiteX19" fmla="*/ 63060 w 292274"/>
              <a:gd name="connsiteY19" fmla="*/ 61225 h 62397"/>
              <a:gd name="connsiteX20" fmla="*/ 63060 w 292274"/>
              <a:gd name="connsiteY20" fmla="*/ 1083 h 62397"/>
              <a:gd name="connsiteX21" fmla="*/ 86592 w 292274"/>
              <a:gd name="connsiteY21" fmla="*/ 1083 h 62397"/>
              <a:gd name="connsiteX22" fmla="*/ 103898 w 292274"/>
              <a:gd name="connsiteY22" fmla="*/ 5078 h 62397"/>
              <a:gd name="connsiteX23" fmla="*/ 109406 w 292274"/>
              <a:gd name="connsiteY23" fmla="*/ 17684 h 62397"/>
              <a:gd name="connsiteX24" fmla="*/ 106538 w 292274"/>
              <a:gd name="connsiteY24" fmla="*/ 27467 h 62397"/>
              <a:gd name="connsiteX25" fmla="*/ 97917 w 292274"/>
              <a:gd name="connsiteY25" fmla="*/ 33113 h 62397"/>
              <a:gd name="connsiteX26" fmla="*/ 103578 w 292274"/>
              <a:gd name="connsiteY26" fmla="*/ 36400 h 62397"/>
              <a:gd name="connsiteX27" fmla="*/ 108651 w 292274"/>
              <a:gd name="connsiteY27" fmla="*/ 44146 h 62397"/>
              <a:gd name="connsiteX28" fmla="*/ 117016 w 292274"/>
              <a:gd name="connsiteY28" fmla="*/ 61225 h 62397"/>
              <a:gd name="connsiteX29" fmla="*/ 100606 w 292274"/>
              <a:gd name="connsiteY29" fmla="*/ 61225 h 62397"/>
              <a:gd name="connsiteX30" fmla="*/ 93318 w 292274"/>
              <a:gd name="connsiteY30" fmla="*/ 46286 h 62397"/>
              <a:gd name="connsiteX31" fmla="*/ 88847 w 292274"/>
              <a:gd name="connsiteY31" fmla="*/ 40125 h 62397"/>
              <a:gd name="connsiteX32" fmla="*/ 82826 w 292274"/>
              <a:gd name="connsiteY32" fmla="*/ 38462 h 62397"/>
              <a:gd name="connsiteX33" fmla="*/ 78470 w 292274"/>
              <a:gd name="connsiteY33" fmla="*/ 38462 h 62397"/>
              <a:gd name="connsiteX34" fmla="*/ 162455 w 292274"/>
              <a:gd name="connsiteY34" fmla="*/ 50269 h 62397"/>
              <a:gd name="connsiteX35" fmla="*/ 138359 w 292274"/>
              <a:gd name="connsiteY35" fmla="*/ 50269 h 62397"/>
              <a:gd name="connsiteX36" fmla="*/ 134555 w 292274"/>
              <a:gd name="connsiteY36" fmla="*/ 61225 h 62397"/>
              <a:gd name="connsiteX37" fmla="*/ 119055 w 292274"/>
              <a:gd name="connsiteY37" fmla="*/ 61225 h 62397"/>
              <a:gd name="connsiteX38" fmla="*/ 141190 w 292274"/>
              <a:gd name="connsiteY38" fmla="*/ 1083 h 62397"/>
              <a:gd name="connsiteX39" fmla="*/ 159573 w 292274"/>
              <a:gd name="connsiteY39" fmla="*/ 1083 h 62397"/>
              <a:gd name="connsiteX40" fmla="*/ 181709 w 292274"/>
              <a:gd name="connsiteY40" fmla="*/ 61225 h 62397"/>
              <a:gd name="connsiteX41" fmla="*/ 166222 w 292274"/>
              <a:gd name="connsiteY41" fmla="*/ 61225 h 62397"/>
              <a:gd name="connsiteX42" fmla="*/ 162455 w 292274"/>
              <a:gd name="connsiteY42" fmla="*/ 50269 h 62397"/>
              <a:gd name="connsiteX43" fmla="*/ 142203 w 292274"/>
              <a:gd name="connsiteY43" fmla="*/ 39107 h 62397"/>
              <a:gd name="connsiteX44" fmla="*/ 158575 w 292274"/>
              <a:gd name="connsiteY44" fmla="*/ 39107 h 62397"/>
              <a:gd name="connsiteX45" fmla="*/ 150401 w 292274"/>
              <a:gd name="connsiteY45" fmla="*/ 15184 h 62397"/>
              <a:gd name="connsiteX46" fmla="*/ 142203 w 292274"/>
              <a:gd name="connsiteY46" fmla="*/ 39107 h 62397"/>
              <a:gd name="connsiteX47" fmla="*/ 237038 w 292274"/>
              <a:gd name="connsiteY47" fmla="*/ 57925 h 62397"/>
              <a:gd name="connsiteX48" fmla="*/ 228187 w 292274"/>
              <a:gd name="connsiteY48" fmla="*/ 61263 h 62397"/>
              <a:gd name="connsiteX49" fmla="*/ 218579 w 292274"/>
              <a:gd name="connsiteY49" fmla="*/ 62398 h 62397"/>
              <a:gd name="connsiteX50" fmla="*/ 194918 w 292274"/>
              <a:gd name="connsiteY50" fmla="*/ 53994 h 62397"/>
              <a:gd name="connsiteX51" fmla="*/ 186195 w 292274"/>
              <a:gd name="connsiteY51" fmla="*/ 31218 h 62397"/>
              <a:gd name="connsiteX52" fmla="*/ 194918 w 292274"/>
              <a:gd name="connsiteY52" fmla="*/ 8404 h 62397"/>
              <a:gd name="connsiteX53" fmla="*/ 218579 w 292274"/>
              <a:gd name="connsiteY53" fmla="*/ 0 h 62397"/>
              <a:gd name="connsiteX54" fmla="*/ 228187 w 292274"/>
              <a:gd name="connsiteY54" fmla="*/ 1134 h 62397"/>
              <a:gd name="connsiteX55" fmla="*/ 237038 w 292274"/>
              <a:gd name="connsiteY55" fmla="*/ 4473 h 62397"/>
              <a:gd name="connsiteX56" fmla="*/ 237038 w 292274"/>
              <a:gd name="connsiteY56" fmla="*/ 16911 h 62397"/>
              <a:gd name="connsiteX57" fmla="*/ 228583 w 292274"/>
              <a:gd name="connsiteY57" fmla="*/ 12606 h 62397"/>
              <a:gd name="connsiteX58" fmla="*/ 219821 w 292274"/>
              <a:gd name="connsiteY58" fmla="*/ 11239 h 62397"/>
              <a:gd name="connsiteX59" fmla="*/ 206845 w 292274"/>
              <a:gd name="connsiteY59" fmla="*/ 16563 h 62397"/>
              <a:gd name="connsiteX60" fmla="*/ 202130 w 292274"/>
              <a:gd name="connsiteY60" fmla="*/ 31218 h 62397"/>
              <a:gd name="connsiteX61" fmla="*/ 206845 w 292274"/>
              <a:gd name="connsiteY61" fmla="*/ 45848 h 62397"/>
              <a:gd name="connsiteX62" fmla="*/ 219821 w 292274"/>
              <a:gd name="connsiteY62" fmla="*/ 51158 h 62397"/>
              <a:gd name="connsiteX63" fmla="*/ 228583 w 292274"/>
              <a:gd name="connsiteY63" fmla="*/ 49792 h 62397"/>
              <a:gd name="connsiteX64" fmla="*/ 237038 w 292274"/>
              <a:gd name="connsiteY64" fmla="*/ 45474 h 62397"/>
              <a:gd name="connsiteX65" fmla="*/ 237038 w 292274"/>
              <a:gd name="connsiteY65" fmla="*/ 57925 h 62397"/>
              <a:gd name="connsiteX66" fmla="*/ 249809 w 292274"/>
              <a:gd name="connsiteY66" fmla="*/ 1083 h 62397"/>
              <a:gd name="connsiteX67" fmla="*/ 291390 w 292274"/>
              <a:gd name="connsiteY67" fmla="*/ 1083 h 62397"/>
              <a:gd name="connsiteX68" fmla="*/ 291390 w 292274"/>
              <a:gd name="connsiteY68" fmla="*/ 12812 h 62397"/>
              <a:gd name="connsiteX69" fmla="*/ 265219 w 292274"/>
              <a:gd name="connsiteY69" fmla="*/ 12812 h 62397"/>
              <a:gd name="connsiteX70" fmla="*/ 265219 w 292274"/>
              <a:gd name="connsiteY70" fmla="*/ 24000 h 62397"/>
              <a:gd name="connsiteX71" fmla="*/ 289841 w 292274"/>
              <a:gd name="connsiteY71" fmla="*/ 24000 h 62397"/>
              <a:gd name="connsiteX72" fmla="*/ 289841 w 292274"/>
              <a:gd name="connsiteY72" fmla="*/ 35730 h 62397"/>
              <a:gd name="connsiteX73" fmla="*/ 265219 w 292274"/>
              <a:gd name="connsiteY73" fmla="*/ 35730 h 62397"/>
              <a:gd name="connsiteX74" fmla="*/ 265219 w 292274"/>
              <a:gd name="connsiteY74" fmla="*/ 49508 h 62397"/>
              <a:gd name="connsiteX75" fmla="*/ 292274 w 292274"/>
              <a:gd name="connsiteY75" fmla="*/ 49508 h 62397"/>
              <a:gd name="connsiteX76" fmla="*/ 292274 w 292274"/>
              <a:gd name="connsiteY76" fmla="*/ 61225 h 62397"/>
              <a:gd name="connsiteX77" fmla="*/ 249809 w 292274"/>
              <a:gd name="connsiteY77" fmla="*/ 61225 h 62397"/>
              <a:gd name="connsiteX78" fmla="*/ 249809 w 292274"/>
              <a:gd name="connsiteY78" fmla="*/ 1083 h 62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292274" h="62397">
                <a:moveTo>
                  <a:pt x="0" y="1083"/>
                </a:moveTo>
                <a:lnTo>
                  <a:pt x="55083" y="1083"/>
                </a:lnTo>
                <a:lnTo>
                  <a:pt x="55083" y="12812"/>
                </a:lnTo>
                <a:lnTo>
                  <a:pt x="35267" y="12812"/>
                </a:lnTo>
                <a:lnTo>
                  <a:pt x="35267" y="61225"/>
                </a:lnTo>
                <a:lnTo>
                  <a:pt x="19855" y="61225"/>
                </a:lnTo>
                <a:lnTo>
                  <a:pt x="19855" y="12812"/>
                </a:lnTo>
                <a:lnTo>
                  <a:pt x="0" y="12812"/>
                </a:lnTo>
                <a:lnTo>
                  <a:pt x="0" y="1083"/>
                </a:lnTo>
                <a:close/>
                <a:moveTo>
                  <a:pt x="84952" y="27751"/>
                </a:moveTo>
                <a:cubicBezTo>
                  <a:pt x="88180" y="27751"/>
                  <a:pt x="90494" y="27149"/>
                  <a:pt x="91895" y="25946"/>
                </a:cubicBezTo>
                <a:cubicBezTo>
                  <a:pt x="93296" y="24735"/>
                  <a:pt x="93996" y="22745"/>
                  <a:pt x="93996" y="19979"/>
                </a:cubicBezTo>
                <a:cubicBezTo>
                  <a:pt x="93996" y="17238"/>
                  <a:pt x="93296" y="15278"/>
                  <a:pt x="91895" y="14101"/>
                </a:cubicBezTo>
                <a:cubicBezTo>
                  <a:pt x="90494" y="12915"/>
                  <a:pt x="88180" y="12322"/>
                  <a:pt x="84952" y="12322"/>
                </a:cubicBezTo>
                <a:lnTo>
                  <a:pt x="78470" y="12322"/>
                </a:lnTo>
                <a:lnTo>
                  <a:pt x="78470" y="27751"/>
                </a:lnTo>
                <a:lnTo>
                  <a:pt x="84952" y="27751"/>
                </a:lnTo>
                <a:close/>
                <a:moveTo>
                  <a:pt x="78470" y="38462"/>
                </a:moveTo>
                <a:lnTo>
                  <a:pt x="78470" y="61225"/>
                </a:lnTo>
                <a:lnTo>
                  <a:pt x="63060" y="61225"/>
                </a:lnTo>
                <a:lnTo>
                  <a:pt x="63060" y="1083"/>
                </a:lnTo>
                <a:lnTo>
                  <a:pt x="86592" y="1083"/>
                </a:lnTo>
                <a:cubicBezTo>
                  <a:pt x="94466" y="1083"/>
                  <a:pt x="100235" y="2415"/>
                  <a:pt x="103898" y="5078"/>
                </a:cubicBezTo>
                <a:cubicBezTo>
                  <a:pt x="107570" y="7734"/>
                  <a:pt x="109406" y="11936"/>
                  <a:pt x="109406" y="17684"/>
                </a:cubicBezTo>
                <a:cubicBezTo>
                  <a:pt x="109406" y="21654"/>
                  <a:pt x="108450" y="24915"/>
                  <a:pt x="106538" y="27467"/>
                </a:cubicBezTo>
                <a:cubicBezTo>
                  <a:pt x="104633" y="30020"/>
                  <a:pt x="101759" y="31901"/>
                  <a:pt x="97917" y="33113"/>
                </a:cubicBezTo>
                <a:cubicBezTo>
                  <a:pt x="100026" y="33594"/>
                  <a:pt x="101913" y="34690"/>
                  <a:pt x="103578" y="36400"/>
                </a:cubicBezTo>
                <a:cubicBezTo>
                  <a:pt x="105252" y="38101"/>
                  <a:pt x="106943" y="40683"/>
                  <a:pt x="108651" y="44146"/>
                </a:cubicBezTo>
                <a:lnTo>
                  <a:pt x="117016" y="61225"/>
                </a:lnTo>
                <a:lnTo>
                  <a:pt x="100606" y="61225"/>
                </a:lnTo>
                <a:lnTo>
                  <a:pt x="93318" y="46286"/>
                </a:lnTo>
                <a:cubicBezTo>
                  <a:pt x="91848" y="43278"/>
                  <a:pt x="90358" y="41225"/>
                  <a:pt x="88847" y="40125"/>
                </a:cubicBezTo>
                <a:cubicBezTo>
                  <a:pt x="87344" y="39016"/>
                  <a:pt x="85336" y="38462"/>
                  <a:pt x="82826" y="38462"/>
                </a:cubicBezTo>
                <a:lnTo>
                  <a:pt x="78470" y="38462"/>
                </a:lnTo>
                <a:close/>
                <a:moveTo>
                  <a:pt x="162455" y="50269"/>
                </a:moveTo>
                <a:lnTo>
                  <a:pt x="138359" y="50269"/>
                </a:lnTo>
                <a:lnTo>
                  <a:pt x="134555" y="61225"/>
                </a:lnTo>
                <a:lnTo>
                  <a:pt x="119055" y="61225"/>
                </a:lnTo>
                <a:lnTo>
                  <a:pt x="141190" y="1083"/>
                </a:lnTo>
                <a:lnTo>
                  <a:pt x="159573" y="1083"/>
                </a:lnTo>
                <a:lnTo>
                  <a:pt x="181709" y="61225"/>
                </a:lnTo>
                <a:lnTo>
                  <a:pt x="166222" y="61225"/>
                </a:lnTo>
                <a:lnTo>
                  <a:pt x="162455" y="50269"/>
                </a:lnTo>
                <a:close/>
                <a:moveTo>
                  <a:pt x="142203" y="39107"/>
                </a:moveTo>
                <a:lnTo>
                  <a:pt x="158575" y="39107"/>
                </a:lnTo>
                <a:lnTo>
                  <a:pt x="150401" y="15184"/>
                </a:lnTo>
                <a:lnTo>
                  <a:pt x="142203" y="39107"/>
                </a:lnTo>
                <a:close/>
                <a:moveTo>
                  <a:pt x="237038" y="57925"/>
                </a:moveTo>
                <a:cubicBezTo>
                  <a:pt x="234203" y="59403"/>
                  <a:pt x="231253" y="60516"/>
                  <a:pt x="228187" y="61263"/>
                </a:cubicBezTo>
                <a:cubicBezTo>
                  <a:pt x="225121" y="62020"/>
                  <a:pt x="221918" y="62398"/>
                  <a:pt x="218579" y="62398"/>
                </a:cubicBezTo>
                <a:cubicBezTo>
                  <a:pt x="208621" y="62398"/>
                  <a:pt x="200734" y="59596"/>
                  <a:pt x="194918" y="53994"/>
                </a:cubicBezTo>
                <a:cubicBezTo>
                  <a:pt x="189103" y="48391"/>
                  <a:pt x="186195" y="40799"/>
                  <a:pt x="186195" y="31218"/>
                </a:cubicBezTo>
                <a:cubicBezTo>
                  <a:pt x="186195" y="21603"/>
                  <a:pt x="189103" y="13998"/>
                  <a:pt x="194918" y="8404"/>
                </a:cubicBezTo>
                <a:cubicBezTo>
                  <a:pt x="200734" y="2801"/>
                  <a:pt x="208621" y="0"/>
                  <a:pt x="218579" y="0"/>
                </a:cubicBezTo>
                <a:cubicBezTo>
                  <a:pt x="221918" y="0"/>
                  <a:pt x="225121" y="378"/>
                  <a:pt x="228187" y="1134"/>
                </a:cubicBezTo>
                <a:cubicBezTo>
                  <a:pt x="231253" y="1882"/>
                  <a:pt x="234203" y="2995"/>
                  <a:pt x="237038" y="4473"/>
                </a:cubicBezTo>
                <a:lnTo>
                  <a:pt x="237038" y="16911"/>
                </a:lnTo>
                <a:cubicBezTo>
                  <a:pt x="234177" y="14952"/>
                  <a:pt x="231359" y="13517"/>
                  <a:pt x="228583" y="12606"/>
                </a:cubicBezTo>
                <a:cubicBezTo>
                  <a:pt x="225808" y="11695"/>
                  <a:pt x="222887" y="11239"/>
                  <a:pt x="219821" y="11239"/>
                </a:cubicBezTo>
                <a:cubicBezTo>
                  <a:pt x="214322" y="11239"/>
                  <a:pt x="209996" y="13014"/>
                  <a:pt x="206845" y="16563"/>
                </a:cubicBezTo>
                <a:cubicBezTo>
                  <a:pt x="203702" y="20103"/>
                  <a:pt x="202130" y="24988"/>
                  <a:pt x="202130" y="31218"/>
                </a:cubicBezTo>
                <a:cubicBezTo>
                  <a:pt x="202130" y="37422"/>
                  <a:pt x="203702" y="42299"/>
                  <a:pt x="206845" y="45848"/>
                </a:cubicBezTo>
                <a:cubicBezTo>
                  <a:pt x="209996" y="49388"/>
                  <a:pt x="214322" y="51158"/>
                  <a:pt x="219821" y="51158"/>
                </a:cubicBezTo>
                <a:cubicBezTo>
                  <a:pt x="222887" y="51158"/>
                  <a:pt x="225808" y="50703"/>
                  <a:pt x="228583" y="49792"/>
                </a:cubicBezTo>
                <a:cubicBezTo>
                  <a:pt x="231358" y="48872"/>
                  <a:pt x="234177" y="47433"/>
                  <a:pt x="237038" y="45474"/>
                </a:cubicBezTo>
                <a:lnTo>
                  <a:pt x="237038" y="57925"/>
                </a:lnTo>
                <a:close/>
                <a:moveTo>
                  <a:pt x="249809" y="1083"/>
                </a:moveTo>
                <a:lnTo>
                  <a:pt x="291390" y="1083"/>
                </a:lnTo>
                <a:lnTo>
                  <a:pt x="291390" y="12812"/>
                </a:lnTo>
                <a:lnTo>
                  <a:pt x="265219" y="12812"/>
                </a:lnTo>
                <a:lnTo>
                  <a:pt x="265219" y="24000"/>
                </a:lnTo>
                <a:lnTo>
                  <a:pt x="289841" y="24000"/>
                </a:lnTo>
                <a:lnTo>
                  <a:pt x="289841" y="35730"/>
                </a:lnTo>
                <a:lnTo>
                  <a:pt x="265219" y="35730"/>
                </a:lnTo>
                <a:lnTo>
                  <a:pt x="265219" y="49508"/>
                </a:lnTo>
                <a:lnTo>
                  <a:pt x="292274" y="49508"/>
                </a:lnTo>
                <a:lnTo>
                  <a:pt x="292274" y="61225"/>
                </a:lnTo>
                <a:lnTo>
                  <a:pt x="249809" y="61225"/>
                </a:lnTo>
                <a:lnTo>
                  <a:pt x="249809" y="1083"/>
                </a:lnTo>
                <a:close/>
              </a:path>
            </a:pathLst>
          </a:custGeom>
          <a:solidFill>
            <a:srgbClr val="606A90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45" name="Freeform 544">
            <a:extLst>
              <a:ext uri="{FF2B5EF4-FFF2-40B4-BE49-F238E27FC236}">
                <a16:creationId xmlns:a16="http://schemas.microsoft.com/office/drawing/2014/main" id="{9388052E-D792-86DB-C946-1571F82F190D}"/>
              </a:ext>
            </a:extLst>
          </p:cNvPr>
          <p:cNvSpPr/>
          <p:nvPr/>
        </p:nvSpPr>
        <p:spPr>
          <a:xfrm>
            <a:off x="8879421" y="4745320"/>
            <a:ext cx="184751" cy="15863"/>
          </a:xfrm>
          <a:custGeom>
            <a:avLst/>
            <a:gdLst>
              <a:gd name="connsiteX0" fmla="*/ 0 w 184751"/>
              <a:gd name="connsiteY0" fmla="*/ 0 h 15863"/>
              <a:gd name="connsiteX1" fmla="*/ 184751 w 184751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4751" h="15863">
                <a:moveTo>
                  <a:pt x="0" y="0"/>
                </a:moveTo>
                <a:lnTo>
                  <a:pt x="184751" y="0"/>
                </a:lnTo>
              </a:path>
            </a:pathLst>
          </a:custGeom>
          <a:noFill/>
          <a:ln w="15766" cap="sq">
            <a:solidFill>
              <a:srgbClr val="606A90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46" name="Freeform 545">
            <a:extLst>
              <a:ext uri="{FF2B5EF4-FFF2-40B4-BE49-F238E27FC236}">
                <a16:creationId xmlns:a16="http://schemas.microsoft.com/office/drawing/2014/main" id="{573FC2B2-6F85-CCA6-2981-955E68D11F3F}"/>
              </a:ext>
            </a:extLst>
          </p:cNvPr>
          <p:cNvSpPr/>
          <p:nvPr/>
        </p:nvSpPr>
        <p:spPr>
          <a:xfrm>
            <a:off x="8879421" y="4820077"/>
            <a:ext cx="184751" cy="15863"/>
          </a:xfrm>
          <a:custGeom>
            <a:avLst/>
            <a:gdLst>
              <a:gd name="connsiteX0" fmla="*/ 0 w 184751"/>
              <a:gd name="connsiteY0" fmla="*/ 0 h 15863"/>
              <a:gd name="connsiteX1" fmla="*/ 184751 w 184751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4751" h="15863">
                <a:moveTo>
                  <a:pt x="0" y="0"/>
                </a:moveTo>
                <a:lnTo>
                  <a:pt x="184751" y="0"/>
                </a:lnTo>
              </a:path>
            </a:pathLst>
          </a:custGeom>
          <a:noFill/>
          <a:ln w="15766" cap="sq">
            <a:solidFill>
              <a:srgbClr val="606A90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47" name="Freeform 546">
            <a:extLst>
              <a:ext uri="{FF2B5EF4-FFF2-40B4-BE49-F238E27FC236}">
                <a16:creationId xmlns:a16="http://schemas.microsoft.com/office/drawing/2014/main" id="{DB567813-0388-BF23-A906-CC2FF5853D67}"/>
              </a:ext>
            </a:extLst>
          </p:cNvPr>
          <p:cNvSpPr/>
          <p:nvPr/>
        </p:nvSpPr>
        <p:spPr>
          <a:xfrm>
            <a:off x="8879421" y="4894834"/>
            <a:ext cx="184751" cy="15863"/>
          </a:xfrm>
          <a:custGeom>
            <a:avLst/>
            <a:gdLst>
              <a:gd name="connsiteX0" fmla="*/ 0 w 184751"/>
              <a:gd name="connsiteY0" fmla="*/ 0 h 15863"/>
              <a:gd name="connsiteX1" fmla="*/ 184751 w 184751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4751" h="15863">
                <a:moveTo>
                  <a:pt x="0" y="0"/>
                </a:moveTo>
                <a:lnTo>
                  <a:pt x="184751" y="0"/>
                </a:lnTo>
              </a:path>
            </a:pathLst>
          </a:custGeom>
          <a:noFill/>
          <a:ln w="15766" cap="sq">
            <a:solidFill>
              <a:srgbClr val="606A90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57" name="Freeform 556">
            <a:extLst>
              <a:ext uri="{FF2B5EF4-FFF2-40B4-BE49-F238E27FC236}">
                <a16:creationId xmlns:a16="http://schemas.microsoft.com/office/drawing/2014/main" id="{B4271B29-4CE1-AC63-7173-7C90756483EF}"/>
              </a:ext>
            </a:extLst>
          </p:cNvPr>
          <p:cNvSpPr/>
          <p:nvPr/>
        </p:nvSpPr>
        <p:spPr>
          <a:xfrm>
            <a:off x="8310139" y="5348384"/>
            <a:ext cx="18135" cy="30649"/>
          </a:xfrm>
          <a:custGeom>
            <a:avLst/>
            <a:gdLst>
              <a:gd name="connsiteX0" fmla="*/ 595 w 18135"/>
              <a:gd name="connsiteY0" fmla="*/ 27161 h 30649"/>
              <a:gd name="connsiteX1" fmla="*/ 7325 w 18135"/>
              <a:gd name="connsiteY1" fmla="*/ 27161 h 30649"/>
              <a:gd name="connsiteX2" fmla="*/ 7325 w 18135"/>
              <a:gd name="connsiteY2" fmla="*/ 3777 h 30649"/>
              <a:gd name="connsiteX3" fmla="*/ 0 w 18135"/>
              <a:gd name="connsiteY3" fmla="*/ 5255 h 30649"/>
              <a:gd name="connsiteX4" fmla="*/ 0 w 18135"/>
              <a:gd name="connsiteY4" fmla="*/ 1478 h 30649"/>
              <a:gd name="connsiteX5" fmla="*/ 7286 w 18135"/>
              <a:gd name="connsiteY5" fmla="*/ 0 h 30649"/>
              <a:gd name="connsiteX6" fmla="*/ 11405 w 18135"/>
              <a:gd name="connsiteY6" fmla="*/ 0 h 30649"/>
              <a:gd name="connsiteX7" fmla="*/ 11405 w 18135"/>
              <a:gd name="connsiteY7" fmla="*/ 27161 h 30649"/>
              <a:gd name="connsiteX8" fmla="*/ 18136 w 18135"/>
              <a:gd name="connsiteY8" fmla="*/ 27161 h 30649"/>
              <a:gd name="connsiteX9" fmla="*/ 18136 w 18135"/>
              <a:gd name="connsiteY9" fmla="*/ 30649 h 30649"/>
              <a:gd name="connsiteX10" fmla="*/ 595 w 18135"/>
              <a:gd name="connsiteY10" fmla="*/ 30649 h 30649"/>
              <a:gd name="connsiteX11" fmla="*/ 595 w 18135"/>
              <a:gd name="connsiteY11" fmla="*/ 27161 h 30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135" h="30649">
                <a:moveTo>
                  <a:pt x="595" y="27161"/>
                </a:moveTo>
                <a:lnTo>
                  <a:pt x="7325" y="27161"/>
                </a:lnTo>
                <a:lnTo>
                  <a:pt x="7325" y="3777"/>
                </a:lnTo>
                <a:lnTo>
                  <a:pt x="0" y="5255"/>
                </a:lnTo>
                <a:lnTo>
                  <a:pt x="0" y="1478"/>
                </a:lnTo>
                <a:lnTo>
                  <a:pt x="7286" y="0"/>
                </a:lnTo>
                <a:lnTo>
                  <a:pt x="11405" y="0"/>
                </a:lnTo>
                <a:lnTo>
                  <a:pt x="11405" y="27161"/>
                </a:lnTo>
                <a:lnTo>
                  <a:pt x="18136" y="27161"/>
                </a:lnTo>
                <a:lnTo>
                  <a:pt x="18136" y="30649"/>
                </a:lnTo>
                <a:lnTo>
                  <a:pt x="595" y="30649"/>
                </a:lnTo>
                <a:lnTo>
                  <a:pt x="595" y="27161"/>
                </a:lnTo>
                <a:close/>
              </a:path>
            </a:pathLst>
          </a:custGeom>
          <a:solidFill>
            <a:srgbClr val="606A90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58" name="Freeform 557">
            <a:extLst>
              <a:ext uri="{FF2B5EF4-FFF2-40B4-BE49-F238E27FC236}">
                <a16:creationId xmlns:a16="http://schemas.microsoft.com/office/drawing/2014/main" id="{DB3D0554-3A2A-9C64-0C46-D9407C1E43AA}"/>
              </a:ext>
            </a:extLst>
          </p:cNvPr>
          <p:cNvSpPr/>
          <p:nvPr/>
        </p:nvSpPr>
        <p:spPr>
          <a:xfrm>
            <a:off x="8340322" y="5368165"/>
            <a:ext cx="45747" cy="15863"/>
          </a:xfrm>
          <a:custGeom>
            <a:avLst/>
            <a:gdLst>
              <a:gd name="connsiteX0" fmla="*/ 0 w 45747"/>
              <a:gd name="connsiteY0" fmla="*/ 0 h 15863"/>
              <a:gd name="connsiteX1" fmla="*/ 45747 w 45747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47" h="15863">
                <a:moveTo>
                  <a:pt x="0" y="0"/>
                </a:moveTo>
                <a:lnTo>
                  <a:pt x="45747" y="0"/>
                </a:lnTo>
              </a:path>
            </a:pathLst>
          </a:custGeom>
          <a:noFill/>
          <a:ln w="11352" cap="rnd">
            <a:solidFill>
              <a:srgbClr val="606A90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59" name="Freeform 558">
            <a:extLst>
              <a:ext uri="{FF2B5EF4-FFF2-40B4-BE49-F238E27FC236}">
                <a16:creationId xmlns:a16="http://schemas.microsoft.com/office/drawing/2014/main" id="{B7849E6A-6059-0A78-2152-05124C35034D}"/>
              </a:ext>
            </a:extLst>
          </p:cNvPr>
          <p:cNvSpPr/>
          <p:nvPr/>
        </p:nvSpPr>
        <p:spPr>
          <a:xfrm>
            <a:off x="8309536" y="5370699"/>
            <a:ext cx="19336" cy="31201"/>
          </a:xfrm>
          <a:custGeom>
            <a:avLst/>
            <a:gdLst>
              <a:gd name="connsiteX0" fmla="*/ 4955 w 19336"/>
              <a:gd name="connsiteY0" fmla="*/ 27713 h 31201"/>
              <a:gd name="connsiteX1" fmla="*/ 19337 w 19336"/>
              <a:gd name="connsiteY1" fmla="*/ 27713 h 31201"/>
              <a:gd name="connsiteX2" fmla="*/ 19337 w 19336"/>
              <a:gd name="connsiteY2" fmla="*/ 31201 h 31201"/>
              <a:gd name="connsiteX3" fmla="*/ 0 w 19336"/>
              <a:gd name="connsiteY3" fmla="*/ 31201 h 31201"/>
              <a:gd name="connsiteX4" fmla="*/ 0 w 19336"/>
              <a:gd name="connsiteY4" fmla="*/ 27713 h 31201"/>
              <a:gd name="connsiteX5" fmla="*/ 6392 w 19336"/>
              <a:gd name="connsiteY5" fmla="*/ 21158 h 31201"/>
              <a:gd name="connsiteX6" fmla="*/ 11483 w 19336"/>
              <a:gd name="connsiteY6" fmla="*/ 15844 h 31201"/>
              <a:gd name="connsiteX7" fmla="*/ 14245 w 19336"/>
              <a:gd name="connsiteY7" fmla="*/ 12060 h 31201"/>
              <a:gd name="connsiteX8" fmla="*/ 15035 w 19336"/>
              <a:gd name="connsiteY8" fmla="*/ 9013 h 31201"/>
              <a:gd name="connsiteX9" fmla="*/ 13331 w 19336"/>
              <a:gd name="connsiteY9" fmla="*/ 5032 h 31201"/>
              <a:gd name="connsiteX10" fmla="*/ 8892 w 19336"/>
              <a:gd name="connsiteY10" fmla="*/ 3488 h 31201"/>
              <a:gd name="connsiteX11" fmla="*/ 4798 w 19336"/>
              <a:gd name="connsiteY11" fmla="*/ 4165 h 31201"/>
              <a:gd name="connsiteX12" fmla="*/ 202 w 19336"/>
              <a:gd name="connsiteY12" fmla="*/ 6221 h 31201"/>
              <a:gd name="connsiteX13" fmla="*/ 202 w 19336"/>
              <a:gd name="connsiteY13" fmla="*/ 2030 h 31201"/>
              <a:gd name="connsiteX14" fmla="*/ 4851 w 19336"/>
              <a:gd name="connsiteY14" fmla="*/ 513 h 31201"/>
              <a:gd name="connsiteX15" fmla="*/ 8813 w 19336"/>
              <a:gd name="connsiteY15" fmla="*/ 0 h 31201"/>
              <a:gd name="connsiteX16" fmla="*/ 16360 w 19336"/>
              <a:gd name="connsiteY16" fmla="*/ 2385 h 31201"/>
              <a:gd name="connsiteX17" fmla="*/ 19174 w 19336"/>
              <a:gd name="connsiteY17" fmla="*/ 8743 h 31201"/>
              <a:gd name="connsiteX18" fmla="*/ 18469 w 19336"/>
              <a:gd name="connsiteY18" fmla="*/ 12330 h 31201"/>
              <a:gd name="connsiteX19" fmla="*/ 15910 w 19336"/>
              <a:gd name="connsiteY19" fmla="*/ 16317 h 31201"/>
              <a:gd name="connsiteX20" fmla="*/ 12665 w 19336"/>
              <a:gd name="connsiteY20" fmla="*/ 19759 h 31201"/>
              <a:gd name="connsiteX21" fmla="*/ 4955 w 19336"/>
              <a:gd name="connsiteY21" fmla="*/ 27713 h 3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9336" h="31201">
                <a:moveTo>
                  <a:pt x="4955" y="27713"/>
                </a:moveTo>
                <a:lnTo>
                  <a:pt x="19337" y="27713"/>
                </a:lnTo>
                <a:lnTo>
                  <a:pt x="19337" y="31201"/>
                </a:lnTo>
                <a:lnTo>
                  <a:pt x="0" y="31201"/>
                </a:lnTo>
                <a:lnTo>
                  <a:pt x="0" y="27713"/>
                </a:lnTo>
                <a:cubicBezTo>
                  <a:pt x="1563" y="26084"/>
                  <a:pt x="3693" y="23899"/>
                  <a:pt x="6392" y="21158"/>
                </a:cubicBezTo>
                <a:cubicBezTo>
                  <a:pt x="9094" y="18412"/>
                  <a:pt x="10791" y="16641"/>
                  <a:pt x="11483" y="15844"/>
                </a:cubicBezTo>
                <a:cubicBezTo>
                  <a:pt x="12802" y="14355"/>
                  <a:pt x="13722" y="13094"/>
                  <a:pt x="14245" y="12060"/>
                </a:cubicBezTo>
                <a:cubicBezTo>
                  <a:pt x="14771" y="11027"/>
                  <a:pt x="15035" y="10011"/>
                  <a:pt x="15035" y="9013"/>
                </a:cubicBezTo>
                <a:cubicBezTo>
                  <a:pt x="15035" y="7383"/>
                  <a:pt x="14466" y="6056"/>
                  <a:pt x="13331" y="5032"/>
                </a:cubicBezTo>
                <a:cubicBezTo>
                  <a:pt x="12195" y="4003"/>
                  <a:pt x="10715" y="3488"/>
                  <a:pt x="8892" y="3488"/>
                </a:cubicBezTo>
                <a:cubicBezTo>
                  <a:pt x="7599" y="3488"/>
                  <a:pt x="6235" y="3714"/>
                  <a:pt x="4798" y="4165"/>
                </a:cubicBezTo>
                <a:cubicBezTo>
                  <a:pt x="3366" y="4616"/>
                  <a:pt x="1834" y="5301"/>
                  <a:pt x="202" y="6221"/>
                </a:cubicBezTo>
                <a:lnTo>
                  <a:pt x="202" y="2030"/>
                </a:lnTo>
                <a:cubicBezTo>
                  <a:pt x="1860" y="1360"/>
                  <a:pt x="3410" y="854"/>
                  <a:pt x="4851" y="513"/>
                </a:cubicBezTo>
                <a:cubicBezTo>
                  <a:pt x="6295" y="171"/>
                  <a:pt x="7617" y="0"/>
                  <a:pt x="8813" y="0"/>
                </a:cubicBezTo>
                <a:cubicBezTo>
                  <a:pt x="11968" y="0"/>
                  <a:pt x="14484" y="795"/>
                  <a:pt x="16360" y="2385"/>
                </a:cubicBezTo>
                <a:cubicBezTo>
                  <a:pt x="18236" y="3970"/>
                  <a:pt x="19174" y="6089"/>
                  <a:pt x="19174" y="8743"/>
                </a:cubicBezTo>
                <a:cubicBezTo>
                  <a:pt x="19174" y="10004"/>
                  <a:pt x="18938" y="11200"/>
                  <a:pt x="18469" y="12330"/>
                </a:cubicBezTo>
                <a:cubicBezTo>
                  <a:pt x="18003" y="13455"/>
                  <a:pt x="17150" y="14784"/>
                  <a:pt x="15910" y="16317"/>
                </a:cubicBezTo>
                <a:cubicBezTo>
                  <a:pt x="15570" y="16715"/>
                  <a:pt x="14488" y="17862"/>
                  <a:pt x="12665" y="19759"/>
                </a:cubicBezTo>
                <a:cubicBezTo>
                  <a:pt x="10846" y="21655"/>
                  <a:pt x="8276" y="24307"/>
                  <a:pt x="4955" y="27713"/>
                </a:cubicBezTo>
                <a:close/>
              </a:path>
            </a:pathLst>
          </a:custGeom>
          <a:solidFill>
            <a:srgbClr val="606A90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60" name="Freeform 559">
            <a:extLst>
              <a:ext uri="{FF2B5EF4-FFF2-40B4-BE49-F238E27FC236}">
                <a16:creationId xmlns:a16="http://schemas.microsoft.com/office/drawing/2014/main" id="{6EEDA480-8901-E419-680F-A2460583574A}"/>
              </a:ext>
            </a:extLst>
          </p:cNvPr>
          <p:cNvSpPr/>
          <p:nvPr/>
        </p:nvSpPr>
        <p:spPr>
          <a:xfrm>
            <a:off x="8340319" y="5391032"/>
            <a:ext cx="35190" cy="15863"/>
          </a:xfrm>
          <a:custGeom>
            <a:avLst/>
            <a:gdLst>
              <a:gd name="connsiteX0" fmla="*/ 0 w 35190"/>
              <a:gd name="connsiteY0" fmla="*/ 0 h 15863"/>
              <a:gd name="connsiteX1" fmla="*/ 35191 w 35190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190" h="15863">
                <a:moveTo>
                  <a:pt x="0" y="0"/>
                </a:moveTo>
                <a:lnTo>
                  <a:pt x="35191" y="0"/>
                </a:lnTo>
              </a:path>
            </a:pathLst>
          </a:custGeom>
          <a:noFill/>
          <a:ln w="11352" cap="rnd">
            <a:solidFill>
              <a:srgbClr val="606A90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61" name="Freeform 560">
            <a:extLst>
              <a:ext uri="{FF2B5EF4-FFF2-40B4-BE49-F238E27FC236}">
                <a16:creationId xmlns:a16="http://schemas.microsoft.com/office/drawing/2014/main" id="{66B01440-DEFB-7670-6D38-9860C14674B8}"/>
              </a:ext>
            </a:extLst>
          </p:cNvPr>
          <p:cNvSpPr/>
          <p:nvPr/>
        </p:nvSpPr>
        <p:spPr>
          <a:xfrm>
            <a:off x="8309180" y="5393563"/>
            <a:ext cx="20048" cy="31798"/>
          </a:xfrm>
          <a:custGeom>
            <a:avLst/>
            <a:gdLst>
              <a:gd name="connsiteX0" fmla="*/ 13769 w 20048"/>
              <a:gd name="connsiteY0" fmla="*/ 14674 h 31798"/>
              <a:gd name="connsiteX1" fmla="*/ 18384 w 20048"/>
              <a:gd name="connsiteY1" fmla="*/ 17328 h 31798"/>
              <a:gd name="connsiteX2" fmla="*/ 20049 w 20048"/>
              <a:gd name="connsiteY2" fmla="*/ 22294 h 31798"/>
              <a:gd name="connsiteX3" fmla="*/ 16948 w 20048"/>
              <a:gd name="connsiteY3" fmla="*/ 29316 h 31798"/>
              <a:gd name="connsiteX4" fmla="*/ 8134 w 20048"/>
              <a:gd name="connsiteY4" fmla="*/ 31798 h 31798"/>
              <a:gd name="connsiteX5" fmla="*/ 4192 w 20048"/>
              <a:gd name="connsiteY5" fmla="*/ 31417 h 31798"/>
              <a:gd name="connsiteX6" fmla="*/ 0 w 20048"/>
              <a:gd name="connsiteY6" fmla="*/ 30274 h 31798"/>
              <a:gd name="connsiteX7" fmla="*/ 0 w 20048"/>
              <a:gd name="connsiteY7" fmla="*/ 26275 h 31798"/>
              <a:gd name="connsiteX8" fmla="*/ 3747 w 20048"/>
              <a:gd name="connsiteY8" fmla="*/ 27792 h 31798"/>
              <a:gd name="connsiteX9" fmla="*/ 8017 w 20048"/>
              <a:gd name="connsiteY9" fmla="*/ 28304 h 31798"/>
              <a:gd name="connsiteX10" fmla="*/ 13919 w 20048"/>
              <a:gd name="connsiteY10" fmla="*/ 26767 h 31798"/>
              <a:gd name="connsiteX11" fmla="*/ 15949 w 20048"/>
              <a:gd name="connsiteY11" fmla="*/ 22294 h 31798"/>
              <a:gd name="connsiteX12" fmla="*/ 14062 w 20048"/>
              <a:gd name="connsiteY12" fmla="*/ 18057 h 31798"/>
              <a:gd name="connsiteX13" fmla="*/ 8814 w 20048"/>
              <a:gd name="connsiteY13" fmla="*/ 16527 h 31798"/>
              <a:gd name="connsiteX14" fmla="*/ 5262 w 20048"/>
              <a:gd name="connsiteY14" fmla="*/ 16527 h 31798"/>
              <a:gd name="connsiteX15" fmla="*/ 5262 w 20048"/>
              <a:gd name="connsiteY15" fmla="*/ 13117 h 31798"/>
              <a:gd name="connsiteX16" fmla="*/ 8976 w 20048"/>
              <a:gd name="connsiteY16" fmla="*/ 13117 h 31798"/>
              <a:gd name="connsiteX17" fmla="*/ 13625 w 20048"/>
              <a:gd name="connsiteY17" fmla="*/ 11895 h 31798"/>
              <a:gd name="connsiteX18" fmla="*/ 15237 w 20048"/>
              <a:gd name="connsiteY18" fmla="*/ 8375 h 31798"/>
              <a:gd name="connsiteX19" fmla="*/ 13572 w 20048"/>
              <a:gd name="connsiteY19" fmla="*/ 4756 h 31798"/>
              <a:gd name="connsiteX20" fmla="*/ 8814 w 20048"/>
              <a:gd name="connsiteY20" fmla="*/ 3488 h 31798"/>
              <a:gd name="connsiteX21" fmla="*/ 5177 w 20048"/>
              <a:gd name="connsiteY21" fmla="*/ 3862 h 31798"/>
              <a:gd name="connsiteX22" fmla="*/ 914 w 20048"/>
              <a:gd name="connsiteY22" fmla="*/ 5005 h 31798"/>
              <a:gd name="connsiteX23" fmla="*/ 914 w 20048"/>
              <a:gd name="connsiteY23" fmla="*/ 1313 h 31798"/>
              <a:gd name="connsiteX24" fmla="*/ 5315 w 20048"/>
              <a:gd name="connsiteY24" fmla="*/ 328 h 31798"/>
              <a:gd name="connsiteX25" fmla="*/ 9179 w 20048"/>
              <a:gd name="connsiteY25" fmla="*/ 0 h 31798"/>
              <a:gd name="connsiteX26" fmla="*/ 16602 w 20048"/>
              <a:gd name="connsiteY26" fmla="*/ 2148 h 31798"/>
              <a:gd name="connsiteX27" fmla="*/ 19338 w 20048"/>
              <a:gd name="connsiteY27" fmla="*/ 7941 h 31798"/>
              <a:gd name="connsiteX28" fmla="*/ 17887 w 20048"/>
              <a:gd name="connsiteY28" fmla="*/ 12244 h 31798"/>
              <a:gd name="connsiteX29" fmla="*/ 13769 w 20048"/>
              <a:gd name="connsiteY29" fmla="*/ 14674 h 31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20048" h="31798">
                <a:moveTo>
                  <a:pt x="13769" y="14674"/>
                </a:moveTo>
                <a:cubicBezTo>
                  <a:pt x="15740" y="15099"/>
                  <a:pt x="17278" y="15983"/>
                  <a:pt x="18384" y="17328"/>
                </a:cubicBezTo>
                <a:cubicBezTo>
                  <a:pt x="19493" y="18668"/>
                  <a:pt x="20049" y="20323"/>
                  <a:pt x="20049" y="22294"/>
                </a:cubicBezTo>
                <a:cubicBezTo>
                  <a:pt x="20049" y="25315"/>
                  <a:pt x="19015" y="27656"/>
                  <a:pt x="16948" y="29316"/>
                </a:cubicBezTo>
                <a:cubicBezTo>
                  <a:pt x="14880" y="30971"/>
                  <a:pt x="11943" y="31798"/>
                  <a:pt x="8134" y="31798"/>
                </a:cubicBezTo>
                <a:cubicBezTo>
                  <a:pt x="6859" y="31798"/>
                  <a:pt x="5545" y="31672"/>
                  <a:pt x="4192" y="31417"/>
                </a:cubicBezTo>
                <a:cubicBezTo>
                  <a:pt x="2838" y="31164"/>
                  <a:pt x="1441" y="30783"/>
                  <a:pt x="0" y="30274"/>
                </a:cubicBezTo>
                <a:lnTo>
                  <a:pt x="0" y="26275"/>
                </a:lnTo>
                <a:cubicBezTo>
                  <a:pt x="1140" y="26945"/>
                  <a:pt x="2389" y="27450"/>
                  <a:pt x="3747" y="27792"/>
                </a:cubicBezTo>
                <a:cubicBezTo>
                  <a:pt x="5110" y="28133"/>
                  <a:pt x="6533" y="28304"/>
                  <a:pt x="8017" y="28304"/>
                </a:cubicBezTo>
                <a:cubicBezTo>
                  <a:pt x="10598" y="28304"/>
                  <a:pt x="12565" y="27792"/>
                  <a:pt x="13919" y="26767"/>
                </a:cubicBezTo>
                <a:cubicBezTo>
                  <a:pt x="15272" y="25742"/>
                  <a:pt x="15949" y="24251"/>
                  <a:pt x="15949" y="22294"/>
                </a:cubicBezTo>
                <a:cubicBezTo>
                  <a:pt x="15949" y="20485"/>
                  <a:pt x="15320" y="19073"/>
                  <a:pt x="14062" y="18057"/>
                </a:cubicBezTo>
                <a:cubicBezTo>
                  <a:pt x="12804" y="17036"/>
                  <a:pt x="11055" y="16527"/>
                  <a:pt x="8814" y="16527"/>
                </a:cubicBezTo>
                <a:lnTo>
                  <a:pt x="5262" y="16527"/>
                </a:lnTo>
                <a:lnTo>
                  <a:pt x="5262" y="13117"/>
                </a:lnTo>
                <a:lnTo>
                  <a:pt x="8976" y="13117"/>
                </a:lnTo>
                <a:cubicBezTo>
                  <a:pt x="11000" y="13117"/>
                  <a:pt x="12549" y="12710"/>
                  <a:pt x="13625" y="11895"/>
                </a:cubicBezTo>
                <a:cubicBezTo>
                  <a:pt x="14700" y="11081"/>
                  <a:pt x="15237" y="9908"/>
                  <a:pt x="15237" y="8375"/>
                </a:cubicBezTo>
                <a:cubicBezTo>
                  <a:pt x="15237" y="6803"/>
                  <a:pt x="14683" y="5596"/>
                  <a:pt x="13572" y="4756"/>
                </a:cubicBezTo>
                <a:cubicBezTo>
                  <a:pt x="12467" y="3910"/>
                  <a:pt x="10881" y="3488"/>
                  <a:pt x="8814" y="3488"/>
                </a:cubicBezTo>
                <a:cubicBezTo>
                  <a:pt x="7682" y="3488"/>
                  <a:pt x="6470" y="3613"/>
                  <a:pt x="5177" y="3862"/>
                </a:cubicBezTo>
                <a:cubicBezTo>
                  <a:pt x="3885" y="4107"/>
                  <a:pt x="2464" y="4488"/>
                  <a:pt x="914" y="5005"/>
                </a:cubicBezTo>
                <a:lnTo>
                  <a:pt x="914" y="1313"/>
                </a:lnTo>
                <a:cubicBezTo>
                  <a:pt x="2481" y="876"/>
                  <a:pt x="3947" y="547"/>
                  <a:pt x="5315" y="328"/>
                </a:cubicBezTo>
                <a:cubicBezTo>
                  <a:pt x="6681" y="109"/>
                  <a:pt x="7969" y="0"/>
                  <a:pt x="9179" y="0"/>
                </a:cubicBezTo>
                <a:cubicBezTo>
                  <a:pt x="12309" y="0"/>
                  <a:pt x="14783" y="716"/>
                  <a:pt x="16602" y="2148"/>
                </a:cubicBezTo>
                <a:cubicBezTo>
                  <a:pt x="18425" y="3575"/>
                  <a:pt x="19338" y="5506"/>
                  <a:pt x="19338" y="7941"/>
                </a:cubicBezTo>
                <a:cubicBezTo>
                  <a:pt x="19338" y="9640"/>
                  <a:pt x="18854" y="11074"/>
                  <a:pt x="17887" y="12244"/>
                </a:cubicBezTo>
                <a:cubicBezTo>
                  <a:pt x="16921" y="13413"/>
                  <a:pt x="15549" y="14223"/>
                  <a:pt x="13769" y="14674"/>
                </a:cubicBezTo>
                <a:close/>
              </a:path>
            </a:pathLst>
          </a:custGeom>
          <a:solidFill>
            <a:srgbClr val="606A90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62" name="Freeform 561">
            <a:extLst>
              <a:ext uri="{FF2B5EF4-FFF2-40B4-BE49-F238E27FC236}">
                <a16:creationId xmlns:a16="http://schemas.microsoft.com/office/drawing/2014/main" id="{09985332-3B31-7225-3933-1C9F7C3BA6C7}"/>
              </a:ext>
            </a:extLst>
          </p:cNvPr>
          <p:cNvSpPr/>
          <p:nvPr/>
        </p:nvSpPr>
        <p:spPr>
          <a:xfrm>
            <a:off x="8340319" y="5413899"/>
            <a:ext cx="22874" cy="15863"/>
          </a:xfrm>
          <a:custGeom>
            <a:avLst/>
            <a:gdLst>
              <a:gd name="connsiteX0" fmla="*/ 0 w 22874"/>
              <a:gd name="connsiteY0" fmla="*/ 0 h 15863"/>
              <a:gd name="connsiteX1" fmla="*/ 22874 w 22874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874" h="15863">
                <a:moveTo>
                  <a:pt x="0" y="0"/>
                </a:moveTo>
                <a:lnTo>
                  <a:pt x="22874" y="0"/>
                </a:lnTo>
              </a:path>
            </a:pathLst>
          </a:custGeom>
          <a:noFill/>
          <a:ln w="11352" cap="rnd">
            <a:solidFill>
              <a:srgbClr val="606A90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64" name="Freeform 563">
            <a:extLst>
              <a:ext uri="{FF2B5EF4-FFF2-40B4-BE49-F238E27FC236}">
                <a16:creationId xmlns:a16="http://schemas.microsoft.com/office/drawing/2014/main" id="{86F22C5A-9CE2-38E2-C58F-885BC81E1EDE}"/>
              </a:ext>
            </a:extLst>
          </p:cNvPr>
          <p:cNvSpPr/>
          <p:nvPr/>
        </p:nvSpPr>
        <p:spPr>
          <a:xfrm>
            <a:off x="9824487" y="5363765"/>
            <a:ext cx="36949" cy="36938"/>
          </a:xfrm>
          <a:custGeom>
            <a:avLst/>
            <a:gdLst>
              <a:gd name="connsiteX0" fmla="*/ 18475 w 36949"/>
              <a:gd name="connsiteY0" fmla="*/ 36938 h 36938"/>
              <a:gd name="connsiteX1" fmla="*/ 31539 w 36949"/>
              <a:gd name="connsiteY1" fmla="*/ 31529 h 36938"/>
              <a:gd name="connsiteX2" fmla="*/ 36950 w 36949"/>
              <a:gd name="connsiteY2" fmla="*/ 18469 h 36938"/>
              <a:gd name="connsiteX3" fmla="*/ 31539 w 36949"/>
              <a:gd name="connsiteY3" fmla="*/ 5410 h 36938"/>
              <a:gd name="connsiteX4" fmla="*/ 18475 w 36949"/>
              <a:gd name="connsiteY4" fmla="*/ 0 h 36938"/>
              <a:gd name="connsiteX5" fmla="*/ 5411 w 36949"/>
              <a:gd name="connsiteY5" fmla="*/ 5410 h 36938"/>
              <a:gd name="connsiteX6" fmla="*/ 0 w 36949"/>
              <a:gd name="connsiteY6" fmla="*/ 18469 h 36938"/>
              <a:gd name="connsiteX7" fmla="*/ 5411 w 36949"/>
              <a:gd name="connsiteY7" fmla="*/ 31529 h 36938"/>
              <a:gd name="connsiteX8" fmla="*/ 18475 w 36949"/>
              <a:gd name="connsiteY8" fmla="*/ 36938 h 36938"/>
              <a:gd name="connsiteX9" fmla="*/ 18475 w 36949"/>
              <a:gd name="connsiteY9" fmla="*/ 36938 h 36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949" h="36938">
                <a:moveTo>
                  <a:pt x="18475" y="36938"/>
                </a:moveTo>
                <a:cubicBezTo>
                  <a:pt x="23374" y="36938"/>
                  <a:pt x="28074" y="34993"/>
                  <a:pt x="31539" y="31529"/>
                </a:cubicBezTo>
                <a:cubicBezTo>
                  <a:pt x="35004" y="28066"/>
                  <a:pt x="36950" y="23367"/>
                  <a:pt x="36950" y="18469"/>
                </a:cubicBezTo>
                <a:cubicBezTo>
                  <a:pt x="36950" y="13571"/>
                  <a:pt x="35004" y="8873"/>
                  <a:pt x="31539" y="5410"/>
                </a:cubicBezTo>
                <a:cubicBezTo>
                  <a:pt x="28074" y="1946"/>
                  <a:pt x="23374" y="0"/>
                  <a:pt x="18475" y="0"/>
                </a:cubicBezTo>
                <a:cubicBezTo>
                  <a:pt x="13575" y="0"/>
                  <a:pt x="8875" y="1946"/>
                  <a:pt x="5411" y="5410"/>
                </a:cubicBezTo>
                <a:cubicBezTo>
                  <a:pt x="1947" y="8873"/>
                  <a:pt x="0" y="13571"/>
                  <a:pt x="0" y="18469"/>
                </a:cubicBezTo>
                <a:cubicBezTo>
                  <a:pt x="0" y="23367"/>
                  <a:pt x="1947" y="28066"/>
                  <a:pt x="5411" y="31529"/>
                </a:cubicBezTo>
                <a:cubicBezTo>
                  <a:pt x="8875" y="34993"/>
                  <a:pt x="13575" y="36938"/>
                  <a:pt x="18475" y="36938"/>
                </a:cubicBezTo>
                <a:lnTo>
                  <a:pt x="18475" y="36938"/>
                </a:lnTo>
                <a:close/>
              </a:path>
            </a:pathLst>
          </a:custGeom>
          <a:noFill/>
          <a:ln w="12298" cap="flat">
            <a:solidFill>
              <a:srgbClr val="4E86A8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65" name="Freeform 564">
            <a:extLst>
              <a:ext uri="{FF2B5EF4-FFF2-40B4-BE49-F238E27FC236}">
                <a16:creationId xmlns:a16="http://schemas.microsoft.com/office/drawing/2014/main" id="{3268410B-291C-2043-9885-F06C3205ADD0}"/>
              </a:ext>
            </a:extLst>
          </p:cNvPr>
          <p:cNvSpPr/>
          <p:nvPr/>
        </p:nvSpPr>
        <p:spPr>
          <a:xfrm>
            <a:off x="9857918" y="5381355"/>
            <a:ext cx="36949" cy="36938"/>
          </a:xfrm>
          <a:custGeom>
            <a:avLst/>
            <a:gdLst>
              <a:gd name="connsiteX0" fmla="*/ 18474 w 36949"/>
              <a:gd name="connsiteY0" fmla="*/ 36939 h 36938"/>
              <a:gd name="connsiteX1" fmla="*/ 31539 w 36949"/>
              <a:gd name="connsiteY1" fmla="*/ 31529 h 36938"/>
              <a:gd name="connsiteX2" fmla="*/ 36950 w 36949"/>
              <a:gd name="connsiteY2" fmla="*/ 18469 h 36938"/>
              <a:gd name="connsiteX3" fmla="*/ 31539 w 36949"/>
              <a:gd name="connsiteY3" fmla="*/ 5410 h 36938"/>
              <a:gd name="connsiteX4" fmla="*/ 18474 w 36949"/>
              <a:gd name="connsiteY4" fmla="*/ 0 h 36938"/>
              <a:gd name="connsiteX5" fmla="*/ 5411 w 36949"/>
              <a:gd name="connsiteY5" fmla="*/ 5410 h 36938"/>
              <a:gd name="connsiteX6" fmla="*/ 0 w 36949"/>
              <a:gd name="connsiteY6" fmla="*/ 18469 h 36938"/>
              <a:gd name="connsiteX7" fmla="*/ 5411 w 36949"/>
              <a:gd name="connsiteY7" fmla="*/ 31529 h 36938"/>
              <a:gd name="connsiteX8" fmla="*/ 18474 w 36949"/>
              <a:gd name="connsiteY8" fmla="*/ 36939 h 36938"/>
              <a:gd name="connsiteX9" fmla="*/ 18474 w 36949"/>
              <a:gd name="connsiteY9" fmla="*/ 36939 h 36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949" h="36938">
                <a:moveTo>
                  <a:pt x="18474" y="36939"/>
                </a:moveTo>
                <a:cubicBezTo>
                  <a:pt x="23374" y="36939"/>
                  <a:pt x="28074" y="34993"/>
                  <a:pt x="31539" y="31529"/>
                </a:cubicBezTo>
                <a:cubicBezTo>
                  <a:pt x="35003" y="28066"/>
                  <a:pt x="36950" y="23367"/>
                  <a:pt x="36950" y="18469"/>
                </a:cubicBezTo>
                <a:cubicBezTo>
                  <a:pt x="36950" y="13571"/>
                  <a:pt x="35003" y="8873"/>
                  <a:pt x="31539" y="5410"/>
                </a:cubicBezTo>
                <a:cubicBezTo>
                  <a:pt x="28074" y="1946"/>
                  <a:pt x="23374" y="0"/>
                  <a:pt x="18474" y="0"/>
                </a:cubicBezTo>
                <a:cubicBezTo>
                  <a:pt x="13575" y="0"/>
                  <a:pt x="8875" y="1946"/>
                  <a:pt x="5411" y="5410"/>
                </a:cubicBezTo>
                <a:cubicBezTo>
                  <a:pt x="1946" y="8873"/>
                  <a:pt x="0" y="13571"/>
                  <a:pt x="0" y="18469"/>
                </a:cubicBezTo>
                <a:cubicBezTo>
                  <a:pt x="0" y="23367"/>
                  <a:pt x="1946" y="28066"/>
                  <a:pt x="5411" y="31529"/>
                </a:cubicBezTo>
                <a:cubicBezTo>
                  <a:pt x="8875" y="34993"/>
                  <a:pt x="13575" y="36939"/>
                  <a:pt x="18474" y="36939"/>
                </a:cubicBezTo>
                <a:lnTo>
                  <a:pt x="18474" y="36939"/>
                </a:lnTo>
                <a:close/>
              </a:path>
            </a:pathLst>
          </a:custGeom>
          <a:noFill/>
          <a:ln w="12298" cap="flat">
            <a:solidFill>
              <a:srgbClr val="4E86A8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67" name="Freeform 566">
            <a:extLst>
              <a:ext uri="{FF2B5EF4-FFF2-40B4-BE49-F238E27FC236}">
                <a16:creationId xmlns:a16="http://schemas.microsoft.com/office/drawing/2014/main" id="{43524FD0-4643-0BB1-EFF1-4D287D8BFCCC}"/>
              </a:ext>
            </a:extLst>
          </p:cNvPr>
          <p:cNvSpPr/>
          <p:nvPr/>
        </p:nvSpPr>
        <p:spPr>
          <a:xfrm>
            <a:off x="8303368" y="5581003"/>
            <a:ext cx="81818" cy="15863"/>
          </a:xfrm>
          <a:custGeom>
            <a:avLst/>
            <a:gdLst>
              <a:gd name="connsiteX0" fmla="*/ 0 w 81818"/>
              <a:gd name="connsiteY0" fmla="*/ 0 h 15863"/>
              <a:gd name="connsiteX1" fmla="*/ 81818 w 81818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1818" h="15863">
                <a:moveTo>
                  <a:pt x="0" y="0"/>
                </a:moveTo>
                <a:lnTo>
                  <a:pt x="81818" y="0"/>
                </a:lnTo>
              </a:path>
            </a:pathLst>
          </a:custGeom>
          <a:noFill/>
          <a:ln w="12298" cap="rnd">
            <a:solidFill>
              <a:srgbClr val="C58A2C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68" name="Freeform 567">
            <a:extLst>
              <a:ext uri="{FF2B5EF4-FFF2-40B4-BE49-F238E27FC236}">
                <a16:creationId xmlns:a16="http://schemas.microsoft.com/office/drawing/2014/main" id="{B05027EE-DE2B-247A-F061-1F43D069F34F}"/>
              </a:ext>
            </a:extLst>
          </p:cNvPr>
          <p:cNvSpPr/>
          <p:nvPr/>
        </p:nvSpPr>
        <p:spPr>
          <a:xfrm>
            <a:off x="8303368" y="5610906"/>
            <a:ext cx="81818" cy="15863"/>
          </a:xfrm>
          <a:custGeom>
            <a:avLst/>
            <a:gdLst>
              <a:gd name="connsiteX0" fmla="*/ 0 w 81818"/>
              <a:gd name="connsiteY0" fmla="*/ 0 h 15863"/>
              <a:gd name="connsiteX1" fmla="*/ 81818 w 81818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1818" h="15863">
                <a:moveTo>
                  <a:pt x="0" y="0"/>
                </a:moveTo>
                <a:lnTo>
                  <a:pt x="81818" y="0"/>
                </a:lnTo>
              </a:path>
            </a:pathLst>
          </a:custGeom>
          <a:noFill/>
          <a:ln w="12298" cap="rnd">
            <a:solidFill>
              <a:srgbClr val="C58A2C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69" name="Freeform 568">
            <a:extLst>
              <a:ext uri="{FF2B5EF4-FFF2-40B4-BE49-F238E27FC236}">
                <a16:creationId xmlns:a16="http://schemas.microsoft.com/office/drawing/2014/main" id="{7BFAF244-BBE1-BED5-E754-036878F79953}"/>
              </a:ext>
            </a:extLst>
          </p:cNvPr>
          <p:cNvSpPr/>
          <p:nvPr/>
        </p:nvSpPr>
        <p:spPr>
          <a:xfrm>
            <a:off x="8303368" y="5640808"/>
            <a:ext cx="81818" cy="15863"/>
          </a:xfrm>
          <a:custGeom>
            <a:avLst/>
            <a:gdLst>
              <a:gd name="connsiteX0" fmla="*/ 0 w 81818"/>
              <a:gd name="connsiteY0" fmla="*/ 0 h 15863"/>
              <a:gd name="connsiteX1" fmla="*/ 81818 w 81818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1818" h="15863">
                <a:moveTo>
                  <a:pt x="0" y="0"/>
                </a:moveTo>
                <a:lnTo>
                  <a:pt x="81818" y="0"/>
                </a:lnTo>
              </a:path>
            </a:pathLst>
          </a:custGeom>
          <a:noFill/>
          <a:ln w="12298" cap="rnd">
            <a:solidFill>
              <a:srgbClr val="C58A2C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71" name="Freeform 570">
            <a:extLst>
              <a:ext uri="{FF2B5EF4-FFF2-40B4-BE49-F238E27FC236}">
                <a16:creationId xmlns:a16="http://schemas.microsoft.com/office/drawing/2014/main" id="{930BD37B-A991-4E2F-7C33-EFACB1257DE5}"/>
              </a:ext>
            </a:extLst>
          </p:cNvPr>
          <p:cNvSpPr/>
          <p:nvPr/>
        </p:nvSpPr>
        <p:spPr>
          <a:xfrm>
            <a:off x="9823607" y="5588915"/>
            <a:ext cx="70381" cy="3518"/>
          </a:xfrm>
          <a:custGeom>
            <a:avLst/>
            <a:gdLst>
              <a:gd name="connsiteX0" fmla="*/ 0 w 70381"/>
              <a:gd name="connsiteY0" fmla="*/ 0 h 3518"/>
              <a:gd name="connsiteX1" fmla="*/ 70381 w 70381"/>
              <a:gd name="connsiteY1" fmla="*/ 3518 h 3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0381" h="3518">
                <a:moveTo>
                  <a:pt x="0" y="0"/>
                </a:moveTo>
                <a:lnTo>
                  <a:pt x="70381" y="3518"/>
                </a:lnTo>
              </a:path>
            </a:pathLst>
          </a:custGeom>
          <a:noFill/>
          <a:ln w="10721" cap="sq">
            <a:solidFill>
              <a:srgbClr val="3A8A69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72" name="Freeform 571">
            <a:extLst>
              <a:ext uri="{FF2B5EF4-FFF2-40B4-BE49-F238E27FC236}">
                <a16:creationId xmlns:a16="http://schemas.microsoft.com/office/drawing/2014/main" id="{4FFF63C0-7A6B-C03E-AA83-CA977359269B}"/>
              </a:ext>
            </a:extLst>
          </p:cNvPr>
          <p:cNvSpPr/>
          <p:nvPr/>
        </p:nvSpPr>
        <p:spPr>
          <a:xfrm>
            <a:off x="9862317" y="5592433"/>
            <a:ext cx="31671" cy="54528"/>
          </a:xfrm>
          <a:custGeom>
            <a:avLst/>
            <a:gdLst>
              <a:gd name="connsiteX0" fmla="*/ 31671 w 31671"/>
              <a:gd name="connsiteY0" fmla="*/ 0 h 54528"/>
              <a:gd name="connsiteX1" fmla="*/ 0 w 31671"/>
              <a:gd name="connsiteY1" fmla="*/ 54529 h 5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671" h="54528">
                <a:moveTo>
                  <a:pt x="31671" y="0"/>
                </a:moveTo>
                <a:lnTo>
                  <a:pt x="0" y="54529"/>
                </a:lnTo>
              </a:path>
            </a:pathLst>
          </a:custGeom>
          <a:noFill/>
          <a:ln w="10721" cap="sq">
            <a:solidFill>
              <a:srgbClr val="3A8A69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73" name="Freeform 572">
            <a:extLst>
              <a:ext uri="{FF2B5EF4-FFF2-40B4-BE49-F238E27FC236}">
                <a16:creationId xmlns:a16="http://schemas.microsoft.com/office/drawing/2014/main" id="{05C9D8AB-534C-85AF-2B06-1B6B74C6AD7B}"/>
              </a:ext>
            </a:extLst>
          </p:cNvPr>
          <p:cNvSpPr/>
          <p:nvPr/>
        </p:nvSpPr>
        <p:spPr>
          <a:xfrm>
            <a:off x="9823607" y="5588915"/>
            <a:ext cx="38709" cy="58046"/>
          </a:xfrm>
          <a:custGeom>
            <a:avLst/>
            <a:gdLst>
              <a:gd name="connsiteX0" fmla="*/ 38710 w 38709"/>
              <a:gd name="connsiteY0" fmla="*/ 58047 h 58046"/>
              <a:gd name="connsiteX1" fmla="*/ 0 w 38709"/>
              <a:gd name="connsiteY1" fmla="*/ 0 h 58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8709" h="58046">
                <a:moveTo>
                  <a:pt x="38710" y="58047"/>
                </a:moveTo>
                <a:lnTo>
                  <a:pt x="0" y="0"/>
                </a:lnTo>
              </a:path>
            </a:pathLst>
          </a:custGeom>
          <a:noFill/>
          <a:ln w="10721" cap="sq">
            <a:solidFill>
              <a:srgbClr val="3A8A69"/>
            </a:solidFill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76" name="Freeform 575">
            <a:extLst>
              <a:ext uri="{FF2B5EF4-FFF2-40B4-BE49-F238E27FC236}">
                <a16:creationId xmlns:a16="http://schemas.microsoft.com/office/drawing/2014/main" id="{411F4C93-7FC2-5A6F-8955-0E7598E38FEF}"/>
              </a:ext>
            </a:extLst>
          </p:cNvPr>
          <p:cNvSpPr/>
          <p:nvPr/>
        </p:nvSpPr>
        <p:spPr>
          <a:xfrm>
            <a:off x="8311286" y="5574843"/>
            <a:ext cx="12316" cy="12312"/>
          </a:xfrm>
          <a:custGeom>
            <a:avLst/>
            <a:gdLst>
              <a:gd name="connsiteX0" fmla="*/ 6159 w 12316"/>
              <a:gd name="connsiteY0" fmla="*/ 12313 h 12312"/>
              <a:gd name="connsiteX1" fmla="*/ 10513 w 12316"/>
              <a:gd name="connsiteY1" fmla="*/ 10509 h 12312"/>
              <a:gd name="connsiteX2" fmla="*/ 12317 w 12316"/>
              <a:gd name="connsiteY2" fmla="*/ 6156 h 12312"/>
              <a:gd name="connsiteX3" fmla="*/ 10513 w 12316"/>
              <a:gd name="connsiteY3" fmla="*/ 1803 h 12312"/>
              <a:gd name="connsiteX4" fmla="*/ 6159 w 12316"/>
              <a:gd name="connsiteY4" fmla="*/ 0 h 12312"/>
              <a:gd name="connsiteX5" fmla="*/ 1804 w 12316"/>
              <a:gd name="connsiteY5" fmla="*/ 1803 h 12312"/>
              <a:gd name="connsiteX6" fmla="*/ 0 w 12316"/>
              <a:gd name="connsiteY6" fmla="*/ 6156 h 12312"/>
              <a:gd name="connsiteX7" fmla="*/ 1804 w 12316"/>
              <a:gd name="connsiteY7" fmla="*/ 10509 h 12312"/>
              <a:gd name="connsiteX8" fmla="*/ 6159 w 12316"/>
              <a:gd name="connsiteY8" fmla="*/ 12313 h 12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316" h="12312">
                <a:moveTo>
                  <a:pt x="6159" y="12313"/>
                </a:moveTo>
                <a:cubicBezTo>
                  <a:pt x="7792" y="12313"/>
                  <a:pt x="9358" y="11664"/>
                  <a:pt x="10513" y="10509"/>
                </a:cubicBezTo>
                <a:cubicBezTo>
                  <a:pt x="11668" y="9355"/>
                  <a:pt x="12317" y="7789"/>
                  <a:pt x="12317" y="6156"/>
                </a:cubicBezTo>
                <a:cubicBezTo>
                  <a:pt x="12317" y="4524"/>
                  <a:pt x="11668" y="2958"/>
                  <a:pt x="10513" y="1803"/>
                </a:cubicBezTo>
                <a:cubicBezTo>
                  <a:pt x="9358" y="649"/>
                  <a:pt x="7792" y="0"/>
                  <a:pt x="6159" y="0"/>
                </a:cubicBezTo>
                <a:cubicBezTo>
                  <a:pt x="4526" y="0"/>
                  <a:pt x="2959" y="649"/>
                  <a:pt x="1804" y="1803"/>
                </a:cubicBezTo>
                <a:cubicBezTo>
                  <a:pt x="649" y="2958"/>
                  <a:pt x="0" y="4524"/>
                  <a:pt x="0" y="6156"/>
                </a:cubicBezTo>
                <a:cubicBezTo>
                  <a:pt x="0" y="7789"/>
                  <a:pt x="649" y="9355"/>
                  <a:pt x="1804" y="10509"/>
                </a:cubicBezTo>
                <a:cubicBezTo>
                  <a:pt x="2959" y="11664"/>
                  <a:pt x="4526" y="12313"/>
                  <a:pt x="6159" y="12313"/>
                </a:cubicBezTo>
                <a:close/>
              </a:path>
            </a:pathLst>
          </a:custGeom>
          <a:solidFill>
            <a:srgbClr val="C58A2C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77" name="Freeform 576">
            <a:extLst>
              <a:ext uri="{FF2B5EF4-FFF2-40B4-BE49-F238E27FC236}">
                <a16:creationId xmlns:a16="http://schemas.microsoft.com/office/drawing/2014/main" id="{29A9DC56-3605-5D9A-87C9-1244BD78DFD6}"/>
              </a:ext>
            </a:extLst>
          </p:cNvPr>
          <p:cNvSpPr/>
          <p:nvPr/>
        </p:nvSpPr>
        <p:spPr>
          <a:xfrm>
            <a:off x="8364073" y="5604746"/>
            <a:ext cx="12316" cy="12312"/>
          </a:xfrm>
          <a:custGeom>
            <a:avLst/>
            <a:gdLst>
              <a:gd name="connsiteX0" fmla="*/ 6158 w 12316"/>
              <a:gd name="connsiteY0" fmla="*/ 12313 h 12312"/>
              <a:gd name="connsiteX1" fmla="*/ 10513 w 12316"/>
              <a:gd name="connsiteY1" fmla="*/ 10510 h 12312"/>
              <a:gd name="connsiteX2" fmla="*/ 12317 w 12316"/>
              <a:gd name="connsiteY2" fmla="*/ 6157 h 12312"/>
              <a:gd name="connsiteX3" fmla="*/ 10513 w 12316"/>
              <a:gd name="connsiteY3" fmla="*/ 1803 h 12312"/>
              <a:gd name="connsiteX4" fmla="*/ 6158 w 12316"/>
              <a:gd name="connsiteY4" fmla="*/ 0 h 12312"/>
              <a:gd name="connsiteX5" fmla="*/ 1803 w 12316"/>
              <a:gd name="connsiteY5" fmla="*/ 1803 h 12312"/>
              <a:gd name="connsiteX6" fmla="*/ 0 w 12316"/>
              <a:gd name="connsiteY6" fmla="*/ 6157 h 12312"/>
              <a:gd name="connsiteX7" fmla="*/ 1803 w 12316"/>
              <a:gd name="connsiteY7" fmla="*/ 10510 h 12312"/>
              <a:gd name="connsiteX8" fmla="*/ 6158 w 12316"/>
              <a:gd name="connsiteY8" fmla="*/ 12313 h 12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316" h="12312">
                <a:moveTo>
                  <a:pt x="6158" y="12313"/>
                </a:moveTo>
                <a:cubicBezTo>
                  <a:pt x="7792" y="12313"/>
                  <a:pt x="9357" y="11664"/>
                  <a:pt x="10513" y="10510"/>
                </a:cubicBezTo>
                <a:cubicBezTo>
                  <a:pt x="11668" y="9355"/>
                  <a:pt x="12317" y="7789"/>
                  <a:pt x="12317" y="6157"/>
                </a:cubicBezTo>
                <a:cubicBezTo>
                  <a:pt x="12317" y="4524"/>
                  <a:pt x="11668" y="2958"/>
                  <a:pt x="10513" y="1803"/>
                </a:cubicBezTo>
                <a:cubicBezTo>
                  <a:pt x="9357" y="649"/>
                  <a:pt x="7792" y="0"/>
                  <a:pt x="6158" y="0"/>
                </a:cubicBezTo>
                <a:cubicBezTo>
                  <a:pt x="4525" y="0"/>
                  <a:pt x="2958" y="649"/>
                  <a:pt x="1803" y="1803"/>
                </a:cubicBezTo>
                <a:cubicBezTo>
                  <a:pt x="649" y="2958"/>
                  <a:pt x="0" y="4524"/>
                  <a:pt x="0" y="6157"/>
                </a:cubicBezTo>
                <a:cubicBezTo>
                  <a:pt x="0" y="7789"/>
                  <a:pt x="649" y="9355"/>
                  <a:pt x="1803" y="10510"/>
                </a:cubicBezTo>
                <a:cubicBezTo>
                  <a:pt x="2958" y="11664"/>
                  <a:pt x="4525" y="12313"/>
                  <a:pt x="6158" y="12313"/>
                </a:cubicBezTo>
                <a:close/>
              </a:path>
            </a:pathLst>
          </a:custGeom>
          <a:solidFill>
            <a:srgbClr val="C58A2C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78" name="Freeform 577">
            <a:extLst>
              <a:ext uri="{FF2B5EF4-FFF2-40B4-BE49-F238E27FC236}">
                <a16:creationId xmlns:a16="http://schemas.microsoft.com/office/drawing/2014/main" id="{EB3206C3-D81F-3461-D33F-A955FAFFB79A}"/>
              </a:ext>
            </a:extLst>
          </p:cNvPr>
          <p:cNvSpPr/>
          <p:nvPr/>
        </p:nvSpPr>
        <p:spPr>
          <a:xfrm>
            <a:off x="8311286" y="5634652"/>
            <a:ext cx="12316" cy="12313"/>
          </a:xfrm>
          <a:custGeom>
            <a:avLst/>
            <a:gdLst>
              <a:gd name="connsiteX0" fmla="*/ 6159 w 12316"/>
              <a:gd name="connsiteY0" fmla="*/ 12313 h 12313"/>
              <a:gd name="connsiteX1" fmla="*/ 10513 w 12316"/>
              <a:gd name="connsiteY1" fmla="*/ 10510 h 12313"/>
              <a:gd name="connsiteX2" fmla="*/ 12317 w 12316"/>
              <a:gd name="connsiteY2" fmla="*/ 6157 h 12313"/>
              <a:gd name="connsiteX3" fmla="*/ 10513 w 12316"/>
              <a:gd name="connsiteY3" fmla="*/ 1803 h 12313"/>
              <a:gd name="connsiteX4" fmla="*/ 6159 w 12316"/>
              <a:gd name="connsiteY4" fmla="*/ 0 h 12313"/>
              <a:gd name="connsiteX5" fmla="*/ 1804 w 12316"/>
              <a:gd name="connsiteY5" fmla="*/ 1803 h 12313"/>
              <a:gd name="connsiteX6" fmla="*/ 0 w 12316"/>
              <a:gd name="connsiteY6" fmla="*/ 6157 h 12313"/>
              <a:gd name="connsiteX7" fmla="*/ 1804 w 12316"/>
              <a:gd name="connsiteY7" fmla="*/ 10510 h 12313"/>
              <a:gd name="connsiteX8" fmla="*/ 6159 w 12316"/>
              <a:gd name="connsiteY8" fmla="*/ 12313 h 12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316" h="12313">
                <a:moveTo>
                  <a:pt x="6159" y="12313"/>
                </a:moveTo>
                <a:cubicBezTo>
                  <a:pt x="7792" y="12313"/>
                  <a:pt x="9358" y="11665"/>
                  <a:pt x="10513" y="10510"/>
                </a:cubicBezTo>
                <a:cubicBezTo>
                  <a:pt x="11668" y="9355"/>
                  <a:pt x="12317" y="7790"/>
                  <a:pt x="12317" y="6157"/>
                </a:cubicBezTo>
                <a:cubicBezTo>
                  <a:pt x="12317" y="4524"/>
                  <a:pt x="11668" y="2958"/>
                  <a:pt x="10513" y="1803"/>
                </a:cubicBezTo>
                <a:cubicBezTo>
                  <a:pt x="9358" y="649"/>
                  <a:pt x="7792" y="0"/>
                  <a:pt x="6159" y="0"/>
                </a:cubicBezTo>
                <a:cubicBezTo>
                  <a:pt x="4526" y="0"/>
                  <a:pt x="2959" y="649"/>
                  <a:pt x="1804" y="1803"/>
                </a:cubicBezTo>
                <a:cubicBezTo>
                  <a:pt x="649" y="2958"/>
                  <a:pt x="0" y="4524"/>
                  <a:pt x="0" y="6157"/>
                </a:cubicBezTo>
                <a:cubicBezTo>
                  <a:pt x="0" y="7790"/>
                  <a:pt x="649" y="9355"/>
                  <a:pt x="1804" y="10510"/>
                </a:cubicBezTo>
                <a:cubicBezTo>
                  <a:pt x="2959" y="11665"/>
                  <a:pt x="4526" y="12313"/>
                  <a:pt x="6159" y="12313"/>
                </a:cubicBezTo>
                <a:close/>
              </a:path>
            </a:pathLst>
          </a:custGeom>
          <a:solidFill>
            <a:srgbClr val="C58A2C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79" name="Freeform 578">
            <a:extLst>
              <a:ext uri="{FF2B5EF4-FFF2-40B4-BE49-F238E27FC236}">
                <a16:creationId xmlns:a16="http://schemas.microsoft.com/office/drawing/2014/main" id="{FB55508D-645C-C6B3-D270-8AE114A6004B}"/>
              </a:ext>
            </a:extLst>
          </p:cNvPr>
          <p:cNvSpPr/>
          <p:nvPr/>
        </p:nvSpPr>
        <p:spPr>
          <a:xfrm>
            <a:off x="9811287" y="5576605"/>
            <a:ext cx="24634" cy="24625"/>
          </a:xfrm>
          <a:custGeom>
            <a:avLst/>
            <a:gdLst>
              <a:gd name="connsiteX0" fmla="*/ 12318 w 24634"/>
              <a:gd name="connsiteY0" fmla="*/ 24626 h 24625"/>
              <a:gd name="connsiteX1" fmla="*/ 21026 w 24634"/>
              <a:gd name="connsiteY1" fmla="*/ 21019 h 24625"/>
              <a:gd name="connsiteX2" fmla="*/ 24634 w 24634"/>
              <a:gd name="connsiteY2" fmla="*/ 12313 h 24625"/>
              <a:gd name="connsiteX3" fmla="*/ 21026 w 24634"/>
              <a:gd name="connsiteY3" fmla="*/ 3606 h 24625"/>
              <a:gd name="connsiteX4" fmla="*/ 12318 w 24634"/>
              <a:gd name="connsiteY4" fmla="*/ 0 h 24625"/>
              <a:gd name="connsiteX5" fmla="*/ 3608 w 24634"/>
              <a:gd name="connsiteY5" fmla="*/ 3606 h 24625"/>
              <a:gd name="connsiteX6" fmla="*/ 0 w 24634"/>
              <a:gd name="connsiteY6" fmla="*/ 12313 h 24625"/>
              <a:gd name="connsiteX7" fmla="*/ 3608 w 24634"/>
              <a:gd name="connsiteY7" fmla="*/ 21019 h 24625"/>
              <a:gd name="connsiteX8" fmla="*/ 12318 w 24634"/>
              <a:gd name="connsiteY8" fmla="*/ 24626 h 24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634" h="24625">
                <a:moveTo>
                  <a:pt x="12318" y="24626"/>
                </a:moveTo>
                <a:cubicBezTo>
                  <a:pt x="15584" y="24626"/>
                  <a:pt x="18717" y="23329"/>
                  <a:pt x="21026" y="21019"/>
                </a:cubicBezTo>
                <a:cubicBezTo>
                  <a:pt x="23336" y="18711"/>
                  <a:pt x="24634" y="15578"/>
                  <a:pt x="24634" y="12313"/>
                </a:cubicBezTo>
                <a:cubicBezTo>
                  <a:pt x="24634" y="9047"/>
                  <a:pt x="23336" y="5916"/>
                  <a:pt x="21026" y="3606"/>
                </a:cubicBezTo>
                <a:cubicBezTo>
                  <a:pt x="18717" y="1297"/>
                  <a:pt x="15584" y="0"/>
                  <a:pt x="12318" y="0"/>
                </a:cubicBezTo>
                <a:cubicBezTo>
                  <a:pt x="9050" y="0"/>
                  <a:pt x="5917" y="1297"/>
                  <a:pt x="3608" y="3606"/>
                </a:cubicBezTo>
                <a:cubicBezTo>
                  <a:pt x="1298" y="5916"/>
                  <a:pt x="0" y="9047"/>
                  <a:pt x="0" y="12313"/>
                </a:cubicBezTo>
                <a:cubicBezTo>
                  <a:pt x="0" y="15578"/>
                  <a:pt x="1298" y="18711"/>
                  <a:pt x="3608" y="21019"/>
                </a:cubicBezTo>
                <a:cubicBezTo>
                  <a:pt x="5917" y="23329"/>
                  <a:pt x="9050" y="24626"/>
                  <a:pt x="12318" y="24626"/>
                </a:cubicBezTo>
                <a:close/>
              </a:path>
            </a:pathLst>
          </a:custGeom>
          <a:solidFill>
            <a:srgbClr val="FFFFFF"/>
          </a:solidFill>
          <a:ln w="12298" cap="flat">
            <a:solidFill>
              <a:srgbClr val="3A8A69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80" name="Freeform 579">
            <a:extLst>
              <a:ext uri="{FF2B5EF4-FFF2-40B4-BE49-F238E27FC236}">
                <a16:creationId xmlns:a16="http://schemas.microsoft.com/office/drawing/2014/main" id="{05A629F8-1CFA-D4C3-0807-9731733CCB3A}"/>
              </a:ext>
            </a:extLst>
          </p:cNvPr>
          <p:cNvSpPr/>
          <p:nvPr/>
        </p:nvSpPr>
        <p:spPr>
          <a:xfrm>
            <a:off x="9881672" y="5580123"/>
            <a:ext cx="24633" cy="24625"/>
          </a:xfrm>
          <a:custGeom>
            <a:avLst/>
            <a:gdLst>
              <a:gd name="connsiteX0" fmla="*/ 12317 w 24633"/>
              <a:gd name="connsiteY0" fmla="*/ 24626 h 24625"/>
              <a:gd name="connsiteX1" fmla="*/ 21025 w 24633"/>
              <a:gd name="connsiteY1" fmla="*/ 21019 h 24625"/>
              <a:gd name="connsiteX2" fmla="*/ 24633 w 24633"/>
              <a:gd name="connsiteY2" fmla="*/ 12313 h 24625"/>
              <a:gd name="connsiteX3" fmla="*/ 21025 w 24633"/>
              <a:gd name="connsiteY3" fmla="*/ 3606 h 24625"/>
              <a:gd name="connsiteX4" fmla="*/ 12317 w 24633"/>
              <a:gd name="connsiteY4" fmla="*/ 0 h 24625"/>
              <a:gd name="connsiteX5" fmla="*/ 3607 w 24633"/>
              <a:gd name="connsiteY5" fmla="*/ 3606 h 24625"/>
              <a:gd name="connsiteX6" fmla="*/ 0 w 24633"/>
              <a:gd name="connsiteY6" fmla="*/ 12313 h 24625"/>
              <a:gd name="connsiteX7" fmla="*/ 3607 w 24633"/>
              <a:gd name="connsiteY7" fmla="*/ 21019 h 24625"/>
              <a:gd name="connsiteX8" fmla="*/ 12317 w 24633"/>
              <a:gd name="connsiteY8" fmla="*/ 24626 h 24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633" h="24625">
                <a:moveTo>
                  <a:pt x="12317" y="24626"/>
                </a:moveTo>
                <a:cubicBezTo>
                  <a:pt x="15583" y="24626"/>
                  <a:pt x="18716" y="23328"/>
                  <a:pt x="21025" y="21019"/>
                </a:cubicBezTo>
                <a:cubicBezTo>
                  <a:pt x="23335" y="18710"/>
                  <a:pt x="24633" y="15578"/>
                  <a:pt x="24633" y="12313"/>
                </a:cubicBezTo>
                <a:cubicBezTo>
                  <a:pt x="24633" y="9047"/>
                  <a:pt x="23335" y="5915"/>
                  <a:pt x="21025" y="3606"/>
                </a:cubicBezTo>
                <a:cubicBezTo>
                  <a:pt x="18716" y="1297"/>
                  <a:pt x="15583" y="0"/>
                  <a:pt x="12317" y="0"/>
                </a:cubicBezTo>
                <a:cubicBezTo>
                  <a:pt x="9050" y="0"/>
                  <a:pt x="5917" y="1297"/>
                  <a:pt x="3607" y="3606"/>
                </a:cubicBezTo>
                <a:cubicBezTo>
                  <a:pt x="1297" y="5915"/>
                  <a:pt x="0" y="9047"/>
                  <a:pt x="0" y="12313"/>
                </a:cubicBezTo>
                <a:cubicBezTo>
                  <a:pt x="0" y="15578"/>
                  <a:pt x="1297" y="18710"/>
                  <a:pt x="3607" y="21019"/>
                </a:cubicBezTo>
                <a:cubicBezTo>
                  <a:pt x="5917" y="23328"/>
                  <a:pt x="9050" y="24626"/>
                  <a:pt x="12317" y="24626"/>
                </a:cubicBezTo>
                <a:close/>
              </a:path>
            </a:pathLst>
          </a:custGeom>
          <a:solidFill>
            <a:srgbClr val="FFFFFF"/>
          </a:solidFill>
          <a:ln w="12298" cap="flat">
            <a:solidFill>
              <a:srgbClr val="3A8A69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81" name="Freeform 580">
            <a:extLst>
              <a:ext uri="{FF2B5EF4-FFF2-40B4-BE49-F238E27FC236}">
                <a16:creationId xmlns:a16="http://schemas.microsoft.com/office/drawing/2014/main" id="{466EAF36-1E7C-5461-3D71-AF884742CEDB}"/>
              </a:ext>
            </a:extLst>
          </p:cNvPr>
          <p:cNvSpPr/>
          <p:nvPr/>
        </p:nvSpPr>
        <p:spPr>
          <a:xfrm>
            <a:off x="9849997" y="5634649"/>
            <a:ext cx="24634" cy="24626"/>
          </a:xfrm>
          <a:custGeom>
            <a:avLst/>
            <a:gdLst>
              <a:gd name="connsiteX0" fmla="*/ 12318 w 24634"/>
              <a:gd name="connsiteY0" fmla="*/ 24626 h 24626"/>
              <a:gd name="connsiteX1" fmla="*/ 21026 w 24634"/>
              <a:gd name="connsiteY1" fmla="*/ 21020 h 24626"/>
              <a:gd name="connsiteX2" fmla="*/ 24634 w 24634"/>
              <a:gd name="connsiteY2" fmla="*/ 12313 h 24626"/>
              <a:gd name="connsiteX3" fmla="*/ 21026 w 24634"/>
              <a:gd name="connsiteY3" fmla="*/ 3607 h 24626"/>
              <a:gd name="connsiteX4" fmla="*/ 12318 w 24634"/>
              <a:gd name="connsiteY4" fmla="*/ 0 h 24626"/>
              <a:gd name="connsiteX5" fmla="*/ 3608 w 24634"/>
              <a:gd name="connsiteY5" fmla="*/ 3607 h 24626"/>
              <a:gd name="connsiteX6" fmla="*/ 0 w 24634"/>
              <a:gd name="connsiteY6" fmla="*/ 12313 h 24626"/>
              <a:gd name="connsiteX7" fmla="*/ 3608 w 24634"/>
              <a:gd name="connsiteY7" fmla="*/ 21020 h 24626"/>
              <a:gd name="connsiteX8" fmla="*/ 12318 w 24634"/>
              <a:gd name="connsiteY8" fmla="*/ 24626 h 24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634" h="24626">
                <a:moveTo>
                  <a:pt x="12318" y="24626"/>
                </a:moveTo>
                <a:cubicBezTo>
                  <a:pt x="15584" y="24626"/>
                  <a:pt x="18717" y="23329"/>
                  <a:pt x="21026" y="21020"/>
                </a:cubicBezTo>
                <a:cubicBezTo>
                  <a:pt x="23336" y="18711"/>
                  <a:pt x="24634" y="15579"/>
                  <a:pt x="24634" y="12313"/>
                </a:cubicBezTo>
                <a:cubicBezTo>
                  <a:pt x="24634" y="9048"/>
                  <a:pt x="23336" y="5916"/>
                  <a:pt x="21026" y="3607"/>
                </a:cubicBezTo>
                <a:cubicBezTo>
                  <a:pt x="18717" y="1297"/>
                  <a:pt x="15584" y="0"/>
                  <a:pt x="12318" y="0"/>
                </a:cubicBezTo>
                <a:cubicBezTo>
                  <a:pt x="9050" y="0"/>
                  <a:pt x="5917" y="1297"/>
                  <a:pt x="3608" y="3607"/>
                </a:cubicBezTo>
                <a:cubicBezTo>
                  <a:pt x="1298" y="5916"/>
                  <a:pt x="0" y="9048"/>
                  <a:pt x="0" y="12313"/>
                </a:cubicBezTo>
                <a:cubicBezTo>
                  <a:pt x="0" y="15579"/>
                  <a:pt x="1298" y="18711"/>
                  <a:pt x="3608" y="21020"/>
                </a:cubicBezTo>
                <a:cubicBezTo>
                  <a:pt x="5917" y="23329"/>
                  <a:pt x="9050" y="24626"/>
                  <a:pt x="12318" y="24626"/>
                </a:cubicBezTo>
                <a:close/>
              </a:path>
            </a:pathLst>
          </a:custGeom>
          <a:solidFill>
            <a:srgbClr val="FFFFFF"/>
          </a:solidFill>
          <a:ln w="12298" cap="flat">
            <a:solidFill>
              <a:srgbClr val="3A8A69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582" name="TextBox 581">
            <a:extLst>
              <a:ext uri="{FF2B5EF4-FFF2-40B4-BE49-F238E27FC236}">
                <a16:creationId xmlns:a16="http://schemas.microsoft.com/office/drawing/2014/main" id="{CDD3A628-0590-4119-EFD6-32A0C0F64793}"/>
              </a:ext>
            </a:extLst>
          </p:cNvPr>
          <p:cNvSpPr txBox="1"/>
          <p:nvPr/>
        </p:nvSpPr>
        <p:spPr>
          <a:xfrm>
            <a:off x="7881017" y="3844895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D</a:t>
            </a:r>
          </a:p>
        </p:txBody>
      </p:sp>
      <p:sp>
        <p:nvSpPr>
          <p:cNvPr id="583" name="TextBox 582">
            <a:extLst>
              <a:ext uri="{FF2B5EF4-FFF2-40B4-BE49-F238E27FC236}">
                <a16:creationId xmlns:a16="http://schemas.microsoft.com/office/drawing/2014/main" id="{962E2B81-1519-4736-657A-F752F3E8C00C}"/>
              </a:ext>
            </a:extLst>
          </p:cNvPr>
          <p:cNvSpPr txBox="1"/>
          <p:nvPr/>
        </p:nvSpPr>
        <p:spPr>
          <a:xfrm>
            <a:off x="8145378" y="3896090"/>
            <a:ext cx="29977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Structured interpretation and output </a:t>
            </a:r>
          </a:p>
        </p:txBody>
      </p:sp>
      <p:sp>
        <p:nvSpPr>
          <p:cNvPr id="584" name="TextBox 583">
            <a:extLst>
              <a:ext uri="{FF2B5EF4-FFF2-40B4-BE49-F238E27FC236}">
                <a16:creationId xmlns:a16="http://schemas.microsoft.com/office/drawing/2014/main" id="{2B0E00A1-D530-4100-C784-C87E11C9F7E5}"/>
              </a:ext>
            </a:extLst>
          </p:cNvPr>
          <p:cNvSpPr txBox="1"/>
          <p:nvPr/>
        </p:nvSpPr>
        <p:spPr>
          <a:xfrm>
            <a:off x="8363655" y="4340829"/>
            <a:ext cx="22789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rgbClr val="002060"/>
                </a:solidFill>
              </a:rPr>
              <a:t>Reasoning path decomposition</a:t>
            </a:r>
          </a:p>
        </p:txBody>
      </p:sp>
      <p:cxnSp>
        <p:nvCxnSpPr>
          <p:cNvPr id="586" name="Straight Arrow Connector 585">
            <a:extLst>
              <a:ext uri="{FF2B5EF4-FFF2-40B4-BE49-F238E27FC236}">
                <a16:creationId xmlns:a16="http://schemas.microsoft.com/office/drawing/2014/main" id="{FB7A43A7-4CFA-D345-ABBC-13AC6C17FC6C}"/>
              </a:ext>
            </a:extLst>
          </p:cNvPr>
          <p:cNvCxnSpPr>
            <a:cxnSpLocks/>
          </p:cNvCxnSpPr>
          <p:nvPr/>
        </p:nvCxnSpPr>
        <p:spPr>
          <a:xfrm>
            <a:off x="9313134" y="4790853"/>
            <a:ext cx="266306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7" name="TextBox 586">
            <a:extLst>
              <a:ext uri="{FF2B5EF4-FFF2-40B4-BE49-F238E27FC236}">
                <a16:creationId xmlns:a16="http://schemas.microsoft.com/office/drawing/2014/main" id="{F04034CB-065A-C6BC-FEB5-9002C70633B5}"/>
              </a:ext>
            </a:extLst>
          </p:cNvPr>
          <p:cNvSpPr txBox="1"/>
          <p:nvPr/>
        </p:nvSpPr>
        <p:spPr>
          <a:xfrm>
            <a:off x="10029759" y="4564277"/>
            <a:ext cx="1061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Structured insights (disease, tissue, and cell context) </a:t>
            </a:r>
          </a:p>
        </p:txBody>
      </p:sp>
      <p:sp>
        <p:nvSpPr>
          <p:cNvPr id="588" name="TextBox 587">
            <a:extLst>
              <a:ext uri="{FF2B5EF4-FFF2-40B4-BE49-F238E27FC236}">
                <a16:creationId xmlns:a16="http://schemas.microsoft.com/office/drawing/2014/main" id="{CF20D4D1-66ED-B139-A1D3-AFBF3B9965AE}"/>
              </a:ext>
            </a:extLst>
          </p:cNvPr>
          <p:cNvSpPr txBox="1"/>
          <p:nvPr/>
        </p:nvSpPr>
        <p:spPr>
          <a:xfrm>
            <a:off x="8021597" y="4606413"/>
            <a:ext cx="8193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Unstructured path</a:t>
            </a:r>
          </a:p>
        </p:txBody>
      </p:sp>
      <p:sp>
        <p:nvSpPr>
          <p:cNvPr id="589" name="TextBox 588">
            <a:extLst>
              <a:ext uri="{FF2B5EF4-FFF2-40B4-BE49-F238E27FC236}">
                <a16:creationId xmlns:a16="http://schemas.microsoft.com/office/drawing/2014/main" id="{34AD664C-DA01-5EBC-BE11-1FD1F284BFDC}"/>
              </a:ext>
            </a:extLst>
          </p:cNvPr>
          <p:cNvSpPr txBox="1"/>
          <p:nvPr/>
        </p:nvSpPr>
        <p:spPr>
          <a:xfrm>
            <a:off x="8633037" y="5076483"/>
            <a:ext cx="16270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Output</a:t>
            </a:r>
          </a:p>
        </p:txBody>
      </p:sp>
      <p:sp>
        <p:nvSpPr>
          <p:cNvPr id="590" name="TextBox 589">
            <a:extLst>
              <a:ext uri="{FF2B5EF4-FFF2-40B4-BE49-F238E27FC236}">
                <a16:creationId xmlns:a16="http://schemas.microsoft.com/office/drawing/2014/main" id="{B2CAB938-EC9C-D677-EF72-38DED6688B26}"/>
              </a:ext>
            </a:extLst>
          </p:cNvPr>
          <p:cNvSpPr txBox="1"/>
          <p:nvPr/>
        </p:nvSpPr>
        <p:spPr>
          <a:xfrm>
            <a:off x="8149565" y="5274847"/>
            <a:ext cx="14028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Ranked pathways</a:t>
            </a:r>
          </a:p>
        </p:txBody>
      </p:sp>
      <p:sp>
        <p:nvSpPr>
          <p:cNvPr id="591" name="TextBox 590">
            <a:extLst>
              <a:ext uri="{FF2B5EF4-FFF2-40B4-BE49-F238E27FC236}">
                <a16:creationId xmlns:a16="http://schemas.microsoft.com/office/drawing/2014/main" id="{516CCB6D-B8F3-16E0-AC7C-3AE59C940EF4}"/>
              </a:ext>
            </a:extLst>
          </p:cNvPr>
          <p:cNvSpPr txBox="1"/>
          <p:nvPr/>
        </p:nvSpPr>
        <p:spPr>
          <a:xfrm>
            <a:off x="8048095" y="5509648"/>
            <a:ext cx="14028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Driver genes</a:t>
            </a:r>
          </a:p>
        </p:txBody>
      </p:sp>
      <p:sp>
        <p:nvSpPr>
          <p:cNvPr id="592" name="TextBox 591">
            <a:extLst>
              <a:ext uri="{FF2B5EF4-FFF2-40B4-BE49-F238E27FC236}">
                <a16:creationId xmlns:a16="http://schemas.microsoft.com/office/drawing/2014/main" id="{322D5BCD-2F4D-4E68-2122-FEB789677DE2}"/>
              </a:ext>
            </a:extLst>
          </p:cNvPr>
          <p:cNvSpPr txBox="1"/>
          <p:nvPr/>
        </p:nvSpPr>
        <p:spPr>
          <a:xfrm>
            <a:off x="9671897" y="5280939"/>
            <a:ext cx="14028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Cell/tissue context</a:t>
            </a:r>
          </a:p>
        </p:txBody>
      </p:sp>
      <p:sp>
        <p:nvSpPr>
          <p:cNvPr id="593" name="TextBox 592">
            <a:extLst>
              <a:ext uri="{FF2B5EF4-FFF2-40B4-BE49-F238E27FC236}">
                <a16:creationId xmlns:a16="http://schemas.microsoft.com/office/drawing/2014/main" id="{B43976F6-86B6-186E-8CC1-558D5E332010}"/>
              </a:ext>
            </a:extLst>
          </p:cNvPr>
          <p:cNvSpPr txBox="1"/>
          <p:nvPr/>
        </p:nvSpPr>
        <p:spPr>
          <a:xfrm>
            <a:off x="9723166" y="5526390"/>
            <a:ext cx="14028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Mechanistic themes</a:t>
            </a:r>
          </a:p>
        </p:txBody>
      </p:sp>
      <p:sp>
        <p:nvSpPr>
          <p:cNvPr id="594" name="TextBox 593">
            <a:extLst>
              <a:ext uri="{FF2B5EF4-FFF2-40B4-BE49-F238E27FC236}">
                <a16:creationId xmlns:a16="http://schemas.microsoft.com/office/drawing/2014/main" id="{7CE07E53-B018-E51E-54EC-4720D1580EAD}"/>
              </a:ext>
            </a:extLst>
          </p:cNvPr>
          <p:cNvSpPr txBox="1"/>
          <p:nvPr/>
        </p:nvSpPr>
        <p:spPr>
          <a:xfrm>
            <a:off x="8291647" y="5817462"/>
            <a:ext cx="235824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rgbClr val="7030A0"/>
                </a:solidFill>
              </a:rPr>
              <a:t>Pathways and biological interpretations </a:t>
            </a:r>
          </a:p>
        </p:txBody>
      </p:sp>
      <p:sp>
        <p:nvSpPr>
          <p:cNvPr id="595" name="Freeform 594">
            <a:extLst>
              <a:ext uri="{FF2B5EF4-FFF2-40B4-BE49-F238E27FC236}">
                <a16:creationId xmlns:a16="http://schemas.microsoft.com/office/drawing/2014/main" id="{53934DFF-6ED2-5337-8577-273C233847D8}"/>
              </a:ext>
            </a:extLst>
          </p:cNvPr>
          <p:cNvSpPr/>
          <p:nvPr/>
        </p:nvSpPr>
        <p:spPr>
          <a:xfrm>
            <a:off x="8149562" y="5801602"/>
            <a:ext cx="2586512" cy="15863"/>
          </a:xfrm>
          <a:custGeom>
            <a:avLst/>
            <a:gdLst>
              <a:gd name="connsiteX0" fmla="*/ 0 w 2586512"/>
              <a:gd name="connsiteY0" fmla="*/ 0 h 15863"/>
              <a:gd name="connsiteX1" fmla="*/ 2586512 w 2586512"/>
              <a:gd name="connsiteY1" fmla="*/ 0 h 1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86512" h="15863">
                <a:moveTo>
                  <a:pt x="0" y="0"/>
                </a:moveTo>
                <a:lnTo>
                  <a:pt x="2586512" y="0"/>
                </a:lnTo>
              </a:path>
            </a:pathLst>
          </a:custGeom>
          <a:noFill/>
          <a:ln w="22073" cap="rnd">
            <a:solidFill>
              <a:srgbClr val="7030A0"/>
            </a:solidFill>
            <a:prstDash val="solid"/>
            <a:round/>
          </a:ln>
        </p:spPr>
        <p:txBody>
          <a:bodyPr rtlCol="0" anchor="ctr"/>
          <a:lstStyle/>
          <a:p>
            <a:endParaRPr lang="en-CN">
              <a:highlight>
                <a:srgbClr val="FFFF00"/>
              </a:highlight>
            </a:endParaRPr>
          </a:p>
        </p:txBody>
      </p:sp>
      <p:sp>
        <p:nvSpPr>
          <p:cNvPr id="596" name="TextBox 595">
            <a:extLst>
              <a:ext uri="{FF2B5EF4-FFF2-40B4-BE49-F238E27FC236}">
                <a16:creationId xmlns:a16="http://schemas.microsoft.com/office/drawing/2014/main" id="{9ACA0FE1-313B-8DA4-6A2B-78C44C27A1BF}"/>
              </a:ext>
            </a:extLst>
          </p:cNvPr>
          <p:cNvSpPr txBox="1"/>
          <p:nvPr/>
        </p:nvSpPr>
        <p:spPr>
          <a:xfrm>
            <a:off x="5202039" y="6106914"/>
            <a:ext cx="6942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Figure 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32451C-8065-7322-F328-ECCA74FE6FFB}"/>
              </a:ext>
            </a:extLst>
          </p:cNvPr>
          <p:cNvSpPr txBox="1"/>
          <p:nvPr/>
        </p:nvSpPr>
        <p:spPr>
          <a:xfrm>
            <a:off x="687069" y="5019084"/>
            <a:ext cx="11913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Functional convergence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723F19-653A-9A54-7C66-CB94FFDB8FEB}"/>
              </a:ext>
            </a:extLst>
          </p:cNvPr>
          <p:cNvSpPr txBox="1"/>
          <p:nvPr/>
        </p:nvSpPr>
        <p:spPr>
          <a:xfrm>
            <a:off x="2082954" y="5001719"/>
            <a:ext cx="13090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Pathway database overlap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F7E52E-7743-6918-0513-696F83ADF8DC}"/>
              </a:ext>
            </a:extLst>
          </p:cNvPr>
          <p:cNvSpPr txBox="1"/>
          <p:nvPr/>
        </p:nvSpPr>
        <p:spPr>
          <a:xfrm>
            <a:off x="640994" y="5203641"/>
            <a:ext cx="13166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Mechanistic relationship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98C9F6-C7D0-7E53-03EE-8AFA28E9E4E4}"/>
              </a:ext>
            </a:extLst>
          </p:cNvPr>
          <p:cNvSpPr txBox="1"/>
          <p:nvPr/>
        </p:nvSpPr>
        <p:spPr>
          <a:xfrm>
            <a:off x="1959597" y="5200930"/>
            <a:ext cx="11164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    Disease relevance</a:t>
            </a:r>
          </a:p>
        </p:txBody>
      </p:sp>
      <p:cxnSp>
        <p:nvCxnSpPr>
          <p:cNvPr id="14" name="F1x-bus-004">
            <a:extLst>
              <a:ext uri="{FF2B5EF4-FFF2-40B4-BE49-F238E27FC236}">
                <a16:creationId xmlns:a16="http://schemas.microsoft.com/office/drawing/2014/main" id="{A3267C90-59B3-09EA-F98C-2567544993FF}"/>
              </a:ext>
            </a:extLst>
          </p:cNvPr>
          <p:cNvCxnSpPr/>
          <p:nvPr/>
        </p:nvCxnSpPr>
        <p:spPr>
          <a:xfrm>
            <a:off x="2863914" y="1072266"/>
            <a:ext cx="59796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F1x-bus-stem-005">
            <a:extLst>
              <a:ext uri="{FF2B5EF4-FFF2-40B4-BE49-F238E27FC236}">
                <a16:creationId xmlns:a16="http://schemas.microsoft.com/office/drawing/2014/main" id="{9E2A93D5-8C29-BE21-A06C-DA5D0E2F67A1}"/>
              </a:ext>
            </a:extLst>
          </p:cNvPr>
          <p:cNvCxnSpPr>
            <a:cxnSpLocks/>
          </p:cNvCxnSpPr>
          <p:nvPr/>
        </p:nvCxnSpPr>
        <p:spPr>
          <a:xfrm>
            <a:off x="5880714" y="892401"/>
            <a:ext cx="0" cy="17526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1x-dispatch-rank-008">
            <a:extLst>
              <a:ext uri="{FF2B5EF4-FFF2-40B4-BE49-F238E27FC236}">
                <a16:creationId xmlns:a16="http://schemas.microsoft.com/office/drawing/2014/main" id="{3D83BA91-3B2E-83AE-4FBE-2C7DC2D07DFE}"/>
              </a:ext>
            </a:extLst>
          </p:cNvPr>
          <p:cNvCxnSpPr>
            <a:cxnSpLocks/>
          </p:cNvCxnSpPr>
          <p:nvPr/>
        </p:nvCxnSpPr>
        <p:spPr>
          <a:xfrm>
            <a:off x="6751653" y="1075281"/>
            <a:ext cx="2061" cy="161579"/>
          </a:xfrm>
          <a:prstGeom prst="line">
            <a:avLst/>
          </a:prstGeom>
          <a:ln w="12700">
            <a:solidFill>
              <a:schemeClr val="tx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1x-dispatch-rank-008">
            <a:extLst>
              <a:ext uri="{FF2B5EF4-FFF2-40B4-BE49-F238E27FC236}">
                <a16:creationId xmlns:a16="http://schemas.microsoft.com/office/drawing/2014/main" id="{5FA9EB07-68FB-0D80-F408-D73203F5274C}"/>
              </a:ext>
            </a:extLst>
          </p:cNvPr>
          <p:cNvCxnSpPr>
            <a:cxnSpLocks/>
          </p:cNvCxnSpPr>
          <p:nvPr/>
        </p:nvCxnSpPr>
        <p:spPr>
          <a:xfrm>
            <a:off x="8843187" y="1069566"/>
            <a:ext cx="2061" cy="161579"/>
          </a:xfrm>
          <a:prstGeom prst="line">
            <a:avLst/>
          </a:prstGeom>
          <a:ln w="12700">
            <a:solidFill>
              <a:schemeClr val="tx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1x-dispatch-rank-008">
            <a:extLst>
              <a:ext uri="{FF2B5EF4-FFF2-40B4-BE49-F238E27FC236}">
                <a16:creationId xmlns:a16="http://schemas.microsoft.com/office/drawing/2014/main" id="{79DEF6CD-53C9-DB8C-2920-06E59DE44D6D}"/>
              </a:ext>
            </a:extLst>
          </p:cNvPr>
          <p:cNvCxnSpPr>
            <a:cxnSpLocks/>
          </p:cNvCxnSpPr>
          <p:nvPr/>
        </p:nvCxnSpPr>
        <p:spPr>
          <a:xfrm>
            <a:off x="2862081" y="1069220"/>
            <a:ext cx="2061" cy="161579"/>
          </a:xfrm>
          <a:prstGeom prst="line">
            <a:avLst/>
          </a:prstGeom>
          <a:ln w="12700">
            <a:solidFill>
              <a:schemeClr val="tx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1x-dispatch-rank-008">
            <a:extLst>
              <a:ext uri="{FF2B5EF4-FFF2-40B4-BE49-F238E27FC236}">
                <a16:creationId xmlns:a16="http://schemas.microsoft.com/office/drawing/2014/main" id="{A6AC1F37-5510-087D-7890-62948502968E}"/>
              </a:ext>
            </a:extLst>
          </p:cNvPr>
          <p:cNvCxnSpPr>
            <a:cxnSpLocks/>
          </p:cNvCxnSpPr>
          <p:nvPr/>
        </p:nvCxnSpPr>
        <p:spPr>
          <a:xfrm>
            <a:off x="4761772" y="1078140"/>
            <a:ext cx="2061" cy="161579"/>
          </a:xfrm>
          <a:prstGeom prst="line">
            <a:avLst/>
          </a:prstGeom>
          <a:ln w="12700">
            <a:solidFill>
              <a:schemeClr val="tx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reeform 19">
            <a:extLst>
              <a:ext uri="{FF2B5EF4-FFF2-40B4-BE49-F238E27FC236}">
                <a16:creationId xmlns:a16="http://schemas.microsoft.com/office/drawing/2014/main" id="{8210327C-2090-C298-8329-0EFDEB09E0E8}"/>
              </a:ext>
            </a:extLst>
          </p:cNvPr>
          <p:cNvSpPr/>
          <p:nvPr/>
        </p:nvSpPr>
        <p:spPr>
          <a:xfrm>
            <a:off x="5323723" y="550009"/>
            <a:ext cx="1120821" cy="320135"/>
          </a:xfrm>
          <a:custGeom>
            <a:avLst/>
            <a:gdLst>
              <a:gd name="connsiteX0" fmla="*/ 5279 w 1120821"/>
              <a:gd name="connsiteY0" fmla="*/ 320135 h 320135"/>
              <a:gd name="connsiteX1" fmla="*/ 1115543 w 1120821"/>
              <a:gd name="connsiteY1" fmla="*/ 320135 h 320135"/>
              <a:gd name="connsiteX2" fmla="*/ 1120822 w 1120821"/>
              <a:gd name="connsiteY2" fmla="*/ 314858 h 320135"/>
              <a:gd name="connsiteX3" fmla="*/ 1120822 w 1120821"/>
              <a:gd name="connsiteY3" fmla="*/ 5277 h 320135"/>
              <a:gd name="connsiteX4" fmla="*/ 1115543 w 1120821"/>
              <a:gd name="connsiteY4" fmla="*/ 0 h 320135"/>
              <a:gd name="connsiteX5" fmla="*/ 5279 w 1120821"/>
              <a:gd name="connsiteY5" fmla="*/ 0 h 320135"/>
              <a:gd name="connsiteX6" fmla="*/ 0 w 1120821"/>
              <a:gd name="connsiteY6" fmla="*/ 5277 h 320135"/>
              <a:gd name="connsiteX7" fmla="*/ 0 w 1120821"/>
              <a:gd name="connsiteY7" fmla="*/ 314858 h 320135"/>
              <a:gd name="connsiteX8" fmla="*/ 5279 w 1120821"/>
              <a:gd name="connsiteY8" fmla="*/ 320135 h 320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0821" h="320135">
                <a:moveTo>
                  <a:pt x="5279" y="320135"/>
                </a:moveTo>
                <a:lnTo>
                  <a:pt x="1115543" y="320135"/>
                </a:lnTo>
                <a:cubicBezTo>
                  <a:pt x="1119062" y="320135"/>
                  <a:pt x="1120822" y="318376"/>
                  <a:pt x="1120822" y="314858"/>
                </a:cubicBezTo>
                <a:lnTo>
                  <a:pt x="1120822" y="5277"/>
                </a:lnTo>
                <a:cubicBezTo>
                  <a:pt x="1120822" y="1759"/>
                  <a:pt x="1119062" y="0"/>
                  <a:pt x="1115543" y="0"/>
                </a:cubicBezTo>
                <a:lnTo>
                  <a:pt x="5279" y="0"/>
                </a:lnTo>
                <a:cubicBezTo>
                  <a:pt x="1760" y="0"/>
                  <a:pt x="0" y="1759"/>
                  <a:pt x="0" y="5277"/>
                </a:cubicBezTo>
                <a:lnTo>
                  <a:pt x="0" y="314858"/>
                </a:lnTo>
                <a:cubicBezTo>
                  <a:pt x="0" y="318376"/>
                  <a:pt x="1760" y="320135"/>
                  <a:pt x="5279" y="320135"/>
                </a:cubicBezTo>
                <a:close/>
              </a:path>
            </a:pathLst>
          </a:custGeom>
          <a:solidFill>
            <a:srgbClr val="F0F0F0"/>
          </a:solidFill>
          <a:ln w="15766" cap="flat">
            <a:noFill/>
            <a:prstDash val="solid"/>
            <a:round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21" name="F1x-orch-title-002">
            <a:extLst>
              <a:ext uri="{FF2B5EF4-FFF2-40B4-BE49-F238E27FC236}">
                <a16:creationId xmlns:a16="http://schemas.microsoft.com/office/drawing/2014/main" id="{533440B2-B4E3-E555-BD6D-83A8509DDDFC}"/>
              </a:ext>
            </a:extLst>
          </p:cNvPr>
          <p:cNvSpPr txBox="1"/>
          <p:nvPr/>
        </p:nvSpPr>
        <p:spPr>
          <a:xfrm>
            <a:off x="5549541" y="612923"/>
            <a:ext cx="773776" cy="19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dirty="0">
                <a:solidFill>
                  <a:srgbClr val="262626"/>
                </a:solidFill>
              </a:rPr>
              <a:t>Orchestrator</a:t>
            </a:r>
          </a:p>
        </p:txBody>
      </p:sp>
      <p:sp>
        <p:nvSpPr>
          <p:cNvPr id="22" name="F1x-tools-label-010">
            <a:extLst>
              <a:ext uri="{FF2B5EF4-FFF2-40B4-BE49-F238E27FC236}">
                <a16:creationId xmlns:a16="http://schemas.microsoft.com/office/drawing/2014/main" id="{B4A80614-75F5-A1B0-0C49-29F909DEB451}"/>
              </a:ext>
            </a:extLst>
          </p:cNvPr>
          <p:cNvSpPr txBox="1"/>
          <p:nvPr/>
        </p:nvSpPr>
        <p:spPr>
          <a:xfrm>
            <a:off x="6721487" y="3256784"/>
            <a:ext cx="959918" cy="1904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dirty="0">
                <a:solidFill>
                  <a:srgbClr val="262626"/>
                </a:solidFill>
              </a:rPr>
              <a:t>External tools</a:t>
            </a: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A2AE09FB-08E5-FEAC-8B54-684DE37F48E6}"/>
              </a:ext>
            </a:extLst>
          </p:cNvPr>
          <p:cNvSpPr/>
          <p:nvPr/>
        </p:nvSpPr>
        <p:spPr>
          <a:xfrm>
            <a:off x="7654811" y="3089602"/>
            <a:ext cx="1072527" cy="559066"/>
          </a:xfrm>
          <a:custGeom>
            <a:avLst/>
            <a:gdLst>
              <a:gd name="connsiteX0" fmla="*/ 8797 w 742521"/>
              <a:gd name="connsiteY0" fmla="*/ 654343 h 654342"/>
              <a:gd name="connsiteX1" fmla="*/ 733724 w 742521"/>
              <a:gd name="connsiteY1" fmla="*/ 654343 h 654342"/>
              <a:gd name="connsiteX2" fmla="*/ 742522 w 742521"/>
              <a:gd name="connsiteY2" fmla="*/ 645548 h 654342"/>
              <a:gd name="connsiteX3" fmla="*/ 742522 w 742521"/>
              <a:gd name="connsiteY3" fmla="*/ 8795 h 654342"/>
              <a:gd name="connsiteX4" fmla="*/ 733724 w 742521"/>
              <a:gd name="connsiteY4" fmla="*/ 0 h 654342"/>
              <a:gd name="connsiteX5" fmla="*/ 8797 w 742521"/>
              <a:gd name="connsiteY5" fmla="*/ 0 h 654342"/>
              <a:gd name="connsiteX6" fmla="*/ 0 w 742521"/>
              <a:gd name="connsiteY6" fmla="*/ 8795 h 654342"/>
              <a:gd name="connsiteX7" fmla="*/ 0 w 742521"/>
              <a:gd name="connsiteY7" fmla="*/ 645548 h 654342"/>
              <a:gd name="connsiteX8" fmla="*/ 8797 w 742521"/>
              <a:gd name="connsiteY8" fmla="*/ 654343 h 654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2521" h="654342">
                <a:moveTo>
                  <a:pt x="8797" y="654343"/>
                </a:moveTo>
                <a:lnTo>
                  <a:pt x="733724" y="654343"/>
                </a:lnTo>
                <a:cubicBezTo>
                  <a:pt x="739590" y="654343"/>
                  <a:pt x="742522" y="651411"/>
                  <a:pt x="742522" y="645548"/>
                </a:cubicBezTo>
                <a:lnTo>
                  <a:pt x="742522" y="8795"/>
                </a:lnTo>
                <a:cubicBezTo>
                  <a:pt x="742522" y="2932"/>
                  <a:pt x="739590" y="0"/>
                  <a:pt x="733724" y="0"/>
                </a:cubicBezTo>
                <a:lnTo>
                  <a:pt x="8797" y="0"/>
                </a:lnTo>
                <a:cubicBezTo>
                  <a:pt x="2932" y="0"/>
                  <a:pt x="0" y="2932"/>
                  <a:pt x="0" y="8795"/>
                </a:cubicBezTo>
                <a:lnTo>
                  <a:pt x="0" y="645548"/>
                </a:lnTo>
                <a:cubicBezTo>
                  <a:pt x="0" y="651411"/>
                  <a:pt x="2932" y="654343"/>
                  <a:pt x="8797" y="654343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145" cap="flat">
            <a:solidFill>
              <a:srgbClr val="5A5A5A"/>
            </a:solidFill>
            <a:prstDash val="solid"/>
            <a:miter/>
          </a:ln>
        </p:spPr>
        <p:txBody>
          <a:bodyPr rtlCol="0" anchor="ctr"/>
          <a:lstStyle/>
          <a:p>
            <a:endParaRPr lang="en-CN"/>
          </a:p>
        </p:txBody>
      </p:sp>
      <p:sp>
        <p:nvSpPr>
          <p:cNvPr id="27" name="F1x-tool-name-014">
            <a:extLst>
              <a:ext uri="{FF2B5EF4-FFF2-40B4-BE49-F238E27FC236}">
                <a16:creationId xmlns:a16="http://schemas.microsoft.com/office/drawing/2014/main" id="{4C362BDC-98B3-2688-712A-5A5B858E5C18}"/>
              </a:ext>
            </a:extLst>
          </p:cNvPr>
          <p:cNvSpPr txBox="1"/>
          <p:nvPr/>
        </p:nvSpPr>
        <p:spPr>
          <a:xfrm>
            <a:off x="7733135" y="3125174"/>
            <a:ext cx="950430" cy="17068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dirty="0">
                <a:solidFill>
                  <a:srgbClr val="262626"/>
                </a:solidFill>
              </a:rPr>
              <a:t>Pathway databases</a:t>
            </a:r>
          </a:p>
        </p:txBody>
      </p:sp>
      <p:sp>
        <p:nvSpPr>
          <p:cNvPr id="30" name="F1x-tool-name-019">
            <a:extLst>
              <a:ext uri="{FF2B5EF4-FFF2-40B4-BE49-F238E27FC236}">
                <a16:creationId xmlns:a16="http://schemas.microsoft.com/office/drawing/2014/main" id="{D3421AE3-ADA2-EAEA-DC0D-C2FBE416855E}"/>
              </a:ext>
            </a:extLst>
          </p:cNvPr>
          <p:cNvSpPr txBox="1"/>
          <p:nvPr/>
        </p:nvSpPr>
        <p:spPr>
          <a:xfrm>
            <a:off x="7741547" y="3284296"/>
            <a:ext cx="684988" cy="1818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dirty="0" err="1">
                <a:solidFill>
                  <a:srgbClr val="262626"/>
                </a:solidFill>
              </a:rPr>
              <a:t>g:Profiler</a:t>
            </a:r>
            <a:endParaRPr sz="850" b="1" dirty="0">
              <a:solidFill>
                <a:srgbClr val="262626"/>
              </a:solidFill>
            </a:endParaRPr>
          </a:p>
        </p:txBody>
      </p:sp>
      <p:sp>
        <p:nvSpPr>
          <p:cNvPr id="31" name="F1x-tool-name-024">
            <a:extLst>
              <a:ext uri="{FF2B5EF4-FFF2-40B4-BE49-F238E27FC236}">
                <a16:creationId xmlns:a16="http://schemas.microsoft.com/office/drawing/2014/main" id="{CBD61329-6A00-E490-930D-5FEE328DF9CA}"/>
              </a:ext>
            </a:extLst>
          </p:cNvPr>
          <p:cNvSpPr txBox="1"/>
          <p:nvPr/>
        </p:nvSpPr>
        <p:spPr>
          <a:xfrm>
            <a:off x="7743238" y="3479012"/>
            <a:ext cx="484258" cy="17841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dirty="0">
                <a:solidFill>
                  <a:srgbClr val="262626"/>
                </a:solidFill>
              </a:rPr>
              <a:t>PubMed</a:t>
            </a:r>
          </a:p>
        </p:txBody>
      </p:sp>
    </p:spTree>
    <p:extLst>
      <p:ext uri="{BB962C8B-B14F-4D97-AF65-F5344CB8AC3E}">
        <p14:creationId xmlns:p14="http://schemas.microsoft.com/office/powerpoint/2010/main" val="358436106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1579</TotalTime>
  <Words>245</Words>
  <Application>Microsoft Macintosh PowerPoint</Application>
  <DocSecurity>0</DocSecurity>
  <PresentationFormat>Custom</PresentationFormat>
  <Paragraphs>72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Zhao, Bingxin</cp:lastModifiedBy>
  <cp:revision>289</cp:revision>
  <dcterms:created xsi:type="dcterms:W3CDTF">2026-06-22T13:33:58Z</dcterms:created>
  <dcterms:modified xsi:type="dcterms:W3CDTF">2026-08-22T20:12:10Z</dcterms:modified>
</cp:coreProperties>
</file>