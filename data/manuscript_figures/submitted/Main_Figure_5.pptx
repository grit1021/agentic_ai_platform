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583363" cy="618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93"/>
    <p:restoredTop sz="94767"/>
  </p:normalViewPr>
  <p:slideViewPr>
    <p:cSldViewPr snapToGrid="0" snapToObjects="1">
      <p:cViewPr>
        <p:scale>
          <a:sx n="304" d="100"/>
          <a:sy n="304" d="100"/>
        </p:scale>
        <p:origin x="-5176" y="-59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A3DEE8-4F37-4C48-AC96-559C20343B59}" type="datetimeFigureOut">
              <a:rPr lang="en-CN" smtClean="0"/>
              <a:t>2026/9/21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85938" y="1143000"/>
            <a:ext cx="3286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304D92-3E9C-4545-9CFF-9FABE7ED787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3535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304D92-3E9C-4545-9CFF-9FABE7ED787D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87590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5100" y="114300"/>
            <a:ext cx="1778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4300"/>
            <a:ext cx="4064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00000"/>
                </a:solidFill>
                <a:latin typeface="Arial"/>
              </a:rPr>
              <a:t>Overview of the autism spectrum disorder run (436 input genes)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81000" y="285750"/>
            <a:ext cx="5969000" cy="1270"/>
          </a:xfrm>
          <a:prstGeom prst="rect">
            <a:avLst/>
          </a:prstGeom>
          <a:noFill/>
          <a:ln w="7620">
            <a:solidFill>
              <a:srgbClr val="C9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81000" y="381000"/>
            <a:ext cx="13462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Input genes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488950"/>
            <a:ext cx="134620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431 / 436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000" y="673100"/>
            <a:ext cx="13462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genes recognized;</a:t>
            </a:r>
          </a:p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5 unresolved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1615440" y="574040"/>
            <a:ext cx="99060" cy="48260"/>
          </a:xfrm>
          <a:prstGeom prst="rightArrow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17700" y="381000"/>
            <a:ext cx="13462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Pathway hypotheses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7700" y="488950"/>
            <a:ext cx="134620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17700" y="673100"/>
            <a:ext cx="13462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generated in total, across</a:t>
            </a:r>
          </a:p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two prompt passes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1340" y="577850"/>
            <a:ext cx="99060" cy="48260"/>
          </a:xfrm>
          <a:prstGeom prst="rightArrow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54400" y="381000"/>
            <a:ext cx="13462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Validated pathways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4400" y="488950"/>
            <a:ext cx="134620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4400" y="673100"/>
            <a:ext cx="13462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significant after enrichment</a:t>
            </a:r>
          </a:p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testing in five databases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663853" y="571500"/>
            <a:ext cx="99060" cy="48260"/>
          </a:xfrm>
          <a:prstGeom prst="rightArrow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91100" y="381000"/>
            <a:ext cx="13462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Cell-type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1100" y="488950"/>
            <a:ext cx="1346200" cy="1651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1" i="0">
                <a:solidFill>
                  <a:srgbClr val="000000"/>
                </a:solidFill>
                <a:latin typeface="Arial"/>
              </a:rPr>
              <a:t>60 / 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1100" y="673100"/>
            <a:ext cx="1346200" cy="1397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validated pathways carry a</a:t>
            </a:r>
          </a:p>
          <a:p>
            <a:pPr algn="l">
              <a:lnSpc>
                <a:spcPct val="105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cell- or tissue-context statement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" y="965200"/>
            <a:ext cx="2667000" cy="95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Validated pathways per database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1000" y="1079500"/>
            <a:ext cx="2819400" cy="1270"/>
          </a:xfrm>
          <a:prstGeom prst="rect">
            <a:avLst/>
          </a:prstGeom>
          <a:noFill/>
          <a:ln w="762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81000" y="114300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GO:BP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7400" y="1163320"/>
            <a:ext cx="939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87400" y="1163320"/>
            <a:ext cx="939800" cy="38100"/>
          </a:xfrm>
          <a:prstGeom prst="rect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765300" y="1143000"/>
            <a:ext cx="1524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" y="125222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GO:MF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7400" y="1272540"/>
            <a:ext cx="939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87400" y="1272540"/>
            <a:ext cx="537029" cy="38100"/>
          </a:xfrm>
          <a:prstGeom prst="rect">
            <a:avLst/>
          </a:prstGeom>
          <a:solidFill>
            <a:srgbClr val="C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65300" y="1252220"/>
            <a:ext cx="1524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1000" y="136144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GO:CC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7400" y="1381760"/>
            <a:ext cx="939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87400" y="1381760"/>
            <a:ext cx="537029" cy="38100"/>
          </a:xfrm>
          <a:prstGeom prst="rect">
            <a:avLst/>
          </a:prstGeom>
          <a:solidFill>
            <a:srgbClr val="4A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65300" y="1361440"/>
            <a:ext cx="1524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147066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KEGG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7400" y="1490980"/>
            <a:ext cx="939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87400" y="1490980"/>
            <a:ext cx="402771" cy="38100"/>
          </a:xfrm>
          <a:prstGeom prst="rect">
            <a:avLst/>
          </a:prstGeom>
          <a:solidFill>
            <a:srgbClr val="835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765300" y="1470660"/>
            <a:ext cx="1524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1000" y="157988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REAC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7400" y="1600200"/>
            <a:ext cx="939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87400" y="1600200"/>
            <a:ext cx="268514" cy="38100"/>
          </a:xfrm>
          <a:prstGeom prst="rect">
            <a:avLst/>
          </a:prstGeom>
          <a:solidFill>
            <a:srgbClr val="A6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765300" y="1579880"/>
            <a:ext cx="1524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54400" y="965200"/>
            <a:ext cx="2667000" cy="95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Cell-type context across the 60 validated pathways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454400" y="1079500"/>
            <a:ext cx="2895600" cy="1270"/>
          </a:xfrm>
          <a:prstGeom prst="rect">
            <a:avLst/>
          </a:prstGeom>
          <a:noFill/>
          <a:ln w="762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454400" y="1143000"/>
            <a:ext cx="8890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Cortical neurons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68800" y="1163320"/>
            <a:ext cx="1066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68800" y="1163320"/>
            <a:ext cx="778764" cy="381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99100" y="1143000"/>
            <a:ext cx="8509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44 of 60  (73%)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54400" y="1252220"/>
            <a:ext cx="8890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Hippocampal neurons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368800" y="1272540"/>
            <a:ext cx="1066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4368800" y="1272540"/>
            <a:ext cx="618744" cy="381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499100" y="1252220"/>
            <a:ext cx="8509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35 of 60  (58%)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54400" y="1361440"/>
            <a:ext cx="8890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Pyramidal neurons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68800" y="1381760"/>
            <a:ext cx="1066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4368800" y="1381760"/>
            <a:ext cx="448056" cy="381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499100" y="1361440"/>
            <a:ext cx="8509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25 of 60  (4</a:t>
            </a:r>
            <a:r>
              <a:rPr lang="en-US" sz="600" b="0" i="0">
                <a:solidFill>
                  <a:srgbClr val="000000"/>
                </a:solidFill>
                <a:latin typeface="Arial"/>
              </a:rPr>
              <a:t>2</a:t>
            </a:r>
            <a:r>
              <a:rPr sz="600" b="0" i="0">
                <a:solidFill>
                  <a:srgbClr val="000000"/>
                </a:solidFill>
                <a:latin typeface="Arial"/>
              </a:rPr>
              <a:t>%)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454400" y="1470660"/>
            <a:ext cx="8890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Excitatory neurons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68800" y="1490980"/>
            <a:ext cx="1066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4368800" y="1490980"/>
            <a:ext cx="320040" cy="381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499100" y="1470660"/>
            <a:ext cx="8509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18 of 60  (30%)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54400" y="1579880"/>
            <a:ext cx="8890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Inhibitory neurons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368800" y="1600200"/>
            <a:ext cx="1066800" cy="38100"/>
          </a:xfrm>
          <a:prstGeom prst="rect">
            <a:avLst/>
          </a:prstGeom>
          <a:solidFill>
            <a:srgbClr val="E6E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4368800" y="1600200"/>
            <a:ext cx="106680" cy="381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499100" y="1579880"/>
            <a:ext cx="8509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6 of 60  (10%)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5100" y="1778000"/>
            <a:ext cx="1778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1000" y="1778000"/>
            <a:ext cx="3302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00000"/>
                </a:solidFill>
                <a:latin typeface="Arial"/>
              </a:rPr>
              <a:t>Pathway enrichment overview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10000" y="1778000"/>
            <a:ext cx="2540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Three highest biologically ranked pathways per database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000" y="1949450"/>
            <a:ext cx="5969000" cy="1270"/>
          </a:xfrm>
          <a:prstGeom prst="rect">
            <a:avLst/>
          </a:prstGeom>
          <a:noFill/>
          <a:ln w="7620">
            <a:solidFill>
              <a:srgbClr val="C9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381000" y="1993900"/>
            <a:ext cx="2032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Rank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5200" y="1993900"/>
            <a:ext cx="15240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Pathway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616200" y="1993900"/>
            <a:ext cx="27686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Enrichment strength (−log</a:t>
            </a:r>
            <a:r>
              <a:rPr sz="468" b="1" i="0" baseline="-25000">
                <a:solidFill>
                  <a:srgbClr val="000000"/>
                </a:solidFill>
                <a:latin typeface="Arial"/>
              </a:rPr>
              <a:t>10</a:t>
            </a:r>
            <a:r>
              <a:rPr sz="600" b="1" i="0">
                <a:solidFill>
                  <a:srgbClr val="000000"/>
                </a:solidFill>
                <a:latin typeface="Arial"/>
              </a:rPr>
              <a:t> adjusted </a:t>
            </a:r>
            <a:r>
              <a:rPr lang="en-US" sz="600" b="1" i="1">
                <a:solidFill>
                  <a:srgbClr val="000000"/>
                </a:solidFill>
                <a:latin typeface="Arial"/>
              </a:rPr>
              <a:t>P</a:t>
            </a:r>
            <a:r>
              <a:rPr lang="en-US" sz="600" b="1">
                <a:solidFill>
                  <a:srgbClr val="000000"/>
                </a:solidFill>
                <a:latin typeface="Arial"/>
              </a:rPr>
              <a:t>-value</a:t>
            </a:r>
            <a:r>
              <a:rPr sz="600" b="1" i="0">
                <a:solidFill>
                  <a:srgbClr val="000000"/>
                </a:solidFill>
                <a:latin typeface="Arial"/>
              </a:rPr>
              <a:t>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61000" y="1993900"/>
            <a:ext cx="8890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Adjusted </a:t>
            </a:r>
            <a:r>
              <a:rPr sz="600" b="1" i="1">
                <a:solidFill>
                  <a:srgbClr val="000000"/>
                </a:solidFill>
                <a:latin typeface="Arial"/>
              </a:rPr>
              <a:t>P</a:t>
            </a:r>
            <a:r>
              <a:rPr sz="600" b="1" i="0">
                <a:solidFill>
                  <a:srgbClr val="000000"/>
                </a:solidFill>
                <a:latin typeface="Arial"/>
              </a:rPr>
              <a:t>-value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616200" y="2171700"/>
            <a:ext cx="1270" cy="173990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2501900" y="2089150"/>
            <a:ext cx="228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231444" y="2171700"/>
            <a:ext cx="1270" cy="173990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117144" y="2089150"/>
            <a:ext cx="228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846689" y="2171700"/>
            <a:ext cx="1270" cy="173990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3732389" y="2089150"/>
            <a:ext cx="228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61933" y="2171700"/>
            <a:ext cx="1270" cy="173990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4347633" y="2089150"/>
            <a:ext cx="228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30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77178" y="2171700"/>
            <a:ext cx="1270" cy="173990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4962878" y="2089150"/>
            <a:ext cx="228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40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84200" y="2235200"/>
            <a:ext cx="3810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GO:BP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81000" y="223520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65200" y="223520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chromatin organization</a:t>
            </a:r>
          </a:p>
        </p:txBody>
      </p:sp>
      <p:sp>
        <p:nvSpPr>
          <p:cNvPr id="90" name="Oval 89"/>
          <p:cNvSpPr/>
          <p:nvPr/>
        </p:nvSpPr>
        <p:spPr>
          <a:xfrm>
            <a:off x="4975373" y="2224723"/>
            <a:ext cx="112394" cy="112394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Box 90"/>
              <p:cNvSpPr txBox="1"/>
              <p:nvPr/>
            </p:nvSpPr>
            <p:spPr>
              <a:xfrm>
                <a:off x="5461000" y="223520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5.51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91" name="Text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235200"/>
                <a:ext cx="889000" cy="91440"/>
              </a:xfrm>
              <a:prstGeom prst="rect">
                <a:avLst/>
              </a:prstGeom>
              <a:blipFill>
                <a:blip r:embed="rId3"/>
                <a:stretch>
                  <a:fillRect t="-25000" r="-1408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" name="TextBox 91"/>
          <p:cNvSpPr txBox="1"/>
          <p:nvPr/>
        </p:nvSpPr>
        <p:spPr>
          <a:xfrm>
            <a:off x="381000" y="233934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65200" y="233934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neuron projection development</a:t>
            </a:r>
          </a:p>
        </p:txBody>
      </p:sp>
      <p:sp>
        <p:nvSpPr>
          <p:cNvPr id="94" name="Oval 93"/>
          <p:cNvSpPr/>
          <p:nvPr/>
        </p:nvSpPr>
        <p:spPr>
          <a:xfrm>
            <a:off x="4061249" y="2337054"/>
            <a:ext cx="96012" cy="96012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5461000" y="233934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5.40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339340"/>
                <a:ext cx="889000" cy="91440"/>
              </a:xfrm>
              <a:prstGeom prst="rect">
                <a:avLst/>
              </a:prstGeom>
              <a:blipFill>
                <a:blip r:embed="rId4"/>
                <a:stretch>
                  <a:fillRect t="-25000" r="-1408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TextBox 95"/>
          <p:cNvSpPr txBox="1"/>
          <p:nvPr/>
        </p:nvSpPr>
        <p:spPr>
          <a:xfrm>
            <a:off x="381000" y="244348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5200" y="244348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regulation of synaptic plasticity</a:t>
            </a:r>
          </a:p>
        </p:txBody>
      </p:sp>
      <p:sp>
        <p:nvSpPr>
          <p:cNvPr id="98" name="Oval 97"/>
          <p:cNvSpPr/>
          <p:nvPr/>
        </p:nvSpPr>
        <p:spPr>
          <a:xfrm>
            <a:off x="3505588" y="2459502"/>
            <a:ext cx="59397" cy="59397"/>
          </a:xfrm>
          <a:prstGeom prst="ellipse">
            <a:avLst/>
          </a:prstGeom>
          <a:solidFill>
            <a:srgbClr val="2C6E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Box 98"/>
              <p:cNvSpPr txBox="1"/>
              <p:nvPr/>
            </p:nvSpPr>
            <p:spPr>
              <a:xfrm>
                <a:off x="5461000" y="244348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1.15</a:t>
                </a:r>
                <a:r>
                  <a:rPr lang="ar-AE" altLang="zh-CN" sz="50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99" name="TextBox 9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443480"/>
                <a:ext cx="889000" cy="91440"/>
              </a:xfrm>
              <a:prstGeom prst="rect">
                <a:avLst/>
              </a:prstGeom>
              <a:blipFill>
                <a:blip r:embed="rId5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TextBox 99"/>
          <p:cNvSpPr txBox="1"/>
          <p:nvPr/>
        </p:nvSpPr>
        <p:spPr>
          <a:xfrm>
            <a:off x="584200" y="2585720"/>
            <a:ext cx="3810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GO:MF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81000" y="2560320"/>
            <a:ext cx="5969000" cy="127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81000" y="258572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5200" y="258572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histone methyltransferase activity</a:t>
            </a:r>
          </a:p>
        </p:txBody>
      </p:sp>
      <p:sp>
        <p:nvSpPr>
          <p:cNvPr id="104" name="Oval 103"/>
          <p:cNvSpPr/>
          <p:nvPr/>
        </p:nvSpPr>
        <p:spPr>
          <a:xfrm>
            <a:off x="3175058" y="2610782"/>
            <a:ext cx="41317" cy="41317"/>
          </a:xfrm>
          <a:prstGeom prst="ellipse">
            <a:avLst/>
          </a:prstGeom>
          <a:solidFill>
            <a:srgbClr val="C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TextBox 104"/>
              <p:cNvSpPr txBox="1"/>
              <p:nvPr/>
            </p:nvSpPr>
            <p:spPr>
              <a:xfrm>
                <a:off x="5461000" y="258572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3.81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5" name="TextBox 10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585720"/>
                <a:ext cx="889000" cy="91440"/>
              </a:xfrm>
              <a:prstGeom prst="rect">
                <a:avLst/>
              </a:prstGeom>
              <a:blipFill>
                <a:blip r:embed="rId6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6" name="TextBox 105"/>
          <p:cNvSpPr txBox="1"/>
          <p:nvPr/>
        </p:nvSpPr>
        <p:spPr>
          <a:xfrm>
            <a:off x="381000" y="268986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5200" y="268986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ATP-dependent chromatin remodeler activity</a:t>
            </a:r>
          </a:p>
        </p:txBody>
      </p:sp>
      <p:sp>
        <p:nvSpPr>
          <p:cNvPr id="108" name="Oval 107"/>
          <p:cNvSpPr/>
          <p:nvPr/>
        </p:nvSpPr>
        <p:spPr>
          <a:xfrm>
            <a:off x="3120127" y="2719578"/>
            <a:ext cx="32004" cy="32004"/>
          </a:xfrm>
          <a:prstGeom prst="ellipse">
            <a:avLst/>
          </a:prstGeom>
          <a:solidFill>
            <a:srgbClr val="C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TextBox 108"/>
              <p:cNvSpPr txBox="1"/>
              <p:nvPr/>
            </p:nvSpPr>
            <p:spPr>
              <a:xfrm>
                <a:off x="5461000" y="268986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3.54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09" name="TextBox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689860"/>
                <a:ext cx="889000" cy="91440"/>
              </a:xfrm>
              <a:prstGeom prst="rect">
                <a:avLst/>
              </a:prstGeom>
              <a:blipFill>
                <a:blip r:embed="rId7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TextBox 109"/>
          <p:cNvSpPr txBox="1"/>
          <p:nvPr/>
        </p:nvSpPr>
        <p:spPr>
          <a:xfrm>
            <a:off x="381000" y="279400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#3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965200" y="279400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chromatin DNA binding</a:t>
            </a:r>
          </a:p>
        </p:txBody>
      </p:sp>
      <p:sp>
        <p:nvSpPr>
          <p:cNvPr id="112" name="Oval 111"/>
          <p:cNvSpPr/>
          <p:nvPr/>
        </p:nvSpPr>
        <p:spPr>
          <a:xfrm>
            <a:off x="3113498" y="2817090"/>
            <a:ext cx="45260" cy="45260"/>
          </a:xfrm>
          <a:prstGeom prst="ellipse">
            <a:avLst/>
          </a:prstGeom>
          <a:solidFill>
            <a:srgbClr val="C975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5461000" y="279400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3.54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−9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794000"/>
                <a:ext cx="889000" cy="91440"/>
              </a:xfrm>
              <a:prstGeom prst="rect">
                <a:avLst/>
              </a:prstGeom>
              <a:blipFill>
                <a:blip r:embed="rId8"/>
                <a:stretch>
                  <a:fillRect t="-22222" r="-140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TextBox 113"/>
          <p:cNvSpPr txBox="1"/>
          <p:nvPr/>
        </p:nvSpPr>
        <p:spPr>
          <a:xfrm>
            <a:off x="584200" y="2936240"/>
            <a:ext cx="3810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GO:CC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381000" y="2910840"/>
            <a:ext cx="5969000" cy="127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81000" y="293624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#1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965200" y="293624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postsynapse</a:t>
            </a:r>
          </a:p>
        </p:txBody>
      </p:sp>
      <p:sp>
        <p:nvSpPr>
          <p:cNvPr id="118" name="Oval 117"/>
          <p:cNvSpPr/>
          <p:nvPr/>
        </p:nvSpPr>
        <p:spPr>
          <a:xfrm>
            <a:off x="3920821" y="2939288"/>
            <a:ext cx="85344" cy="85344"/>
          </a:xfrm>
          <a:prstGeom prst="ellipse">
            <a:avLst/>
          </a:prstGeom>
          <a:solidFill>
            <a:srgbClr val="4A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TextBox 118"/>
              <p:cNvSpPr txBox="1"/>
              <p:nvPr/>
            </p:nvSpPr>
            <p:spPr>
              <a:xfrm>
                <a:off x="5461000" y="293624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ar-AE" sz="600" b="0" i="0">
                    <a:solidFill>
                      <a:srgbClr val="000000"/>
                    </a:solidFill>
                    <a:latin typeface="Arial"/>
                  </a:rPr>
                  <a:t>1.26 </a:t>
                </a:r>
                <a:r>
                  <a:rPr lang="ar-AE" altLang="zh-CN" sz="60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19" name="TextBox 1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2936240"/>
                <a:ext cx="889000" cy="91440"/>
              </a:xfrm>
              <a:prstGeom prst="rect">
                <a:avLst/>
              </a:prstGeom>
              <a:blipFill>
                <a:blip r:embed="rId9"/>
                <a:stretch>
                  <a:fillRect t="-25000" r="-1408" b="-375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/>
          <p:cNvSpPr txBox="1"/>
          <p:nvPr/>
        </p:nvSpPr>
        <p:spPr>
          <a:xfrm>
            <a:off x="381000" y="304038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65200" y="304038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dendrite</a:t>
            </a:r>
          </a:p>
        </p:txBody>
      </p:sp>
      <p:sp>
        <p:nvSpPr>
          <p:cNvPr id="122" name="Oval 121"/>
          <p:cNvSpPr/>
          <p:nvPr/>
        </p:nvSpPr>
        <p:spPr>
          <a:xfrm>
            <a:off x="3654611" y="3047636"/>
            <a:ext cx="76928" cy="76928"/>
          </a:xfrm>
          <a:prstGeom prst="ellipse">
            <a:avLst/>
          </a:prstGeom>
          <a:solidFill>
            <a:srgbClr val="4A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5461000" y="304038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ar-AE" sz="600" b="0" i="0">
                    <a:solidFill>
                      <a:srgbClr val="000000"/>
                    </a:solidFill>
                    <a:latin typeface="Arial"/>
                  </a:rPr>
                  <a:t>3.14 </a:t>
                </a:r>
                <a:r>
                  <a:rPr lang="ar-AE" altLang="zh-CN" sz="60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040380"/>
                <a:ext cx="889000" cy="91440"/>
              </a:xfrm>
              <a:prstGeom prst="rect">
                <a:avLst/>
              </a:prstGeom>
              <a:blipFill>
                <a:blip r:embed="rId10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4" name="TextBox 123"/>
          <p:cNvSpPr txBox="1"/>
          <p:nvPr/>
        </p:nvSpPr>
        <p:spPr>
          <a:xfrm>
            <a:off x="381000" y="314452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#3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965200" y="314452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axon</a:t>
            </a:r>
          </a:p>
        </p:txBody>
      </p:sp>
      <p:sp>
        <p:nvSpPr>
          <p:cNvPr id="126" name="Oval 125"/>
          <p:cNvSpPr/>
          <p:nvPr/>
        </p:nvSpPr>
        <p:spPr>
          <a:xfrm>
            <a:off x="3682534" y="3151043"/>
            <a:ext cx="78393" cy="78393"/>
          </a:xfrm>
          <a:prstGeom prst="ellipse">
            <a:avLst/>
          </a:prstGeom>
          <a:solidFill>
            <a:srgbClr val="4A86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5461000" y="314452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1.07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144520"/>
                <a:ext cx="889000" cy="91440"/>
              </a:xfrm>
              <a:prstGeom prst="rect">
                <a:avLst/>
              </a:prstGeom>
              <a:blipFill>
                <a:blip r:embed="rId11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8" name="TextBox 127"/>
          <p:cNvSpPr txBox="1"/>
          <p:nvPr/>
        </p:nvSpPr>
        <p:spPr>
          <a:xfrm>
            <a:off x="584200" y="3286760"/>
            <a:ext cx="3810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KEGG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81000" y="3261360"/>
            <a:ext cx="5969000" cy="127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81000" y="328676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#1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965200" y="328676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Long-term potentiation</a:t>
            </a:r>
          </a:p>
        </p:txBody>
      </p:sp>
      <p:sp>
        <p:nvSpPr>
          <p:cNvPr id="132" name="Oval 131"/>
          <p:cNvSpPr/>
          <p:nvPr/>
        </p:nvSpPr>
        <p:spPr>
          <a:xfrm>
            <a:off x="2969633" y="3312522"/>
            <a:ext cx="39916" cy="39916"/>
          </a:xfrm>
          <a:prstGeom prst="ellipse">
            <a:avLst/>
          </a:prstGeom>
          <a:solidFill>
            <a:srgbClr val="835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/>
              <p:cNvSpPr txBox="1"/>
              <p:nvPr/>
            </p:nvSpPr>
            <p:spPr>
              <a:xfrm>
                <a:off x="5461000" y="328676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8.53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33" name="TextBox 1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286760"/>
                <a:ext cx="889000" cy="91440"/>
              </a:xfrm>
              <a:prstGeom prst="rect">
                <a:avLst/>
              </a:prstGeom>
              <a:blipFill>
                <a:blip r:embed="rId12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TextBox 133"/>
          <p:cNvSpPr txBox="1"/>
          <p:nvPr/>
        </p:nvSpPr>
        <p:spPr>
          <a:xfrm>
            <a:off x="381000" y="339090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965200" y="339090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Glutamatergic synapse</a:t>
            </a:r>
          </a:p>
        </p:txBody>
      </p:sp>
      <p:sp>
        <p:nvSpPr>
          <p:cNvPr id="136" name="Oval 135"/>
          <p:cNvSpPr/>
          <p:nvPr/>
        </p:nvSpPr>
        <p:spPr>
          <a:xfrm>
            <a:off x="2803782" y="3417388"/>
            <a:ext cx="38464" cy="38464"/>
          </a:xfrm>
          <a:prstGeom prst="ellipse">
            <a:avLst/>
          </a:prstGeom>
          <a:solidFill>
            <a:srgbClr val="835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/>
              <p:cNvSpPr txBox="1"/>
              <p:nvPr/>
            </p:nvSpPr>
            <p:spPr>
              <a:xfrm>
                <a:off x="5461000" y="339090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4.35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37" name="TextBox 1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390900"/>
                <a:ext cx="889000" cy="91440"/>
              </a:xfrm>
              <a:prstGeom prst="rect">
                <a:avLst/>
              </a:prstGeom>
              <a:blipFill>
                <a:blip r:embed="rId13"/>
                <a:stretch>
                  <a:fillRect t="-22222" r="-140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TextBox 137"/>
          <p:cNvSpPr txBox="1"/>
          <p:nvPr/>
        </p:nvSpPr>
        <p:spPr>
          <a:xfrm>
            <a:off x="381000" y="349504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#3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965200" y="349504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Dopaminergic synapse</a:t>
            </a:r>
          </a:p>
        </p:txBody>
      </p:sp>
      <p:sp>
        <p:nvSpPr>
          <p:cNvPr id="140" name="Oval 139"/>
          <p:cNvSpPr/>
          <p:nvPr/>
        </p:nvSpPr>
        <p:spPr>
          <a:xfrm>
            <a:off x="2910057" y="3518767"/>
            <a:ext cx="43985" cy="43985"/>
          </a:xfrm>
          <a:prstGeom prst="ellipse">
            <a:avLst/>
          </a:prstGeom>
          <a:solidFill>
            <a:srgbClr val="8355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TextBox 140"/>
              <p:cNvSpPr txBox="1"/>
              <p:nvPr/>
            </p:nvSpPr>
            <p:spPr>
              <a:xfrm>
                <a:off x="5461000" y="349504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7.35</a:t>
                </a:r>
                <a:r>
                  <a:rPr lang="ar-AE" altLang="zh-CN" sz="50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1" name="TextBox 1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495040"/>
                <a:ext cx="889000" cy="91440"/>
              </a:xfrm>
              <a:prstGeom prst="rect">
                <a:avLst/>
              </a:prstGeom>
              <a:blipFill>
                <a:blip r:embed="rId14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2" name="TextBox 141"/>
          <p:cNvSpPr txBox="1"/>
          <p:nvPr/>
        </p:nvSpPr>
        <p:spPr>
          <a:xfrm>
            <a:off x="584200" y="3637280"/>
            <a:ext cx="3810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REAC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381000" y="3611880"/>
            <a:ext cx="5969000" cy="1270"/>
          </a:xfrm>
          <a:prstGeom prst="rect">
            <a:avLst/>
          </a:prstGeom>
          <a:noFill/>
          <a:ln w="635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381000" y="363728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#1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965200" y="363728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Chromatin organization</a:t>
            </a:r>
          </a:p>
        </p:txBody>
      </p:sp>
      <p:sp>
        <p:nvSpPr>
          <p:cNvPr id="146" name="Oval 145"/>
          <p:cNvSpPr/>
          <p:nvPr/>
        </p:nvSpPr>
        <p:spPr>
          <a:xfrm>
            <a:off x="3825141" y="3647218"/>
            <a:ext cx="71563" cy="71563"/>
          </a:xfrm>
          <a:prstGeom prst="ellipse">
            <a:avLst/>
          </a:prstGeom>
          <a:solidFill>
            <a:srgbClr val="A6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TextBox 146"/>
              <p:cNvSpPr txBox="1"/>
              <p:nvPr/>
            </p:nvSpPr>
            <p:spPr>
              <a:xfrm>
                <a:off x="5461000" y="363728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5.87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47" name="TextBox 1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637280"/>
                <a:ext cx="889000" cy="91440"/>
              </a:xfrm>
              <a:prstGeom prst="rect">
                <a:avLst/>
              </a:prstGeom>
              <a:blipFill>
                <a:blip r:embed="rId15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/>
          <p:cNvSpPr txBox="1"/>
          <p:nvPr/>
        </p:nvSpPr>
        <p:spPr>
          <a:xfrm>
            <a:off x="381000" y="374142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#2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65200" y="374142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Neuronal System</a:t>
            </a:r>
          </a:p>
        </p:txBody>
      </p:sp>
      <p:sp>
        <p:nvSpPr>
          <p:cNvPr id="150" name="Oval 149"/>
          <p:cNvSpPr/>
          <p:nvPr/>
        </p:nvSpPr>
        <p:spPr>
          <a:xfrm>
            <a:off x="3325833" y="3752163"/>
            <a:ext cx="69955" cy="69955"/>
          </a:xfrm>
          <a:prstGeom prst="ellipse">
            <a:avLst/>
          </a:prstGeom>
          <a:solidFill>
            <a:srgbClr val="A6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TextBox 150"/>
              <p:cNvSpPr txBox="1"/>
              <p:nvPr/>
            </p:nvSpPr>
            <p:spPr>
              <a:xfrm>
                <a:off x="5461000" y="374142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altLang="zh-CN" sz="600">
                    <a:solidFill>
                      <a:srgbClr val="000000"/>
                    </a:solidFill>
                    <a:latin typeface="Arial"/>
                  </a:rPr>
                  <a:t>7.89</a:t>
                </a:r>
                <a:r>
                  <a:rPr lang="en-US" altLang="zh-CN" sz="60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51" name="TextBox 1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741420"/>
                <a:ext cx="889000" cy="91440"/>
              </a:xfrm>
              <a:prstGeom prst="rect">
                <a:avLst/>
              </a:prstGeom>
              <a:blipFill>
                <a:blip r:embed="rId16"/>
                <a:stretch>
                  <a:fillRect t="-25000" r="-1408" b="-5000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TextBox 151"/>
          <p:cNvSpPr txBox="1"/>
          <p:nvPr/>
        </p:nvSpPr>
        <p:spPr>
          <a:xfrm>
            <a:off x="381000" y="3845560"/>
            <a:ext cx="2032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#3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965200" y="3845560"/>
            <a:ext cx="1930400" cy="9144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Transmission across Chemical Synapses</a:t>
            </a:r>
          </a:p>
        </p:txBody>
      </p:sp>
      <p:sp>
        <p:nvSpPr>
          <p:cNvPr id="154" name="Oval 153"/>
          <p:cNvSpPr/>
          <p:nvPr/>
        </p:nvSpPr>
        <p:spPr>
          <a:xfrm>
            <a:off x="3139612" y="3862064"/>
            <a:ext cx="58431" cy="58431"/>
          </a:xfrm>
          <a:prstGeom prst="ellipse">
            <a:avLst/>
          </a:prstGeom>
          <a:solidFill>
            <a:srgbClr val="A648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5461000" y="3845560"/>
                <a:ext cx="889000" cy="91440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noAutofit/>
              </a:bodyPr>
              <a:lstStyle/>
              <a:p>
                <a:pPr algn="r">
                  <a:lnSpc>
                    <a:spcPct val="100000"/>
                  </a:lnSpc>
                </a:pPr>
                <a:r>
                  <a:rPr lang="en-US" sz="600">
                    <a:solidFill>
                      <a:srgbClr val="000000"/>
                    </a:solidFill>
                    <a:latin typeface="Arial"/>
                  </a:rPr>
                  <a:t>1.04</a:t>
                </a:r>
                <a:r>
                  <a:rPr lang="ar-AE" altLang="zh-CN" sz="500">
                    <a:solidFill>
                      <a:srgbClr val="00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6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ar-AE" altLang="zh-CN" sz="6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ar-AE" sz="60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altLang="zh-CN" sz="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ar-AE" altLang="zh-CN" sz="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endParaRPr sz="468" b="0" i="0" baseline="3000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1000" y="3845560"/>
                <a:ext cx="889000" cy="91440"/>
              </a:xfrm>
              <a:prstGeom prst="rect">
                <a:avLst/>
              </a:prstGeom>
              <a:blipFill>
                <a:blip r:embed="rId17"/>
                <a:stretch>
                  <a:fillRect t="-22222" r="-1408" b="-33333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Rectangle 155"/>
          <p:cNvSpPr/>
          <p:nvPr/>
        </p:nvSpPr>
        <p:spPr>
          <a:xfrm>
            <a:off x="381000" y="3975100"/>
            <a:ext cx="5969000" cy="1270"/>
          </a:xfrm>
          <a:prstGeom prst="rect">
            <a:avLst/>
          </a:prstGeom>
          <a:noFill/>
          <a:ln w="762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3251200" y="4044950"/>
            <a:ext cx="736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Intersection genes</a:t>
            </a:r>
          </a:p>
        </p:txBody>
      </p:sp>
      <p:sp>
        <p:nvSpPr>
          <p:cNvPr id="158" name="Oval 157"/>
          <p:cNvSpPr/>
          <p:nvPr/>
        </p:nvSpPr>
        <p:spPr>
          <a:xfrm>
            <a:off x="4021732" y="4066182"/>
            <a:ext cx="33735" cy="33735"/>
          </a:xfrm>
          <a:prstGeom prst="ellipse">
            <a:avLst/>
          </a:prstGeom>
          <a:solidFill>
            <a:srgbClr val="E6E6EA"/>
          </a:solidFill>
          <a:ln w="5080">
            <a:solidFill>
              <a:srgbClr val="8A8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3860800" y="415925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160" name="Oval 159"/>
          <p:cNvSpPr/>
          <p:nvPr/>
        </p:nvSpPr>
        <p:spPr>
          <a:xfrm>
            <a:off x="4432683" y="4045333"/>
            <a:ext cx="75434" cy="75434"/>
          </a:xfrm>
          <a:prstGeom prst="ellipse">
            <a:avLst/>
          </a:prstGeom>
          <a:solidFill>
            <a:srgbClr val="E6E6EA"/>
          </a:solidFill>
          <a:ln w="5080">
            <a:solidFill>
              <a:srgbClr val="8A8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4292600" y="415925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162" name="Oval 161"/>
          <p:cNvSpPr/>
          <p:nvPr/>
        </p:nvSpPr>
        <p:spPr>
          <a:xfrm>
            <a:off x="4848860" y="4029710"/>
            <a:ext cx="106680" cy="106680"/>
          </a:xfrm>
          <a:prstGeom prst="ellipse">
            <a:avLst/>
          </a:prstGeom>
          <a:solidFill>
            <a:srgbClr val="E6E6EA"/>
          </a:solidFill>
          <a:ln w="5080">
            <a:solidFill>
              <a:srgbClr val="8A8A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TextBox 162"/>
          <p:cNvSpPr txBox="1"/>
          <p:nvPr/>
        </p:nvSpPr>
        <p:spPr>
          <a:xfrm>
            <a:off x="4724400" y="4159250"/>
            <a:ext cx="3556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381000" y="4044950"/>
            <a:ext cx="304800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Point area, genes shared with the input list; point colour, database.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65100" y="4216400"/>
            <a:ext cx="1778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381000" y="4216400"/>
            <a:ext cx="4064000" cy="1397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700" b="1" i="0">
                <a:solidFill>
                  <a:srgbClr val="000000"/>
                </a:solidFill>
                <a:latin typeface="Arial"/>
              </a:rPr>
              <a:t>Interpretation of a representative high-ranking pathway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381000" y="4387850"/>
            <a:ext cx="5969000" cy="1270"/>
          </a:xfrm>
          <a:prstGeom prst="rect">
            <a:avLst/>
          </a:prstGeom>
          <a:noFill/>
          <a:ln w="7620">
            <a:solidFill>
              <a:srgbClr val="C9C9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381000" y="445770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GO:BP  ·  biological rank #2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381000" y="4559300"/>
            <a:ext cx="1905000" cy="101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neuron projection development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81000" y="4667250"/>
            <a:ext cx="19050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GO:0031175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381000" y="4826000"/>
            <a:ext cx="17780" cy="3048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450850" y="4838700"/>
            <a:ext cx="81280" cy="8128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TextBox 172"/>
          <p:cNvSpPr txBox="1"/>
          <p:nvPr/>
        </p:nvSpPr>
        <p:spPr>
          <a:xfrm>
            <a:off x="450850" y="4841240"/>
            <a:ext cx="8128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571500" y="4836160"/>
            <a:ext cx="17145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Statistical evidence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5" name="TextBox 174"/>
              <p:cNvSpPr txBox="1"/>
              <p:nvPr/>
            </p:nvSpPr>
            <p:spPr>
              <a:xfrm>
                <a:off x="571500" y="4940300"/>
                <a:ext cx="1727200" cy="177800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noAutofit/>
              </a:bodyPr>
              <a:lstStyle/>
              <a:p>
                <a:pPr algn="l">
                  <a:lnSpc>
                    <a:spcPct val="112000"/>
                  </a:lnSpc>
                </a:pPr>
                <a:r>
                  <a:rPr lang="en-US" sz="550" b="0" i="0">
                    <a:solidFill>
                      <a:srgbClr val="000000"/>
                    </a:solidFill>
                    <a:latin typeface="Arial"/>
                  </a:rPr>
                  <a:t>FDR-adjusted </a:t>
                </a:r>
                <a:r>
                  <a:rPr lang="en-US" sz="550" b="0" i="1">
                    <a:solidFill>
                      <a:srgbClr val="000000"/>
                    </a:solidFill>
                    <a:latin typeface="Arial"/>
                  </a:rPr>
                  <a:t>P</a:t>
                </a:r>
                <a:r>
                  <a:rPr lang="en-US" sz="550" b="0" i="0">
                    <a:solidFill>
                      <a:srgbClr val="000000"/>
                    </a:solidFill>
                    <a:latin typeface="Arial"/>
                  </a:rPr>
                  <a:t>-value = </a:t>
                </a:r>
                <a:r>
                  <a:rPr lang="en-US" altLang="zh-CN" sz="550">
                    <a:solidFill>
                      <a:srgbClr val="000000"/>
                    </a:solidFill>
                    <a:latin typeface="Arial"/>
                  </a:rPr>
                  <a:t>5.40</a:t>
                </a:r>
                <a:r>
                  <a:rPr lang="zh-CN" altLang="en-US" sz="550">
                    <a:solidFill>
                      <a:srgbClr val="000000"/>
                    </a:solidFill>
                    <a:latin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55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550" b="0" i="0">
                    <a:solidFill>
                      <a:srgbClr val="000000"/>
                    </a:solidFill>
                    <a:latin typeface="Arial"/>
                  </a:rPr>
                  <a:t>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zh-CN" sz="5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zh-CN" sz="5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5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altLang="zh-CN" sz="55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−25</m:t>
                        </m:r>
                      </m:sup>
                    </m:sSup>
                  </m:oMath>
                </a14:m>
                <a:endParaRPr lang="ar-AE" sz="429" b="0" i="0" baseline="30000">
                  <a:solidFill>
                    <a:srgbClr val="000000"/>
                  </a:solidFill>
                  <a:latin typeface="Arial"/>
                </a:endParaRPr>
              </a:p>
              <a:p>
                <a:pPr algn="l">
                  <a:lnSpc>
                    <a:spcPct val="112000"/>
                  </a:lnSpc>
                </a:pPr>
                <a:r>
                  <a:rPr lang="en-US" sz="550" b="0" i="0">
                    <a:solidFill>
                      <a:srgbClr val="000000"/>
                    </a:solidFill>
                    <a:latin typeface="Arial"/>
                  </a:rPr>
                  <a:t>overlap 81 of 1,010 annotated genes</a:t>
                </a:r>
                <a:endParaRPr sz="550" b="0" i="0">
                  <a:solidFill>
                    <a:srgbClr val="000000"/>
                  </a:solidFill>
                  <a:latin typeface="Arial"/>
                </a:endParaRPr>
              </a:p>
            </p:txBody>
          </p:sp>
        </mc:Choice>
        <mc:Fallback xmlns="">
          <p:sp>
            <p:nvSpPr>
              <p:cNvPr id="175" name="TextBox 1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" y="4940300"/>
                <a:ext cx="1727200" cy="177800"/>
              </a:xfrm>
              <a:prstGeom prst="rect">
                <a:avLst/>
              </a:prstGeom>
              <a:blipFill>
                <a:blip r:embed="rId18"/>
                <a:stretch>
                  <a:fillRect l="-2941" t="-6250" b="-18750"/>
                </a:stretch>
              </a:blipFill>
            </p:spPr>
            <p:txBody>
              <a:bodyPr/>
              <a:lstStyle/>
              <a:p>
                <a:r>
                  <a:rPr lang="en-C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6" name="Rectangle 175"/>
          <p:cNvSpPr/>
          <p:nvPr/>
        </p:nvSpPr>
        <p:spPr>
          <a:xfrm>
            <a:off x="381000" y="5181600"/>
            <a:ext cx="17780" cy="3048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450850" y="5194300"/>
            <a:ext cx="81280" cy="8128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450850" y="5196840"/>
            <a:ext cx="8128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571500" y="5191760"/>
            <a:ext cx="17145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Key intersection genes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71500" y="5295900"/>
            <a:ext cx="17272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81 genes, including four clusters; principal drivers </a:t>
            </a:r>
            <a:r>
              <a:rPr sz="550" b="0" i="1">
                <a:solidFill>
                  <a:srgbClr val="000000"/>
                </a:solidFill>
                <a:latin typeface="Arial"/>
              </a:rPr>
              <a:t>CNTNAP2</a:t>
            </a:r>
            <a:r>
              <a:rPr sz="550" b="0" i="0">
                <a:solidFill>
                  <a:srgbClr val="000000"/>
                </a:solidFill>
                <a:latin typeface="Arial"/>
              </a:rPr>
              <a:t>, </a:t>
            </a:r>
            <a:r>
              <a:rPr sz="550" b="0" i="1">
                <a:solidFill>
                  <a:srgbClr val="000000"/>
                </a:solidFill>
                <a:latin typeface="Arial"/>
              </a:rPr>
              <a:t>FMR1</a:t>
            </a:r>
            <a:r>
              <a:rPr sz="55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550" b="0" i="1">
                <a:solidFill>
                  <a:srgbClr val="000000"/>
                </a:solidFill>
                <a:latin typeface="Arial"/>
              </a:rPr>
              <a:t>PTEN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381000" y="5537200"/>
            <a:ext cx="17780" cy="30480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450850" y="5549900"/>
            <a:ext cx="81280" cy="81280"/>
          </a:xfrm>
          <a:prstGeom prst="rect">
            <a:avLst/>
          </a:prstGeom>
          <a:solidFill>
            <a:srgbClr val="6B4C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TextBox 182"/>
          <p:cNvSpPr txBox="1"/>
          <p:nvPr/>
        </p:nvSpPr>
        <p:spPr>
          <a:xfrm>
            <a:off x="450850" y="5552440"/>
            <a:ext cx="81280" cy="762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55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71500" y="5547360"/>
            <a:ext cx="17145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Cell and tissue context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571500" y="5651500"/>
            <a:ext cx="1727200" cy="177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2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Developing cortical and hippocampal projection neurons and their axons and dendrites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2489200" y="4457700"/>
            <a:ext cx="38608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600" b="1" i="0">
                <a:solidFill>
                  <a:srgbClr val="000000"/>
                </a:solidFill>
                <a:latin typeface="Arial"/>
              </a:rPr>
              <a:t>Interpretation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2489200" y="4572000"/>
            <a:ext cx="3860800" cy="939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</a:pPr>
            <a:r>
              <a:rPr sz="600" b="0" i="0">
                <a:solidFill>
                  <a:srgbClr val="000000"/>
                </a:solidFill>
                <a:latin typeface="Arial"/>
              </a:rPr>
              <a:t>Neuron projection development (GO:0031175) ranked second among GO:BP pathways. Its 81-gene intersection contains four clusters: synaptic scaffolding and signalling (</a:t>
            </a:r>
            <a:r>
              <a:rPr sz="600" b="0" i="1">
                <a:solidFill>
                  <a:srgbClr val="000000"/>
                </a:solidFill>
                <a:latin typeface="Arial"/>
              </a:rPr>
              <a:t>CAMK2A</a:t>
            </a:r>
            <a:r>
              <a:rPr sz="600" b="0" i="0">
                <a:solidFill>
                  <a:srgbClr val="000000"/>
                </a:solidFill>
                <a:latin typeface="Arial"/>
              </a:rPr>
              <a:t>/</a:t>
            </a:r>
            <a:r>
              <a:rPr sz="600" b="0" i="1">
                <a:solidFill>
                  <a:srgbClr val="000000"/>
                </a:solidFill>
                <a:latin typeface="Arial"/>
              </a:rPr>
              <a:t>B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NLGN2</a:t>
            </a:r>
            <a:r>
              <a:rPr sz="600" b="0" i="0">
                <a:solidFill>
                  <a:srgbClr val="000000"/>
                </a:solidFill>
                <a:latin typeface="Arial"/>
              </a:rPr>
              <a:t>), transcriptional and chromatin regulation of projection identity (</a:t>
            </a:r>
            <a:r>
              <a:rPr sz="600" b="0" i="1">
                <a:solidFill>
                  <a:srgbClr val="000000"/>
                </a:solidFill>
                <a:latin typeface="Arial"/>
              </a:rPr>
              <a:t>ADNP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FOXG1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MECP2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PAX6</a:t>
            </a:r>
            <a:r>
              <a:rPr sz="600" b="0" i="0">
                <a:solidFill>
                  <a:srgbClr val="000000"/>
                </a:solidFill>
                <a:latin typeface="Arial"/>
              </a:rPr>
              <a:t>), guidance and adhesion (</a:t>
            </a:r>
            <a:r>
              <a:rPr sz="600" b="0" i="1">
                <a:solidFill>
                  <a:srgbClr val="000000"/>
                </a:solidFill>
                <a:latin typeface="Arial"/>
              </a:rPr>
              <a:t>CNTNAP2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DSCAM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RELN</a:t>
            </a:r>
            <a:r>
              <a:rPr sz="600" b="0" i="0">
                <a:solidFill>
                  <a:srgbClr val="000000"/>
                </a:solidFill>
                <a:latin typeface="Arial"/>
              </a:rPr>
              <a:t>), and vesicle trafficking (</a:t>
            </a:r>
            <a:r>
              <a:rPr sz="600" b="0" i="1">
                <a:solidFill>
                  <a:srgbClr val="000000"/>
                </a:solidFill>
                <a:latin typeface="Arial"/>
              </a:rPr>
              <a:t>KIF1A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KIF5C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NRXN1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DLG4</a:t>
            </a:r>
            <a:r>
              <a:rPr sz="600" b="0" i="0">
                <a:solidFill>
                  <a:srgbClr val="000000"/>
                </a:solidFill>
                <a:latin typeface="Arial"/>
              </a:rPr>
              <a:t>), so upstream transcriptional regulators and downstream synaptic effectors sit in one process. </a:t>
            </a:r>
            <a:r>
              <a:rPr sz="600" b="0" i="1">
                <a:solidFill>
                  <a:srgbClr val="000000"/>
                </a:solidFill>
                <a:latin typeface="Arial"/>
              </a:rPr>
              <a:t>CNTNAP2</a:t>
            </a:r>
            <a:r>
              <a:rPr sz="600" b="0" i="0">
                <a:solidFill>
                  <a:srgbClr val="000000"/>
                </a:solidFill>
                <a:latin typeface="Arial"/>
              </a:rPr>
              <a:t>, </a:t>
            </a:r>
            <a:r>
              <a:rPr sz="600" b="0" i="1">
                <a:solidFill>
                  <a:srgbClr val="000000"/>
                </a:solidFill>
                <a:latin typeface="Arial"/>
              </a:rPr>
              <a:t>FMR1</a:t>
            </a:r>
            <a:r>
              <a:rPr sz="600" b="0" i="0">
                <a:solidFill>
                  <a:srgbClr val="000000"/>
                </a:solidFill>
                <a:latin typeface="Arial"/>
              </a:rPr>
              <a:t> and </a:t>
            </a:r>
            <a:r>
              <a:rPr sz="600" b="0" i="1">
                <a:solidFill>
                  <a:srgbClr val="000000"/>
                </a:solidFill>
                <a:latin typeface="Arial"/>
              </a:rPr>
              <a:t>PTEN</a:t>
            </a:r>
            <a:r>
              <a:rPr sz="600" b="0" i="0">
                <a:solidFill>
                  <a:srgbClr val="000000"/>
                </a:solidFill>
                <a:latin typeface="Arial"/>
              </a:rPr>
              <a:t> carry the strongest human genetic evidence and each controls neurite arborisation, spine maturation or neuronal growth. </a:t>
            </a:r>
            <a:r>
              <a:rPr sz="600" b="0" i="1">
                <a:solidFill>
                  <a:srgbClr val="000000"/>
                </a:solidFill>
                <a:latin typeface="Arial"/>
              </a:rPr>
              <a:t>Chd8</a:t>
            </a:r>
            <a:r>
              <a:rPr sz="600" b="0" i="0">
                <a:solidFill>
                  <a:srgbClr val="000000"/>
                </a:solidFill>
                <a:latin typeface="Arial"/>
              </a:rPr>
              <a:t>-haploinsufficient mouse cortex [1] and single-cell methylation profiling of ASD prefrontal cortex [2] link transcriptional dysregulation during cortical development to neurite growth, and </a:t>
            </a:r>
            <a:r>
              <a:rPr sz="600" b="0" i="1">
                <a:solidFill>
                  <a:srgbClr val="000000"/>
                </a:solidFill>
                <a:latin typeface="Arial"/>
              </a:rPr>
              <a:t>Clcn4</a:t>
            </a:r>
            <a:r>
              <a:rPr sz="600" b="0" i="0">
                <a:solidFill>
                  <a:srgbClr val="000000"/>
                </a:solidFill>
                <a:latin typeface="Arial"/>
              </a:rPr>
              <a:t>-null mice show the corresponding dendritic deficits [3]. The cell-context statement places the signal in developing cortical and hippocampal projection neurons [4].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2489200" y="5562600"/>
            <a:ext cx="3860800" cy="1270"/>
          </a:xfrm>
          <a:prstGeom prst="rect">
            <a:avLst/>
          </a:prstGeom>
          <a:noFill/>
          <a:ln w="7620">
            <a:solidFill>
              <a:srgbClr val="E6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2489200" y="5600700"/>
            <a:ext cx="2540000" cy="889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1" i="0">
                <a:solidFill>
                  <a:srgbClr val="000000"/>
                </a:solidFill>
                <a:latin typeface="Arial"/>
              </a:rPr>
              <a:t>PubMed records retrieved by the platform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2489200" y="5708650"/>
            <a:ext cx="5334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PMID 40967226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048000" y="5708650"/>
            <a:ext cx="3098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Cell-type-specific dysregulation of gene expression due to Chd8 haploinsufficiency…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172200" y="5708650"/>
            <a:ext cx="177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50" b="1" i="0">
                <a:solidFill>
                  <a:srgbClr val="000000"/>
                </a:solidFill>
                <a:latin typeface="Arial"/>
              </a:rPr>
              <a:t>[1]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2489200" y="5802630"/>
            <a:ext cx="5334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PMID 42320469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3048000" y="5802630"/>
            <a:ext cx="3098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Single-cell profiling of DNA methylation in autism spectrum disorder prefrontal cortex…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172200" y="5802630"/>
            <a:ext cx="177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50" b="1" i="0">
                <a:solidFill>
                  <a:srgbClr val="000000"/>
                </a:solidFill>
                <a:latin typeface="Arial"/>
              </a:rPr>
              <a:t>[2]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2489200" y="5896610"/>
            <a:ext cx="5334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PMID 39863599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048000" y="5896610"/>
            <a:ext cx="3098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Developmental deficits, synapse and dendritic abnormalities in a Clcn4 KO autism mice model…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172200" y="5896610"/>
            <a:ext cx="177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50" b="1" i="0">
                <a:solidFill>
                  <a:srgbClr val="000000"/>
                </a:solidFill>
                <a:latin typeface="Arial"/>
              </a:rPr>
              <a:t>[3]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2489200" y="5990590"/>
            <a:ext cx="5334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PMID 34971749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3048000" y="5990590"/>
            <a:ext cx="3098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sz="550" b="0" i="0">
                <a:solidFill>
                  <a:srgbClr val="000000"/>
                </a:solidFill>
                <a:latin typeface="Arial"/>
              </a:rPr>
              <a:t>Length impairments of the axon initial segment in rodent models of ADHD and ASD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172200" y="5990590"/>
            <a:ext cx="177800" cy="8128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550" b="1" i="0">
                <a:solidFill>
                  <a:srgbClr val="000000"/>
                </a:solidFill>
                <a:latin typeface="Arial"/>
              </a:rPr>
              <a:t>[4]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606</Words>
  <Application>Microsoft Macintosh PowerPoint</Application>
  <PresentationFormat>Custom</PresentationFormat>
  <Paragraphs>138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Li, Yuxin</cp:lastModifiedBy>
  <cp:revision>36</cp:revision>
  <dcterms:created xsi:type="dcterms:W3CDTF">2013-01-27T09:14:16Z</dcterms:created>
  <dcterms:modified xsi:type="dcterms:W3CDTF">2026-09-21T04:34:11Z</dcterms:modified>
  <cp:category/>
</cp:coreProperties>
</file>