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702425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/>
    <p:restoredTop sz="94658"/>
  </p:normalViewPr>
  <p:slideViewPr>
    <p:cSldViewPr snapToGrid="0" snapToObjects="1">
      <p:cViewPr varScale="1">
        <p:scale>
          <a:sx n="164" d="100"/>
          <a:sy n="164" d="100"/>
        </p:scale>
        <p:origin x="2528" y="168"/>
      </p:cViewPr>
      <p:guideLst>
        <p:guide orient="horz" pos="20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20110"/>
            <a:ext cx="7772400" cy="139390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84969"/>
            <a:ext cx="6400800" cy="16618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78707"/>
            <a:ext cx="7772400" cy="12915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56201"/>
            <a:ext cx="7772400" cy="142250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17341"/>
            <a:ext cx="4038600" cy="42916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17341"/>
            <a:ext cx="4038600" cy="42916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55624"/>
            <a:ext cx="4040188" cy="6066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62258"/>
            <a:ext cx="4040188" cy="37466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55624"/>
            <a:ext cx="4041775" cy="6066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62258"/>
            <a:ext cx="4041775" cy="37466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58911"/>
            <a:ext cx="3008313" cy="11018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58912"/>
            <a:ext cx="5111750" cy="55500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60790"/>
            <a:ext cx="3008313" cy="4448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552020"/>
            <a:ext cx="5486400" cy="53739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81045"/>
            <a:ext cx="5486400" cy="39017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89412"/>
            <a:ext cx="5486400" cy="7631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60418"/>
            <a:ext cx="2057400" cy="55485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60418"/>
            <a:ext cx="6019800" cy="55485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0417"/>
            <a:ext cx="8229600" cy="1083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17341"/>
            <a:ext cx="8229600" cy="4291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027213"/>
            <a:ext cx="2133600" cy="346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027213"/>
            <a:ext cx="2895600" cy="346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027213"/>
            <a:ext cx="2133600" cy="346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A_letter"/>
          <p:cNvSpPr txBox="1"/>
          <p:nvPr/>
        </p:nvSpPr>
        <p:spPr>
          <a:xfrm>
            <a:off x="45720" y="95853"/>
            <a:ext cx="2743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202124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32" y="117716"/>
            <a:ext cx="630936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02124"/>
                </a:solidFill>
                <a:latin typeface="Arial"/>
              </a:rPr>
              <a:t>From the reasoning path to cell-type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6725" y="205921"/>
            <a:ext cx="2743200" cy="76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00" b="1" dirty="0">
                <a:latin typeface="Arial"/>
              </a:rPr>
              <a:t>Disease   </a:t>
            </a:r>
            <a:r>
              <a:rPr lang="en-US" sz="500" b="1" dirty="0">
                <a:latin typeface="Arial"/>
              </a:rPr>
              <a:t>                     V</a:t>
            </a:r>
            <a:r>
              <a:rPr sz="500" b="1" dirty="0">
                <a:latin typeface="Arial"/>
              </a:rPr>
              <a:t>alidated pathway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8808" y="204026"/>
            <a:ext cx="724759" cy="76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00" b="1" dirty="0">
                <a:latin typeface="Arial"/>
              </a:rPr>
              <a:t>Cell-type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2449"/>
            <a:ext cx="6309360" cy="50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9" y="314327"/>
            <a:ext cx="607539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1" dirty="0">
                <a:solidFill>
                  <a:srgbClr val="1B2226"/>
                </a:solidFill>
                <a:latin typeface="Arial"/>
              </a:rPr>
              <a:t>Alzheimer's disease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63" y="314328"/>
            <a:ext cx="771045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endocytosis  [GO:0006897]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04116"/>
            <a:ext cx="3837589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“Particularly important in </a:t>
            </a:r>
            <a:r>
              <a:rPr sz="500" b="1" dirty="0">
                <a:solidFill>
                  <a:srgbClr val="1F6F63"/>
                </a:solidFill>
                <a:latin typeface="Arial"/>
              </a:rPr>
              <a:t>neurons</a:t>
            </a:r>
            <a:r>
              <a:rPr sz="500" dirty="0">
                <a:solidFill>
                  <a:srgbClr val="222222"/>
                </a:solidFill>
                <a:latin typeface="Arial"/>
              </a:rPr>
              <a:t> for APP and receptor trafficking at synapses, and in </a:t>
            </a:r>
            <a:r>
              <a:rPr sz="500" b="1" dirty="0">
                <a:solidFill>
                  <a:srgbClr val="1F6F63"/>
                </a:solidFill>
                <a:latin typeface="Arial"/>
              </a:rPr>
              <a:t>microglia</a:t>
            </a:r>
            <a:r>
              <a:rPr sz="500" dirty="0">
                <a:solidFill>
                  <a:srgbClr val="222222"/>
                </a:solidFill>
                <a:latin typeface="Arial"/>
              </a:rPr>
              <a:t> for uptake/clearance of Aβ and debris.”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8657" y="350712"/>
            <a:ext cx="256349" cy="99831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8815" y="369895"/>
            <a:ext cx="20999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Neurons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9643" y="354072"/>
            <a:ext cx="273288" cy="95795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2474" y="372262"/>
            <a:ext cx="227626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Microglia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4079" y="354071"/>
            <a:ext cx="287496" cy="97058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0953" y="372184"/>
            <a:ext cx="24205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Glial cells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482645"/>
            <a:ext cx="6016752" cy="3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9" y="509094"/>
            <a:ext cx="609141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1" dirty="0">
                <a:solidFill>
                  <a:srgbClr val="1B2226"/>
                </a:solidFill>
                <a:latin typeface="Arial"/>
              </a:rPr>
              <a:t>Parkinson's disease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222" y="509095"/>
            <a:ext cx="703719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lysosome  [GO:0005764]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604044"/>
            <a:ext cx="3300584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“Central in </a:t>
            </a:r>
            <a:r>
              <a:rPr sz="500" b="1" dirty="0">
                <a:solidFill>
                  <a:srgbClr val="1F6F63"/>
                </a:solidFill>
                <a:latin typeface="Arial"/>
              </a:rPr>
              <a:t>dopaminergic neurons</a:t>
            </a:r>
            <a:r>
              <a:rPr sz="500" dirty="0">
                <a:solidFill>
                  <a:srgbClr val="222222"/>
                </a:solidFill>
                <a:latin typeface="Arial"/>
              </a:rPr>
              <a:t> and </a:t>
            </a:r>
            <a:r>
              <a:rPr sz="500" b="1" dirty="0">
                <a:solidFill>
                  <a:srgbClr val="1F6F63"/>
                </a:solidFill>
                <a:latin typeface="Arial"/>
              </a:rPr>
              <a:t>glia</a:t>
            </a:r>
            <a:r>
              <a:rPr sz="500" dirty="0">
                <a:solidFill>
                  <a:srgbClr val="222222"/>
                </a:solidFill>
                <a:latin typeface="Arial"/>
              </a:rPr>
              <a:t> in PD-affected midbrain and striatum, where α-synuclein burden is high.”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48657" y="538499"/>
            <a:ext cx="603543" cy="106810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68299" y="561127"/>
            <a:ext cx="564257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Dopaminergic neurons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3348" y="535559"/>
            <a:ext cx="256349" cy="110494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16526" y="558460"/>
            <a:ext cx="20999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Neurons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845" y="538378"/>
            <a:ext cx="287496" cy="104506"/>
          </a:xfrm>
          <a:prstGeom prst="rect">
            <a:avLst/>
          </a:prstGeom>
          <a:solidFill>
            <a:srgbClr val="E0EBE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3567" y="561526"/>
            <a:ext cx="24205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F6F63"/>
                </a:solidFill>
                <a:latin typeface="Arial"/>
              </a:rPr>
              <a:t>Glial cells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677412"/>
            <a:ext cx="6016752" cy="3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9" y="703861"/>
            <a:ext cx="621965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1" dirty="0">
                <a:solidFill>
                  <a:srgbClr val="1B2226"/>
                </a:solidFill>
                <a:latin typeface="Arial"/>
              </a:rPr>
              <a:t>Rheumatoid arthritis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056" y="703862"/>
            <a:ext cx="1485984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Fc gamma R-mediated phagocytosis  [KEGG:04666]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790832"/>
            <a:ext cx="2452594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“Synovial </a:t>
            </a:r>
            <a:r>
              <a:rPr sz="500" b="1" dirty="0">
                <a:solidFill>
                  <a:srgbClr val="3F7A46"/>
                </a:solidFill>
                <a:latin typeface="Arial"/>
              </a:rPr>
              <a:t>macrophages</a:t>
            </a:r>
            <a:r>
              <a:rPr sz="500" dirty="0">
                <a:solidFill>
                  <a:srgbClr val="222222"/>
                </a:solidFill>
                <a:latin typeface="Arial"/>
              </a:rPr>
              <a:t> and infiltrating </a:t>
            </a:r>
            <a:r>
              <a:rPr sz="500" b="1" dirty="0">
                <a:solidFill>
                  <a:srgbClr val="3F7A46"/>
                </a:solidFill>
                <a:latin typeface="Arial"/>
              </a:rPr>
              <a:t>neutrophils</a:t>
            </a:r>
            <a:r>
              <a:rPr sz="500" dirty="0">
                <a:solidFill>
                  <a:srgbClr val="222222"/>
                </a:solidFill>
                <a:latin typeface="Arial"/>
              </a:rPr>
              <a:t> in inflamed joint fluid and pannus.”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48657" y="743737"/>
            <a:ext cx="377773" cy="107381"/>
          </a:xfrm>
          <a:prstGeom prst="rect">
            <a:avLst/>
          </a:prstGeom>
          <a:solidFill>
            <a:srgbClr val="E4ECE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70028" y="765099"/>
            <a:ext cx="335028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3F7A46"/>
                </a:solidFill>
                <a:latin typeface="Arial"/>
              </a:rPr>
              <a:t>Macrophages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7578" y="743736"/>
            <a:ext cx="372157" cy="104185"/>
          </a:xfrm>
          <a:prstGeom prst="rect">
            <a:avLst/>
          </a:prstGeom>
          <a:solidFill>
            <a:srgbClr val="E4ECE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93107" y="771302"/>
            <a:ext cx="32701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3F7A46"/>
                </a:solidFill>
                <a:latin typeface="Arial"/>
              </a:rPr>
              <a:t>Immune cells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884" y="743737"/>
            <a:ext cx="332525" cy="107381"/>
          </a:xfrm>
          <a:prstGeom prst="rect">
            <a:avLst/>
          </a:prstGeom>
          <a:solidFill>
            <a:srgbClr val="E4ECE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05180" y="765405"/>
            <a:ext cx="288541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3F7A46"/>
                </a:solidFill>
                <a:latin typeface="Arial"/>
              </a:rPr>
              <a:t>Neutrophils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" y="872179"/>
            <a:ext cx="6016752" cy="3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2609" y="898628"/>
            <a:ext cx="474489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1" dirty="0">
                <a:solidFill>
                  <a:srgbClr val="1B2226"/>
                </a:solidFill>
                <a:latin typeface="Arial"/>
              </a:rPr>
              <a:t>Type 2 diabetes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5608" y="897538"/>
            <a:ext cx="891270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insulin secretion  [GO:0030073]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" y="984182"/>
            <a:ext cx="2050241" cy="76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20" dirty="0">
                <a:solidFill>
                  <a:srgbClr val="222222"/>
                </a:solidFill>
                <a:latin typeface="Arial"/>
              </a:rPr>
              <a:t>“</a:t>
            </a:r>
            <a:r>
              <a:rPr sz="500" dirty="0">
                <a:solidFill>
                  <a:srgbClr val="222222"/>
                </a:solidFill>
                <a:latin typeface="Arial"/>
              </a:rPr>
              <a:t>Highly specific to </a:t>
            </a:r>
            <a:r>
              <a:rPr sz="500" b="1" dirty="0">
                <a:solidFill>
                  <a:srgbClr val="A64230"/>
                </a:solidFill>
                <a:latin typeface="Arial"/>
              </a:rPr>
              <a:t>pancreatic beta cells</a:t>
            </a:r>
            <a:r>
              <a:rPr sz="500" dirty="0">
                <a:solidFill>
                  <a:srgbClr val="222222"/>
                </a:solidFill>
                <a:latin typeface="Arial"/>
              </a:rPr>
              <a:t> within the islets of Langerhans.”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1066945"/>
            <a:ext cx="6309360" cy="50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6" name="PanelB_letter"/>
          <p:cNvSpPr txBox="1"/>
          <p:nvPr/>
        </p:nvSpPr>
        <p:spPr>
          <a:xfrm>
            <a:off x="45720" y="1260830"/>
            <a:ext cx="2743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202124"/>
                </a:solidFill>
                <a:latin typeface="Arial"/>
              </a:rPr>
              <a:t>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" y="1279118"/>
            <a:ext cx="3145536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dirty="0">
                <a:solidFill>
                  <a:srgbClr val="202124"/>
                </a:solidFill>
                <a:latin typeface="Arial"/>
              </a:rPr>
              <a:t>Pathway cell contexts by disease</a:t>
            </a:r>
          </a:p>
        </p:txBody>
      </p:sp>
      <p:pic>
        <p:nvPicPr>
          <p:cNvPr id="68" name="Picture 67" descr="panelB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26006"/>
            <a:ext cx="1950720" cy="252374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76725" y="1543958"/>
            <a:ext cx="80470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Progressive supranuclear palsy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5180" y="1558468"/>
            <a:ext cx="40233" cy="40233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7161" y="1649114"/>
            <a:ext cx="66364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Major depressive disorder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05180" y="1663624"/>
            <a:ext cx="40233" cy="40233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8847" y="1754270"/>
            <a:ext cx="51135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Alzheimer's disease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05180" y="1768780"/>
            <a:ext cx="40233" cy="40233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8820" y="1859426"/>
            <a:ext cx="51135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Parkinson's disease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05180" y="1873936"/>
            <a:ext cx="40233" cy="40233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6987" y="1964582"/>
            <a:ext cx="734175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Amyotrophic lateral sclerosis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5180" y="1979092"/>
            <a:ext cx="40233" cy="40233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579" y="2069737"/>
            <a:ext cx="43922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Multiple sclerosis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05180" y="2084248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9100" y="2174894"/>
            <a:ext cx="782265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Systemic lupus erythematosus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05180" y="2189404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84148" y="2280050"/>
            <a:ext cx="59631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Chronic kidney disease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05180" y="2294560"/>
            <a:ext cx="40233" cy="40233"/>
          </a:xfrm>
          <a:prstGeom prst="rect">
            <a:avLst/>
          </a:prstGeom>
          <a:solidFill>
            <a:srgbClr val="AEBBC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0971" y="2385206"/>
            <a:ext cx="448841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05180" y="2399716"/>
            <a:ext cx="40233" cy="40233"/>
          </a:xfrm>
          <a:prstGeom prst="rect">
            <a:avLst/>
          </a:prstGeom>
          <a:solidFill>
            <a:srgbClr val="D69C4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88442" y="2490361"/>
            <a:ext cx="993862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Chronic obstructive pulmonary disease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05180" y="2504872"/>
            <a:ext cx="40233" cy="40233"/>
          </a:xfrm>
          <a:prstGeom prst="rect">
            <a:avLst/>
          </a:prstGeom>
          <a:solidFill>
            <a:srgbClr val="AEBBC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58453" y="2595518"/>
            <a:ext cx="622250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Obstructive sleep apnea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05180" y="2610028"/>
            <a:ext cx="40233" cy="40233"/>
          </a:xfrm>
          <a:prstGeom prst="rect">
            <a:avLst/>
          </a:prstGeom>
          <a:solidFill>
            <a:srgbClr val="AEBBC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7754" y="2700674"/>
            <a:ext cx="411971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Crohn's disease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05180" y="2715184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83087" y="2805830"/>
            <a:ext cx="195566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Asthma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5180" y="2820340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6949" y="2910985"/>
            <a:ext cx="58349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Autoimmune thyroiditis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205180" y="2925496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53305" y="3016142"/>
            <a:ext cx="32701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Tuberculosis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05180" y="3030652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63960" y="3121298"/>
            <a:ext cx="51616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Rheumatoid arthritis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05180" y="3135808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44804" y="3226454"/>
            <a:ext cx="234038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Psoriasis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205180" y="3240964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88426" y="3331609"/>
            <a:ext cx="39113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Atrial fibrillation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05180" y="3346120"/>
            <a:ext cx="40233" cy="40233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5006" y="3436766"/>
            <a:ext cx="314189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Heart failure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05180" y="3451276"/>
            <a:ext cx="40233" cy="40233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29909" y="3541921"/>
            <a:ext cx="650819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Hepatocellular carcinoma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05180" y="3556432"/>
            <a:ext cx="40233" cy="40233"/>
          </a:xfrm>
          <a:prstGeom prst="rect">
            <a:avLst/>
          </a:prstGeom>
          <a:solidFill>
            <a:srgbClr val="D69C4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70804" y="3647077"/>
            <a:ext cx="410369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Type 2 diabetes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05180" y="3661588"/>
            <a:ext cx="40233" cy="40233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39457" y="3752233"/>
            <a:ext cx="339837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Hypertension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205180" y="3766744"/>
            <a:ext cx="40233" cy="40233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65026" y="3857390"/>
            <a:ext cx="615553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Coronary artery disease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05180" y="3871900"/>
            <a:ext cx="40233" cy="40233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6095" y="3962546"/>
            <a:ext cx="714939" cy="6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>
                <a:solidFill>
                  <a:srgbClr val="222222"/>
                </a:solidFill>
                <a:latin typeface="Arial"/>
              </a:rPr>
              <a:t>Inflammatory bowel disease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205180" y="3977056"/>
            <a:ext cx="40233" cy="40233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 rot="18900000">
            <a:off x="1194971" y="4114330"/>
            <a:ext cx="205184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1F6F63"/>
                </a:solidFill>
                <a:latin typeface="Arial"/>
              </a:rPr>
              <a:t>Neurons</a:t>
            </a:r>
          </a:p>
        </p:txBody>
      </p:sp>
      <p:sp>
        <p:nvSpPr>
          <p:cNvPr id="118" name="TextBox 117"/>
          <p:cNvSpPr txBox="1"/>
          <p:nvPr/>
        </p:nvSpPr>
        <p:spPr>
          <a:xfrm rot="18900000">
            <a:off x="1276447" y="4154143"/>
            <a:ext cx="317395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3F7A46"/>
                </a:solidFill>
                <a:latin typeface="Arial"/>
              </a:rPr>
              <a:t>Immune cells</a:t>
            </a:r>
          </a:p>
        </p:txBody>
      </p:sp>
      <p:sp>
        <p:nvSpPr>
          <p:cNvPr id="119" name="TextBox 118"/>
          <p:cNvSpPr txBox="1"/>
          <p:nvPr/>
        </p:nvSpPr>
        <p:spPr>
          <a:xfrm rot="18900000">
            <a:off x="1435011" y="4162552"/>
            <a:ext cx="338234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B0761C"/>
                </a:solidFill>
                <a:latin typeface="Arial"/>
              </a:rPr>
              <a:t>Epithelial cells</a:t>
            </a:r>
          </a:p>
        </p:txBody>
      </p:sp>
      <p:sp>
        <p:nvSpPr>
          <p:cNvPr id="120" name="TextBox 119"/>
          <p:cNvSpPr txBox="1"/>
          <p:nvPr/>
        </p:nvSpPr>
        <p:spPr>
          <a:xfrm rot="18900000">
            <a:off x="1676544" y="4135282"/>
            <a:ext cx="264496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5B4A96"/>
                </a:solidFill>
                <a:latin typeface="Arial"/>
              </a:rPr>
              <a:t>Fibroblasts</a:t>
            </a:r>
          </a:p>
        </p:txBody>
      </p:sp>
      <p:sp>
        <p:nvSpPr>
          <p:cNvPr id="121" name="TextBox 120"/>
          <p:cNvSpPr txBox="1"/>
          <p:nvPr/>
        </p:nvSpPr>
        <p:spPr>
          <a:xfrm rot="18900000">
            <a:off x="1883913" y="4123741"/>
            <a:ext cx="227626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1F6F63"/>
                </a:solidFill>
                <a:latin typeface="Arial"/>
              </a:rPr>
              <a:t>Glial cells</a:t>
            </a:r>
          </a:p>
        </p:txBody>
      </p:sp>
      <p:sp>
        <p:nvSpPr>
          <p:cNvPr id="122" name="TextBox 121"/>
          <p:cNvSpPr txBox="1"/>
          <p:nvPr/>
        </p:nvSpPr>
        <p:spPr>
          <a:xfrm rot="18900000">
            <a:off x="1926644" y="4178254"/>
            <a:ext cx="387927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A64230"/>
                </a:solidFill>
                <a:latin typeface="Arial"/>
              </a:rPr>
              <a:t>Cardiomyocytes</a:t>
            </a:r>
          </a:p>
        </p:txBody>
      </p:sp>
      <p:sp>
        <p:nvSpPr>
          <p:cNvPr id="123" name="TextBox 122"/>
          <p:cNvSpPr txBox="1"/>
          <p:nvPr/>
        </p:nvSpPr>
        <p:spPr>
          <a:xfrm rot="18900000">
            <a:off x="2177694" y="4147879"/>
            <a:ext cx="301365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A64230"/>
                </a:solidFill>
                <a:latin typeface="Arial"/>
              </a:rPr>
              <a:t>Hepatocytes</a:t>
            </a:r>
          </a:p>
        </p:txBody>
      </p:sp>
      <p:sp>
        <p:nvSpPr>
          <p:cNvPr id="124" name="TextBox 123"/>
          <p:cNvSpPr txBox="1"/>
          <p:nvPr/>
        </p:nvSpPr>
        <p:spPr>
          <a:xfrm rot="18900000">
            <a:off x="2190791" y="4215995"/>
            <a:ext cx="493725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5B4A96"/>
                </a:solidFill>
                <a:latin typeface="Arial"/>
              </a:rPr>
              <a:t>Smooth muscle cells</a:t>
            </a:r>
          </a:p>
        </p:txBody>
      </p:sp>
      <p:sp>
        <p:nvSpPr>
          <p:cNvPr id="125" name="TextBox 124"/>
          <p:cNvSpPr txBox="1"/>
          <p:nvPr/>
        </p:nvSpPr>
        <p:spPr>
          <a:xfrm rot="18900000">
            <a:off x="2308523" y="4241192"/>
            <a:ext cx="562655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B0761C"/>
                </a:solidFill>
                <a:latin typeface="Arial"/>
              </a:rPr>
              <a:t>Intestinal epithelial cells</a:t>
            </a:r>
          </a:p>
        </p:txBody>
      </p:sp>
      <p:sp>
        <p:nvSpPr>
          <p:cNvPr id="126" name="TextBox 125"/>
          <p:cNvSpPr txBox="1"/>
          <p:nvPr/>
        </p:nvSpPr>
        <p:spPr>
          <a:xfrm rot="18900000">
            <a:off x="2542898" y="4217072"/>
            <a:ext cx="496931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">
                <a:solidFill>
                  <a:srgbClr val="A64230"/>
                </a:solidFill>
                <a:latin typeface="Arial"/>
              </a:rPr>
              <a:t>Pancreatic beta cells</a:t>
            </a:r>
          </a:p>
        </p:txBody>
      </p:sp>
      <p:sp>
        <p:nvSpPr>
          <p:cNvPr id="378" name="TextBox 377"/>
          <p:cNvSpPr txBox="1"/>
          <p:nvPr/>
        </p:nvSpPr>
        <p:spPr>
          <a:xfrm rot="18900000">
            <a:off x="2831250" y="4170631"/>
            <a:ext cx="365000" cy="646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420">
                <a:solidFill>
                  <a:srgbClr val="5B4A96"/>
                </a:solidFill>
                <a:latin typeface="Arial"/>
              </a:rPr>
              <a:t>Endothelial cells</a:t>
            </a:r>
          </a:p>
        </p:txBody>
      </p:sp>
      <p:pic>
        <p:nvPicPr>
          <p:cNvPr id="127" name="Picture 126" descr="panelB_color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64" y="4653198"/>
            <a:ext cx="731520" cy="50292"/>
          </a:xfrm>
          <a:prstGeom prst="rect">
            <a:avLst/>
          </a:prstGeom>
        </p:spPr>
      </p:pic>
      <p:sp>
        <p:nvSpPr>
          <p:cNvPr id="128" name="Rectangle 127"/>
          <p:cNvSpPr/>
          <p:nvPr/>
        </p:nvSpPr>
        <p:spPr>
          <a:xfrm>
            <a:off x="863764" y="4653198"/>
            <a:ext cx="731520" cy="50292"/>
          </a:xfrm>
          <a:prstGeom prst="rect">
            <a:avLst/>
          </a:prstGeom>
          <a:noFill/>
          <a:ln w="5080">
            <a:solidFill>
              <a:srgbClr val="9BAAB2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63764" y="4557186"/>
            <a:ext cx="914400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Pathway proportion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1468" y="4712634"/>
            <a:ext cx="164592" cy="60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">
                <a:solidFill>
                  <a:srgbClr val="4A5157"/>
                </a:solidFill>
                <a:latin typeface="Arial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47228" y="4712634"/>
            <a:ext cx="164592" cy="60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">
                <a:solidFill>
                  <a:srgbClr val="4A5157"/>
                </a:solidFill>
                <a:latin typeface="Arial"/>
              </a:rPr>
              <a:t>0.5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12988" y="4712634"/>
            <a:ext cx="164592" cy="60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">
                <a:solidFill>
                  <a:srgbClr val="4A5157"/>
                </a:solidFill>
                <a:latin typeface="Arial"/>
              </a:rPr>
              <a:t>1.0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" y="4320578"/>
            <a:ext cx="1280160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1" dirty="0">
                <a:solidFill>
                  <a:srgbClr val="333333"/>
                </a:solidFill>
                <a:latin typeface="Arial"/>
              </a:rPr>
              <a:t>Disease class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4865" y="4419333"/>
            <a:ext cx="34747" cy="34747"/>
          </a:xfrm>
          <a:prstGeom prst="rect">
            <a:avLst/>
          </a:prstGeom>
          <a:solidFill>
            <a:srgbClr val="7FA6C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7899" y="4406387"/>
            <a:ext cx="991568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">
                <a:solidFill>
                  <a:srgbClr val="7FA6C4"/>
                </a:solidFill>
                <a:latin typeface="Arial"/>
              </a:rPr>
              <a:t>Central nervous system / neuropsychiatric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5" y="4497971"/>
            <a:ext cx="34747" cy="34747"/>
          </a:xfrm>
          <a:prstGeom prst="rect">
            <a:avLst/>
          </a:prstGeom>
          <a:solidFill>
            <a:srgbClr val="83B77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7899" y="4485025"/>
            <a:ext cx="562340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">
                <a:solidFill>
                  <a:srgbClr val="83B77B"/>
                </a:solidFill>
                <a:latin typeface="Arial"/>
              </a:rPr>
              <a:t>Immune / inflammatory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5" y="4576610"/>
            <a:ext cx="34747" cy="34747"/>
          </a:xfrm>
          <a:prstGeom prst="rect">
            <a:avLst/>
          </a:prstGeom>
          <a:solidFill>
            <a:srgbClr val="C77D7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7900" y="4563663"/>
            <a:ext cx="412793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">
                <a:solidFill>
                  <a:srgbClr val="C77D73"/>
                </a:solidFill>
                <a:latin typeface="Arial"/>
              </a:rPr>
              <a:t>Cardiometabolic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5" y="4655248"/>
            <a:ext cx="34747" cy="34747"/>
          </a:xfrm>
          <a:prstGeom prst="rect">
            <a:avLst/>
          </a:prstGeom>
          <a:solidFill>
            <a:srgbClr val="AEBBC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7900" y="4642302"/>
            <a:ext cx="460763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">
                <a:solidFill>
                  <a:srgbClr val="AEBBC5"/>
                </a:solidFill>
                <a:latin typeface="Arial"/>
              </a:rPr>
              <a:t>Respiratory / renal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4865" y="4733886"/>
            <a:ext cx="34747" cy="34747"/>
          </a:xfrm>
          <a:prstGeom prst="rect">
            <a:avLst/>
          </a:prstGeom>
          <a:solidFill>
            <a:srgbClr val="D69C4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07899" y="4720940"/>
            <a:ext cx="446698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">
                <a:solidFill>
                  <a:srgbClr val="D69C45"/>
                </a:solidFill>
                <a:latin typeface="Arial"/>
              </a:rPr>
              <a:t>Epithelial / cancer</a:t>
            </a:r>
          </a:p>
        </p:txBody>
      </p:sp>
      <p:sp>
        <p:nvSpPr>
          <p:cNvPr id="144" name="PanelC_letter"/>
          <p:cNvSpPr txBox="1"/>
          <p:nvPr/>
        </p:nvSpPr>
        <p:spPr>
          <a:xfrm>
            <a:off x="3310128" y="1134815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Arial"/>
              </a:rPr>
              <a:t>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67050" y="1189676"/>
            <a:ext cx="3218688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dirty="0">
                <a:solidFill>
                  <a:srgbClr val="202124"/>
                </a:solidFill>
                <a:latin typeface="Arial"/>
              </a:rPr>
              <a:t>Disease-level pathway cell-type contexts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912769" y="1438909"/>
            <a:ext cx="1044546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1" dirty="0">
                <a:solidFill>
                  <a:srgbClr val="202124"/>
                </a:solidFill>
                <a:latin typeface="Arial"/>
              </a:rPr>
              <a:t>Alzheimer’s disease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02954" y="1601543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Neurons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189338" y="1596094"/>
            <a:ext cx="495545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710487" y="1603850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280 (90%)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402954" y="1729559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Glial cells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89337" y="1724110"/>
            <a:ext cx="235384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450325" y="1731866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133 (43%)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02954" y="1857575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Hippocampal neurons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189337" y="1852126"/>
            <a:ext cx="196448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11389" y="1859882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111 (36%)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02954" y="1985591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Cortical neurons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89337" y="1980142"/>
            <a:ext cx="192908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407850" y="1987898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109 (35%)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02954" y="2113607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Microglia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189338" y="2108158"/>
            <a:ext cx="129195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344137" y="2115914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73 (24%)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02954" y="2241623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Astrocytes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189337" y="2236174"/>
            <a:ext cx="123886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338827" y="2243930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70 (23%)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02954" y="2369639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Pyramidal neurons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189337" y="2364190"/>
            <a:ext cx="107958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322899" y="2371946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61 (20%)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02954" y="2497655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Excitatory neurons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89337" y="2492206"/>
            <a:ext cx="47784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4262725" y="2499962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27 (9%)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02954" y="2625671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Glutamatergic neurons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189337" y="2620222"/>
            <a:ext cx="17698" cy="75529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232639" y="2627978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10 (3%)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402954" y="2753687"/>
            <a:ext cx="731520" cy="64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20">
                <a:solidFill>
                  <a:srgbClr val="222222"/>
                </a:solidFill>
                <a:latin typeface="Arial"/>
              </a:rPr>
              <a:t>Endothelial cells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89337" y="2748238"/>
            <a:ext cx="14158" cy="75529"/>
          </a:xfrm>
          <a:prstGeom prst="rect">
            <a:avLst/>
          </a:prstGeom>
          <a:solidFill>
            <a:srgbClr val="5B4A9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229099" y="2755994"/>
            <a:ext cx="365760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>
                <a:solidFill>
                  <a:srgbClr val="4A5157"/>
                </a:solidFill>
                <a:latin typeface="Arial"/>
              </a:rPr>
              <a:t>8 (3%)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06934" y="1368558"/>
            <a:ext cx="902426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1" dirty="0">
                <a:solidFill>
                  <a:srgbClr val="202124"/>
                </a:solidFill>
                <a:latin typeface="Arial"/>
              </a:rPr>
              <a:t>Parkinson’s disease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015862" y="1524805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Neurons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10806" y="1520507"/>
            <a:ext cx="387776" cy="7168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124185" y="1527113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364 (88%)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15862" y="1645505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Dopaminergic neurons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710807" y="1641208"/>
            <a:ext cx="296159" cy="7168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6032568" y="1647813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278 (67%)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15862" y="1766206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Glial cells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710806" y="1761909"/>
            <a:ext cx="131034" cy="7168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867443" y="1768514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123 (30%)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15862" y="1886907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Microglia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710807" y="1882610"/>
            <a:ext cx="54331" cy="7168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790740" y="1889215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51 (12%)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15862" y="2007608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Astrocytes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710806" y="2003311"/>
            <a:ext cx="46874" cy="71688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5783283" y="2009916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44 (11%)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383826" y="2189630"/>
            <a:ext cx="776896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1" dirty="0">
                <a:solidFill>
                  <a:srgbClr val="202124"/>
                </a:solidFill>
                <a:latin typeface="Arial"/>
              </a:rPr>
              <a:t>Type 2 diabetes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15862" y="2330594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Pancreatic beta cells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10807" y="2326296"/>
            <a:ext cx="207663" cy="71688"/>
          </a:xfrm>
          <a:prstGeom prst="rect">
            <a:avLst/>
          </a:prstGeom>
          <a:solidFill>
            <a:srgbClr val="A6423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944072" y="2332902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361 (47%)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15862" y="2451294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Hepatocytes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710807" y="2446997"/>
            <a:ext cx="148413" cy="71688"/>
          </a:xfrm>
          <a:prstGeom prst="rect">
            <a:avLst/>
          </a:prstGeom>
          <a:solidFill>
            <a:srgbClr val="A6423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884822" y="2453602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258 (34%)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15862" y="2571995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Immune cells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710807" y="2567698"/>
            <a:ext cx="48895" cy="71688"/>
          </a:xfrm>
          <a:prstGeom prst="rect">
            <a:avLst/>
          </a:prstGeom>
          <a:solidFill>
            <a:srgbClr val="3F7A4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5785305" y="2574303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85 (11%)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15862" y="2692696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Endothelial cells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710807" y="2688399"/>
            <a:ext cx="35089" cy="71688"/>
          </a:xfrm>
          <a:prstGeom prst="rect">
            <a:avLst/>
          </a:prstGeom>
          <a:solidFill>
            <a:srgbClr val="5B4A9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5771499" y="2695004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61 (8%)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15862" y="2813397"/>
            <a:ext cx="658368" cy="63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410">
                <a:solidFill>
                  <a:srgbClr val="222222"/>
                </a:solidFill>
                <a:latin typeface="Arial"/>
              </a:rPr>
              <a:t>Macrophages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710807" y="2809100"/>
            <a:ext cx="21859" cy="71688"/>
          </a:xfrm>
          <a:prstGeom prst="rect">
            <a:avLst/>
          </a:prstGeom>
          <a:solidFill>
            <a:srgbClr val="3F7A4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5758268" y="2815705"/>
            <a:ext cx="365760" cy="58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>
                <a:solidFill>
                  <a:srgbClr val="4A5157"/>
                </a:solidFill>
                <a:latin typeface="Arial"/>
              </a:rPr>
              <a:t>38 (5%)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577087" y="2976364"/>
            <a:ext cx="811926" cy="76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00" b="1" dirty="0">
                <a:solidFill>
                  <a:srgbClr val="333333"/>
                </a:solidFill>
                <a:latin typeface="Arial"/>
              </a:rPr>
              <a:t>Cell</a:t>
            </a:r>
            <a:r>
              <a:rPr lang="en-US" sz="500" b="1" dirty="0">
                <a:solidFill>
                  <a:srgbClr val="333333"/>
                </a:solidFill>
                <a:latin typeface="Arial"/>
              </a:rPr>
              <a:t>-type </a:t>
            </a:r>
            <a:r>
              <a:rPr sz="500" b="1" dirty="0">
                <a:solidFill>
                  <a:srgbClr val="333333"/>
                </a:solidFill>
                <a:latin typeface="Arial"/>
              </a:rPr>
              <a:t>context</a:t>
            </a:r>
            <a:r>
              <a:rPr lang="en-US" sz="500" b="1" dirty="0">
                <a:solidFill>
                  <a:srgbClr val="333333"/>
                </a:solidFill>
                <a:latin typeface="Arial"/>
              </a:rPr>
              <a:t> group</a:t>
            </a:r>
            <a:endParaRPr sz="5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4337074" y="2999656"/>
            <a:ext cx="36576" cy="36576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4388282" y="2988851"/>
            <a:ext cx="331093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 b="1" dirty="0">
                <a:solidFill>
                  <a:srgbClr val="1F6F63"/>
                </a:solidFill>
                <a:latin typeface="Arial"/>
              </a:rPr>
              <a:t>Neural / glial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787954" y="2999656"/>
            <a:ext cx="36576" cy="36576"/>
          </a:xfrm>
          <a:prstGeom prst="rect">
            <a:avLst/>
          </a:prstGeom>
          <a:solidFill>
            <a:srgbClr val="3F7A4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4839162" y="2988851"/>
            <a:ext cx="226473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 b="1">
                <a:solidFill>
                  <a:srgbClr val="3F7A46"/>
                </a:solidFill>
                <a:latin typeface="Arial"/>
              </a:rPr>
              <a:t>Immune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134214" y="2999656"/>
            <a:ext cx="36576" cy="36576"/>
          </a:xfrm>
          <a:prstGeom prst="rect">
            <a:avLst/>
          </a:prstGeom>
          <a:solidFill>
            <a:srgbClr val="B076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5185420" y="2988851"/>
            <a:ext cx="256756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 b="1">
                <a:solidFill>
                  <a:srgbClr val="B0761C"/>
                </a:solidFill>
                <a:latin typeface="Arial"/>
              </a:rPr>
              <a:t>Epithelial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510757" y="2994893"/>
            <a:ext cx="36576" cy="36576"/>
          </a:xfrm>
          <a:prstGeom prst="rect">
            <a:avLst/>
          </a:prstGeom>
          <a:solidFill>
            <a:srgbClr val="5B4A9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5561963" y="2984088"/>
            <a:ext cx="463292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 b="1">
                <a:solidFill>
                  <a:srgbClr val="5B4A96"/>
                </a:solidFill>
                <a:latin typeface="Arial"/>
              </a:rPr>
              <a:t>Stromal / vascular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093835" y="2994893"/>
            <a:ext cx="36576" cy="36576"/>
          </a:xfrm>
          <a:prstGeom prst="rect">
            <a:avLst/>
          </a:prstGeom>
          <a:solidFill>
            <a:srgbClr val="A6423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6145042" y="2984088"/>
            <a:ext cx="265006" cy="60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" b="1">
                <a:solidFill>
                  <a:srgbClr val="A64230"/>
                </a:solidFill>
                <a:latin typeface="Arial"/>
              </a:rPr>
              <a:t>Metabolic</a:t>
            </a:r>
          </a:p>
        </p:txBody>
      </p:sp>
      <p:sp>
        <p:nvSpPr>
          <p:cNvPr id="223" name="PanelD_letter"/>
          <p:cNvSpPr txBox="1"/>
          <p:nvPr/>
        </p:nvSpPr>
        <p:spPr>
          <a:xfrm>
            <a:off x="3310128" y="3154522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Arial"/>
              </a:rPr>
              <a:t>D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401568" y="3172809"/>
            <a:ext cx="3218688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02124"/>
                </a:solidFill>
                <a:latin typeface="Arial"/>
              </a:rPr>
              <a:t>Alzheimer’s disease: pathway-level cell-type context</a:t>
            </a:r>
          </a:p>
        </p:txBody>
      </p:sp>
      <p:sp>
        <p:nvSpPr>
          <p:cNvPr id="225" name="TextBox 224"/>
          <p:cNvSpPr txBox="1"/>
          <p:nvPr/>
        </p:nvSpPr>
        <p:spPr>
          <a:xfrm rot="18900000">
            <a:off x="4415588" y="4550475"/>
            <a:ext cx="187552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Neurons</a:t>
            </a:r>
          </a:p>
        </p:txBody>
      </p:sp>
      <p:sp>
        <p:nvSpPr>
          <p:cNvPr id="226" name="TextBox 225"/>
          <p:cNvSpPr txBox="1"/>
          <p:nvPr/>
        </p:nvSpPr>
        <p:spPr>
          <a:xfrm rot="18900000">
            <a:off x="4398756" y="4615276"/>
            <a:ext cx="362279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Cortical neurons</a:t>
            </a:r>
          </a:p>
        </p:txBody>
      </p:sp>
      <p:sp>
        <p:nvSpPr>
          <p:cNvPr id="227" name="TextBox 226"/>
          <p:cNvSpPr txBox="1"/>
          <p:nvPr/>
        </p:nvSpPr>
        <p:spPr>
          <a:xfrm rot="18900000">
            <a:off x="4444201" y="4645050"/>
            <a:ext cx="482503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Hippocampal neurons</a:t>
            </a:r>
          </a:p>
        </p:txBody>
      </p:sp>
      <p:sp>
        <p:nvSpPr>
          <p:cNvPr id="228" name="TextBox 227"/>
          <p:cNvSpPr txBox="1"/>
          <p:nvPr/>
        </p:nvSpPr>
        <p:spPr>
          <a:xfrm rot="18900000">
            <a:off x="4793945" y="4564486"/>
            <a:ext cx="214802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Glial cells</a:t>
            </a:r>
          </a:p>
        </p:txBody>
      </p:sp>
      <p:sp>
        <p:nvSpPr>
          <p:cNvPr id="229" name="TextBox 228"/>
          <p:cNvSpPr txBox="1"/>
          <p:nvPr/>
        </p:nvSpPr>
        <p:spPr>
          <a:xfrm rot="18900000">
            <a:off x="4766841" y="4627536"/>
            <a:ext cx="413575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Pyramidal neurons</a:t>
            </a:r>
          </a:p>
        </p:txBody>
      </p:sp>
      <p:sp>
        <p:nvSpPr>
          <p:cNvPr id="230" name="TextBox 229"/>
          <p:cNvSpPr txBox="1"/>
          <p:nvPr/>
        </p:nvSpPr>
        <p:spPr>
          <a:xfrm rot="18900000">
            <a:off x="5079629" y="4557481"/>
            <a:ext cx="198772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Microglia</a:t>
            </a:r>
          </a:p>
        </p:txBody>
      </p:sp>
      <p:sp>
        <p:nvSpPr>
          <p:cNvPr id="231" name="TextBox 230"/>
          <p:cNvSpPr txBox="1"/>
          <p:nvPr/>
        </p:nvSpPr>
        <p:spPr>
          <a:xfrm rot="18900000">
            <a:off x="5184267" y="4569741"/>
            <a:ext cx="235641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Astrocytes</a:t>
            </a:r>
          </a:p>
        </p:txBody>
      </p:sp>
      <p:sp>
        <p:nvSpPr>
          <p:cNvPr id="232" name="TextBox 231"/>
          <p:cNvSpPr txBox="1"/>
          <p:nvPr/>
        </p:nvSpPr>
        <p:spPr>
          <a:xfrm rot="18900000">
            <a:off x="5167580" y="4632790"/>
            <a:ext cx="413575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Excitatory neurons</a:t>
            </a:r>
          </a:p>
        </p:txBody>
      </p:sp>
      <p:sp>
        <p:nvSpPr>
          <p:cNvPr id="233" name="TextBox 232"/>
          <p:cNvSpPr txBox="1"/>
          <p:nvPr/>
        </p:nvSpPr>
        <p:spPr>
          <a:xfrm rot="18900000">
            <a:off x="5236061" y="4655558"/>
            <a:ext cx="501740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Glutamatergic neurons</a:t>
            </a:r>
          </a:p>
        </p:txBody>
      </p:sp>
      <p:sp>
        <p:nvSpPr>
          <p:cNvPr id="234" name="TextBox 233"/>
          <p:cNvSpPr txBox="1"/>
          <p:nvPr/>
        </p:nvSpPr>
        <p:spPr>
          <a:xfrm rot="18900000">
            <a:off x="5483958" y="4613525"/>
            <a:ext cx="360675" cy="60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90">
                <a:solidFill>
                  <a:srgbClr val="222222"/>
                </a:solidFill>
                <a:latin typeface="Arial"/>
              </a:rPr>
              <a:t>Endothelial cells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841399" y="3428925"/>
            <a:ext cx="626774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endocytosis  [GO:0006897]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04750" y="3410553"/>
            <a:ext cx="135331" cy="98298"/>
          </a:xfrm>
          <a:prstGeom prst="rect">
            <a:avLst/>
          </a:prstGeom>
          <a:solidFill>
            <a:srgbClr val="457EA9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640081" y="3410553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775412" y="3410553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910743" y="3410553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046074" y="3410553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181406" y="3410553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316737" y="3410553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452068" y="341055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5587399" y="3410553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722730" y="341055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3684305" y="3527223"/>
            <a:ext cx="783868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plasma membrane  [GO:0005886]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504750" y="3508851"/>
            <a:ext cx="135331" cy="98298"/>
          </a:xfrm>
          <a:prstGeom prst="rect">
            <a:avLst/>
          </a:prstGeom>
          <a:solidFill>
            <a:srgbClr val="2F6F9F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640081" y="3508851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775412" y="3508851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910743" y="350885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046074" y="350885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181406" y="350885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316737" y="3508851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452068" y="3508851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587399" y="3508851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5722730" y="3508851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3921551" y="3625521"/>
            <a:ext cx="546623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synapse  [GO:0045202]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504750" y="3607149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4640081" y="3607149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775412" y="3607149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910743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5046074" y="3607149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181406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5316737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5452068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5587399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5722730" y="360714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506371" y="3723818"/>
            <a:ext cx="961802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vesicle-mediated transport  [GO:0016192]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504750" y="3705446"/>
            <a:ext cx="135331" cy="98298"/>
          </a:xfrm>
          <a:prstGeom prst="rect">
            <a:avLst/>
          </a:prstGeom>
          <a:solidFill>
            <a:srgbClr val="457EA9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640081" y="3705446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4775412" y="3705446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4910743" y="3705446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46074" y="3705446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5181406" y="3705446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5316737" y="3705446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5452068" y="3705446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5587399" y="3705446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5722730" y="3705446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658657" y="3822116"/>
            <a:ext cx="809516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Autophagy - animal  [KEGG:04140]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504750" y="3803744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4640081" y="3803744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4775412" y="3803744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4910743" y="3803744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5046074" y="3803744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5181406" y="3803744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5316737" y="3803744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5452068" y="3803744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5587399" y="3803744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5722730" y="3803744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748425" y="3920414"/>
            <a:ext cx="719748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Golgi apparatus  [GO:0005794]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4504750" y="3902042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640081" y="3902042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4775412" y="3902042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4910743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5046074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5181406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5316737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5452068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5587399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5722730" y="3902042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3536829" y="4018713"/>
            <a:ext cx="931344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Protein processing in ER  [KEGG:04141]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504750" y="4000341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640081" y="400034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775412" y="400034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910743" y="4000341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046074" y="4000341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181406" y="4000341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16737" y="4000341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5452068" y="4000341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587399" y="4000341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1" name="Rectangle 310"/>
          <p:cNvSpPr/>
          <p:nvPr/>
        </p:nvSpPr>
        <p:spPr>
          <a:xfrm>
            <a:off x="5722730" y="4000341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2" name="TextBox 311"/>
          <p:cNvSpPr txBox="1"/>
          <p:nvPr/>
        </p:nvSpPr>
        <p:spPr>
          <a:xfrm>
            <a:off x="3410191" y="4117011"/>
            <a:ext cx="1057982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cell adhesion molecule binding  [GO:0050839]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504750" y="4098639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640081" y="4098639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775412" y="4098639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910743" y="4098639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5046074" y="4098639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181406" y="409863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9" name="Rectangle 318"/>
          <p:cNvSpPr/>
          <p:nvPr/>
        </p:nvSpPr>
        <p:spPr>
          <a:xfrm>
            <a:off x="5316737" y="4098639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452068" y="4098639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5587399" y="4098639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5722730" y="4098639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596139" y="4215309"/>
            <a:ext cx="872034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glutamatergic synapse  [GO:0098978]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504750" y="4196937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640081" y="4196937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775412" y="4196937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910743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8" name="Rectangle 327"/>
          <p:cNvSpPr/>
          <p:nvPr/>
        </p:nvSpPr>
        <p:spPr>
          <a:xfrm>
            <a:off x="5046074" y="4196937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5181406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0" name="Rectangle 329"/>
          <p:cNvSpPr/>
          <p:nvPr/>
        </p:nvSpPr>
        <p:spPr>
          <a:xfrm>
            <a:off x="5316737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5452068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2" name="Rectangle 331"/>
          <p:cNvSpPr/>
          <p:nvPr/>
        </p:nvSpPr>
        <p:spPr>
          <a:xfrm>
            <a:off x="5587399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5722730" y="4196937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3895901" y="4313607"/>
            <a:ext cx="572272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lysosome  [GO:0005764]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504750" y="4295235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640081" y="4295235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775412" y="4295235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4910743" y="4295235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5046074" y="4295235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0" name="Rectangle 339"/>
          <p:cNvSpPr/>
          <p:nvPr/>
        </p:nvSpPr>
        <p:spPr>
          <a:xfrm>
            <a:off x="5181406" y="4295235"/>
            <a:ext cx="135331" cy="98298"/>
          </a:xfrm>
          <a:prstGeom prst="rect">
            <a:avLst/>
          </a:prstGeom>
          <a:solidFill>
            <a:srgbClr val="88ACC8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3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5316737" y="4295235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5452068" y="4295235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3" name="Rectangle 342"/>
          <p:cNvSpPr/>
          <p:nvPr/>
        </p:nvSpPr>
        <p:spPr>
          <a:xfrm>
            <a:off x="5587399" y="4295235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4" name="Rectangle 343"/>
          <p:cNvSpPr/>
          <p:nvPr/>
        </p:nvSpPr>
        <p:spPr>
          <a:xfrm>
            <a:off x="5722730" y="4295235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3649039" y="4411905"/>
            <a:ext cx="819134" cy="61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00">
                <a:solidFill>
                  <a:srgbClr val="222222"/>
                </a:solidFill>
                <a:latin typeface="Arial"/>
              </a:rPr>
              <a:t>postsynaptic density  [GO:0014069]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4504750" y="4393533"/>
            <a:ext cx="135331" cy="98298"/>
          </a:xfrm>
          <a:prstGeom prst="rect">
            <a:avLst/>
          </a:prstGeom>
          <a:solidFill>
            <a:srgbClr val="729DBE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4640081" y="4393533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4775412" y="4393533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4910743" y="439353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0" name="Rectangle 349"/>
          <p:cNvSpPr/>
          <p:nvPr/>
        </p:nvSpPr>
        <p:spPr>
          <a:xfrm>
            <a:off x="5046074" y="4393533"/>
            <a:ext cx="135331" cy="98298"/>
          </a:xfrm>
          <a:prstGeom prst="rect">
            <a:avLst/>
          </a:prstGeom>
          <a:solidFill>
            <a:srgbClr val="9FBCD3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2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181406" y="439353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5316737" y="439353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3" name="Rectangle 352"/>
          <p:cNvSpPr/>
          <p:nvPr/>
        </p:nvSpPr>
        <p:spPr>
          <a:xfrm>
            <a:off x="5452068" y="439353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587399" y="4393533"/>
            <a:ext cx="135331" cy="98298"/>
          </a:xfrm>
          <a:prstGeom prst="rect">
            <a:avLst/>
          </a:prstGeom>
          <a:solidFill>
            <a:srgbClr val="B5CBDD"/>
          </a:solidFill>
          <a:ln w="5080">
            <a:solidFill>
              <a:srgbClr val="FFFFFF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380" b="1">
                <a:solidFill>
                  <a:srgbClr val="1B3B52"/>
                </a:solidFill>
                <a:latin typeface="Arial"/>
              </a:rPr>
              <a:t>1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722730" y="4393533"/>
            <a:ext cx="135331" cy="98298"/>
          </a:xfrm>
          <a:prstGeom prst="rect">
            <a:avLst/>
          </a:prstGeom>
          <a:solidFill>
            <a:srgbClr val="FCFDFE"/>
          </a:solidFill>
          <a:ln w="3175">
            <a:solidFill>
              <a:srgbClr val="E8ED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6039735" y="4263795"/>
            <a:ext cx="548640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dirty="0">
                <a:solidFill>
                  <a:srgbClr val="222222"/>
                </a:solidFill>
                <a:latin typeface="Arial"/>
              </a:rPr>
              <a:t>Tag frequency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29516" y="4370859"/>
            <a:ext cx="62179" cy="53035"/>
          </a:xfrm>
          <a:prstGeom prst="rect">
            <a:avLst/>
          </a:prstGeom>
          <a:solidFill>
            <a:srgbClr val="B5CBDD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9" name="Rectangle 358"/>
          <p:cNvSpPr/>
          <p:nvPr/>
        </p:nvSpPr>
        <p:spPr>
          <a:xfrm>
            <a:off x="6091695" y="4370859"/>
            <a:ext cx="62179" cy="53035"/>
          </a:xfrm>
          <a:prstGeom prst="rect">
            <a:avLst/>
          </a:prstGeom>
          <a:solidFill>
            <a:srgbClr val="9FBCD3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0" name="Rectangle 359"/>
          <p:cNvSpPr/>
          <p:nvPr/>
        </p:nvSpPr>
        <p:spPr>
          <a:xfrm>
            <a:off x="6153874" y="4370859"/>
            <a:ext cx="62179" cy="53035"/>
          </a:xfrm>
          <a:prstGeom prst="rect">
            <a:avLst/>
          </a:prstGeom>
          <a:solidFill>
            <a:srgbClr val="88ACC8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1" name="Rectangle 360"/>
          <p:cNvSpPr/>
          <p:nvPr/>
        </p:nvSpPr>
        <p:spPr>
          <a:xfrm>
            <a:off x="6216053" y="4370859"/>
            <a:ext cx="62179" cy="53035"/>
          </a:xfrm>
          <a:prstGeom prst="rect">
            <a:avLst/>
          </a:prstGeom>
          <a:solidFill>
            <a:srgbClr val="729DBE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6278232" y="4370859"/>
            <a:ext cx="62179" cy="53035"/>
          </a:xfrm>
          <a:prstGeom prst="rect">
            <a:avLst/>
          </a:prstGeom>
          <a:solidFill>
            <a:srgbClr val="5C8EB4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3" name="Rectangle 362"/>
          <p:cNvSpPr/>
          <p:nvPr/>
        </p:nvSpPr>
        <p:spPr>
          <a:xfrm>
            <a:off x="6340412" y="4370859"/>
            <a:ext cx="62179" cy="53035"/>
          </a:xfrm>
          <a:prstGeom prst="rect">
            <a:avLst/>
          </a:prstGeom>
          <a:solidFill>
            <a:srgbClr val="457EA9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4" name="Rectangle 363"/>
          <p:cNvSpPr/>
          <p:nvPr/>
        </p:nvSpPr>
        <p:spPr>
          <a:xfrm>
            <a:off x="6402591" y="4370859"/>
            <a:ext cx="62179" cy="53035"/>
          </a:xfrm>
          <a:prstGeom prst="rect">
            <a:avLst/>
          </a:prstGeom>
          <a:solidFill>
            <a:srgbClr val="2F6F9F"/>
          </a:solidFill>
          <a:ln w="3175">
            <a:solidFill>
              <a:srgbClr val="FFFFFF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6029516" y="4434866"/>
            <a:ext cx="62179" cy="56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">
                <a:solidFill>
                  <a:srgbClr val="4A5157"/>
                </a:solidFill>
                <a:latin typeface="Arial"/>
              </a:rPr>
              <a:t>1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402591" y="4434866"/>
            <a:ext cx="62179" cy="56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">
                <a:solidFill>
                  <a:srgbClr val="4A5157"/>
                </a:solidFill>
                <a:latin typeface="Arial"/>
              </a:rPr>
              <a:t>7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467781B5-8748-82DD-F2D1-B2EEEF2F8427}"/>
              </a:ext>
            </a:extLst>
          </p:cNvPr>
          <p:cNvSpPr/>
          <p:nvPr/>
        </p:nvSpPr>
        <p:spPr>
          <a:xfrm>
            <a:off x="5252230" y="932539"/>
            <a:ext cx="608359" cy="120691"/>
          </a:xfrm>
          <a:prstGeom prst="rect">
            <a:avLst/>
          </a:prstGeom>
          <a:solidFill>
            <a:srgbClr val="F3E5E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3EF80C66-CD40-DE18-C100-E99A1BB0E8F1}"/>
              </a:ext>
            </a:extLst>
          </p:cNvPr>
          <p:cNvSpPr txBox="1"/>
          <p:nvPr/>
        </p:nvSpPr>
        <p:spPr>
          <a:xfrm>
            <a:off x="5267877" y="959213"/>
            <a:ext cx="570785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A64230"/>
                </a:solidFill>
                <a:latin typeface="Arial"/>
              </a:rPr>
              <a:t>Pancreatic beta cells</a:t>
            </a:r>
          </a:p>
        </p:txBody>
      </p: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2F5E9784-DCC9-9B2B-3E08-D88AA6BFFC8D}"/>
              </a:ext>
            </a:extLst>
          </p:cNvPr>
          <p:cNvCxnSpPr>
            <a:cxnSpLocks/>
          </p:cNvCxnSpPr>
          <p:nvPr/>
        </p:nvCxnSpPr>
        <p:spPr>
          <a:xfrm>
            <a:off x="4338165" y="404920"/>
            <a:ext cx="177994" cy="0"/>
          </a:xfrm>
          <a:prstGeom prst="straightConnector1">
            <a:avLst/>
          </a:prstGeom>
          <a:ln w="12700">
            <a:solidFill>
              <a:schemeClr val="tx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CA1C5B0D-C9E7-B33E-4D90-CE21B04D85DA}"/>
              </a:ext>
            </a:extLst>
          </p:cNvPr>
          <p:cNvCxnSpPr>
            <a:cxnSpLocks/>
          </p:cNvCxnSpPr>
          <p:nvPr/>
        </p:nvCxnSpPr>
        <p:spPr>
          <a:xfrm>
            <a:off x="4340492" y="606949"/>
            <a:ext cx="177994" cy="0"/>
          </a:xfrm>
          <a:prstGeom prst="straightConnector1">
            <a:avLst/>
          </a:prstGeom>
          <a:ln w="12700">
            <a:solidFill>
              <a:schemeClr val="tx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9107580-FB57-8B74-7C97-75394458CCFF}"/>
              </a:ext>
            </a:extLst>
          </p:cNvPr>
          <p:cNvCxnSpPr>
            <a:cxnSpLocks/>
          </p:cNvCxnSpPr>
          <p:nvPr/>
        </p:nvCxnSpPr>
        <p:spPr>
          <a:xfrm>
            <a:off x="4343827" y="794454"/>
            <a:ext cx="177994" cy="0"/>
          </a:xfrm>
          <a:prstGeom prst="straightConnector1">
            <a:avLst/>
          </a:prstGeom>
          <a:ln w="12700">
            <a:solidFill>
              <a:schemeClr val="tx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Arrow Connector 374">
            <a:extLst>
              <a:ext uri="{FF2B5EF4-FFF2-40B4-BE49-F238E27FC236}">
                <a16:creationId xmlns:a16="http://schemas.microsoft.com/office/drawing/2014/main" id="{35E7DB2B-7ACF-6D8B-A40B-4BBD6AB42661}"/>
              </a:ext>
            </a:extLst>
          </p:cNvPr>
          <p:cNvCxnSpPr>
            <a:cxnSpLocks/>
          </p:cNvCxnSpPr>
          <p:nvPr/>
        </p:nvCxnSpPr>
        <p:spPr>
          <a:xfrm>
            <a:off x="4349643" y="985913"/>
            <a:ext cx="177994" cy="0"/>
          </a:xfrm>
          <a:prstGeom prst="straightConnector1">
            <a:avLst/>
          </a:prstGeom>
          <a:ln w="12700">
            <a:solidFill>
              <a:schemeClr val="tx2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E9A8E5DE-26F5-AFB3-D02D-06A1F21AB63D}"/>
              </a:ext>
            </a:extLst>
          </p:cNvPr>
          <p:cNvSpPr txBox="1"/>
          <p:nvPr/>
        </p:nvSpPr>
        <p:spPr>
          <a:xfrm>
            <a:off x="1955868" y="4520051"/>
            <a:ext cx="584813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00" b="1" dirty="0">
                <a:solidFill>
                  <a:srgbClr val="333333"/>
                </a:solidFill>
                <a:latin typeface="Arial"/>
              </a:rPr>
              <a:t>Cell-type context</a:t>
            </a:r>
            <a:endParaRPr sz="5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C69642E8-3521-5B0E-0D35-DBDC7160D948}"/>
              </a:ext>
            </a:extLst>
          </p:cNvPr>
          <p:cNvSpPr txBox="1"/>
          <p:nvPr/>
        </p:nvSpPr>
        <p:spPr>
          <a:xfrm>
            <a:off x="4792452" y="4911484"/>
            <a:ext cx="591359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00" b="1" dirty="0">
                <a:solidFill>
                  <a:srgbClr val="333333"/>
                </a:solidFill>
                <a:latin typeface="Arial"/>
              </a:rPr>
              <a:t>Cell-type context</a:t>
            </a:r>
            <a:endParaRPr sz="5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6B48D-90D4-30F9-0802-6E45252FBE9D}"/>
              </a:ext>
            </a:extLst>
          </p:cNvPr>
          <p:cNvSpPr txBox="1"/>
          <p:nvPr/>
        </p:nvSpPr>
        <p:spPr>
          <a:xfrm>
            <a:off x="2895501" y="4736751"/>
            <a:ext cx="651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Figure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556</Words>
  <Application>Microsoft Macintosh PowerPoint</Application>
  <PresentationFormat>Custom</PresentationFormat>
  <Paragraphs>218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Zhao, Bingxin</cp:lastModifiedBy>
  <cp:revision>56</cp:revision>
  <dcterms:created xsi:type="dcterms:W3CDTF">2013-01-27T09:14:16Z</dcterms:created>
  <dcterms:modified xsi:type="dcterms:W3CDTF">2026-09-01T18:35:27Z</dcterms:modified>
  <cp:category/>
</cp:coreProperties>
</file>